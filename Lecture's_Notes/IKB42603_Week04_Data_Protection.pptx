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4, the second pillar of cloud security: data protection. Frame it directly — data is the asset we are ultimately protecting; isolation, access control and monitoring all exist to keep data safe. Today we look at how to protect data itself, at every stage of its life, using encryption, tokenization, PKI and disciplined key management and deletion. Walk the six outcomes. This lesson carries the VBE3 integrity value and maps to CLO2, assessed in the Lab Assignment — so the encryption and key-management choices we cover are exactly what students must justify there. Note this builds on the 'data at rest / in transit / in use' preview from Lesson 2 and the storage encryption from Lesson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constructive alignment explicit for the external examiner and MQF accreditation. Lesson 4 maps to CLO2 — constructing secure cloud operations that safeguard data integrity — which in turn maps to Programme Learning Outcome PLO2, MQF Level iii(a) practical skills, and Bloom's psychomotor level P3. It carries the VBE3 value cluster (integrity — protecting data honestly and correctly) and the SC8 skill cluster (integrated problem-solving). It is assessed through the Lab Assignment. Point students to this so they see how today's encryption and key-management content connects to the outcomes they are graded on, and the graduate attributes it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lens: data is not static — it is created, stored, used, shared, archived and deleted, and each stage has its own risks. Protecting data means protecting every stage. We anchor the whole lesson on the CIA triad from Lesson 2, applied specifically to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data protection is the set of controls that safeguard data throughout its life, ensuring it stays confidential, accurate and available. Stress two framing points from the slide. First, it applies across the ENTIRE lifecycle — a gap at any single stage is a gap overall; encrypting storage means little if data leaks while being shared. Second, it is a shared responsibility — the provider secures the storage infrastructure, but classifying, encrypting and controlling access to the data is on you, the customer. Give the stakes: data is what attackers want and what regulators protect, so this pillar is where security meets compliance (Lessons 10 and 11). Preview the lifecycle diagram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stages as a cycle: Create — data comes into being and must be classified by sensitivity from the start. Store — it rests on disk or in a bucket and needs encryption and access control. Use — it is processed, the hardest state to protect. Share — it moves to others, where leakage risk is highest. Archive — inactive data moved to cheaper long-term storage, still needing protection and retention rules. Destroy — securely deleted so it cannot be recovered. The teaching value: mapping the lifecycle tells you WHERE risk occurs and therefore WHICH control to apply where — it drives correct protection and supports compliance, which demands you know your data's whole journey. Each remaining part of this lesson attaches controls to these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Re-apply the CIA triad specifically to data. Confidentiality: prevent unauthorised access — achieved with encryption and access control. Integrity: ensure data is not altered and you can detect if it was — achieved with hashing and digital signatures; this is the VBE3 integrity value at the heart of CLO2. Availability: ensure authorised users can reach data when needed — achieved with backups and redundancy. Emphasise that data protection is not only about secrecy; integrity and availability matter just as much — corrupted or unavailable data can be as damaging as leaked data. This slide sets up the two detail slides on confidentiality and integrity, and connects to the deletion/retention material later, which serves both compliance and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two goals most specific to data. Confidentiality protects sensitive data from being read by the wrong parties; the workhorses are encryption (making data unreadable without the key) and access control (limiting who can reach it). Integrity ensures data is accurate and consistent and that any tampering is detectable; the tools are hashing — a fingerprint of the data that changes if a single bit changes — and digital signatures, which additionally prove WHO produced the data and that it has not been altered in transit. Give the practical link: encryption often provides confidentiality AND, with the right modes, integrity; hashing underpins the tamper-proof logs from Lesson 6. The point for students: name the goal, then name the mechanism — that pairing is exam-ready and design-ready.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controls, name what we are defending against. Data faces both general attack vectors and cloud-specific threats — many familiar from earlier lessons, now viewed through the data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groups. General attack vectors: data breaches (unauthorised access to data), eavesdropping (intercepting data in transit — defeated by encryption), API vulnerabilities (abusing the interfaces that read and write data), and malware (which can steal or corrupt data). Cloud-specific threats: insider threats (misuse by staff on either side), misconfiguration (the recurring number-one cause — a public bucket exposes data directly), data leakage (weak isolation or over-sharing), and unauthorised access (weak access control). Ask students to map each threat to a protection goal it violates and a control that counters it — for example eavesdropping violates confidentiality and is countered by TLS. This mapping is the reasoning the exam rewards, and it motivates every control in the rest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tool for confidentiality. We cover how encryption works, where to apply it, and the masking family — tokenization, redaction and obfuscation — that protects data by hiding or replacing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converts data into an unreadable form that requires a key to decrypt. Two families. Symmetric encryption uses one shared secret key for both encrypt and decrypt — it is fast and ideal for bulk data like files and disks, but the challenge is distributing the key securely. Asymmetric encryption uses a key PAIR — a public key that anyone can use to encrypt, and a private key that only the owner holds to decrypt — which solves key distribution and enables digital signatures, but is slower, so it is used for small data, key exchange and identity. The real-world pattern students should know: systems use asymmetric encryption to securely exchange a symmetric key, then use fast symmetric encryption for the actual data — this is how HTTPS/TLS works. Whichever is used, the security now depends entirely on protecting the keys — which is why key management gets its own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encryption to the three data states from Lesson 2, plus backups. Data at rest: encrypt stored data so a stolen disk or accessed bucket yields only ciphertext. Data in transit: use TLS/HTTPS so intercepted traffic is unreadable. Backups: encrypt them too — an unencrypted backup is a common overlooked leak, since it contains all the same data. The unifying rule: encryption is essential for confidentiality, but only if applied everywhere data lives or moves — attackers target the weakest link, so an unencrypted backup or a plaintext internal link undoes encrypted storage. Remind students that in the cloud, providers often offer encryption as a simple toggle, so there is little excuse not to enable it — the harder part is managing the keys,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is not the only way to protect data — sometimes you hide or replace it instead. Tokenization replaces sensitive data with a meaningless token, keeping the real value in a separate secure vault; it is the backbone of payment systems, where a token stands in for a card number so systems can operate without ever holding the real data — this reduces PCI DSS scope, which matters in Lesson 11. Redaction removes or masks sensitive information outright — for example masking all but the last four digits of a credit-card number in logs and reports. Obfuscation transforms data to make it unreadable or non-obvious to attackers, often used to protect non-production data. The teaching point: choose the technique to the need — encryption when you must recover the exact data, tokenization when systems must operate without holding the real value, redaction when the data should simply not appear. These are complementary, not competing.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is only as strong as its keys. This part covers the infrastructure that manages keys and certificates, the key lifecycle, and how to provably destroy data through cryptographic erasure.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PKI is the framework that manages digital certificates and public keys to enable secure, trusted communication. Explain the three components on the slide. The public and private key pair is the asymmetric cryptography from earlier — public to encrypt/verify, private to decrypt/sign. The Certificate Authority is the trusted third party that issues digital certificates binding a public key to a verified identity — it is what lets your browser trust that a website's key really belongs to that website. The digital certificate itself is the signed document that carries the public key and identity. Together they solve the hardest problem in cryptography: knowing that a public key really belongs to who it claims. Give the everyday example — every HTTPS padlock relies on PKI. In the cloud, PKI underpins TLS, code signing, and service-to-service authentication. This sets up federated authentication in Lessons 7 and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home the maxim: encryption is only as strong as its key management — a leaked key makes the strongest cipher worthless, and a lost key makes your own data unrecoverable. Walk the lifecycle. Generation: create strong, random keys. Storage: keep keys separate from the data they protect, ideally in a dedicated key-management service or hardware security module — never hard-coded in code or config. Distribution: get keys to authorised parties securely. Rotation: change keys periodically so a compromised key has a limited window. Revocation and destruction: retire keys when compromised or expired — and recall from Lesson 3 that destroying a key is itself a way to make encrypted data permanently unrecoverable (cryptographic erasure). The cloud angle: providers offer managed key services and let you choose provider-managed or customer-managed keys — customer-managed gives control at the cost of responsibility, a shared-responsibility decision. Poor key management is one of the most common ways good encryption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cloud, 'delete' rarely means erased — as we saw with data remanence in Lesson 3, freed storage may still hold your data. Assured deletion means ensuring data genuinely cannot be recovered. Two methods. Secure deletion overwrites the storage so the original data is gone — reliable on media you control, but hard to guarantee on shared cloud storage where you cannot address physical blocks. Cryptographic erasure is the cloud-native answer: if the data was encrypted, simply destroy the encryption key and the ciphertext becomes permanently unreadable — instant, verifiable, and it works even on distributed storage you do not physically control. This is another reason per-object or per-tenant encryption keys are valuable. Tie to compliance: regulations increasingly require proof of deletion — the 'right to be forgotten' — so assured deletion is not just hygiene, it is a legal obligation covered in Lesson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Deletion has a mirror image: knowing how long to KEEP data. Retention policies define how long data is stored, driven by legal requirements (regulations may mandate keeping financial or health records for years) and business needs. The dual risk students must grasp: keeping data too long increases breach exposure and can violate privacy law, while deleting it too soon can breach retention regulations or destroy evidence — good governance keeps data no longer, and no shorter, than required. Archiving supports this: inactive but still-needed data is moved to lower-cost long-term storage, keeping it available for compliance while reducing cost, and it still needs encryption and access control. Deletion procedures then automate removal once the retention period expires, using secure wiping and verifying the result. The theme: data protection is a full lifecycle discipline — you must plan its birth, its life, and a clean, provable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assemble the techniques into a data-protection strategy, add the operational supports of backup and monitoring, and apply everything to a breach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control protects data — a strategy layers several. Encryption keeps data confidential and, with the right modes, intact. Access control ensures only authorised identities reach it (the Lesson 5 pillar). Monitoring detects suspicious access early (the Lesson 6 pillar). Backup and recovery preserves availability against loss and ransomware. Add the multi-tenant dimension on the right: in shared cloud, each tenant's data must be isolated — via the storage isolation and per-tenant keys from Lesson 3 — to keep data private and meet compliance. The unifying message: these controls reinforce each other; encryption limits the damage if access control fails, monitoring catches what prevention misses, and backups recover what is lost. Defense in depth, applied to data. This sets up the case study, which shows the cost of relying on just one — or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operational supports that keep the strategy working. Backup and recovery: take regular backups and plan for disaster recovery so that data — and the business — survive loss, corruption or ransomware; a backup is only real if you have tested restoring from it, and, as noted earlier, it must be encrypted. This protects the Availability leg of CIA. Monitoring data access: track who accesses data and when, and detect suspicious patterns — an unusual bulk download, access from a new location, or a dormant account suddenly reading sensitive files. This ties directly to the SIEM and monitoring pillar of Lesson 6, and to the audit trail that compliance requires. The combined message: prevention (encryption, access control) reduces the chance of a breach; backup limits the damage of loss; monitoring shrinks the time to detect misuse. Together they cover confidentiality, integrity and availability for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think-pair-share. Scenario: an organisation stored sensitive customer data in the cloud without encrypting it. An attacker gained access to the storage and walked away with readable data — a full breach. Ask the two questions. What went wrong? No encryption meant the exposed data was immediately usable; likely compounded by weak access control and no monitoring to detect the exfiltration. How could it be prevented? Encrypt data at rest (and in transit and backups), manage keys properly so the encryption is meaningful, apply least-privilege access control, and monitor access to catch the exfiltration early. The teaching point that answers the discussion question too: encryption alone is not sufficient — it must be paired with key management, access control and monitoring — but the ABSENCE of encryption turns an access incident into a full data breach. Connect to shared responsibility: enabling encryption was the customer's job. Let pairs report before consolidating.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 the lesson into a checklist. Encrypt sensitive data in every state, and back it up encrypted. Manage keys rigorously — separate from data, rotated, in a KMS. Apply least privilege so few identities can reach the data. Monitor access to detect misuse early. Follow retention and deletion policies to keep data only as long as needed and destroy it provably. And classify data first, so you protect the sensitive data most. Tell students several of these map directly to Lab Assignment (CLO2) criteria. Preview: next week, Lesson 5 covers the access-control pillar in depth — RBAC, MFA and hardening — which decides who can reach the data we protected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One: data protection spans the whole lifecycle — create, store, use, share, archive, destroy — and aims at CIA. Two: encryption is the core control, but only as strong as its key management. Three: tokenization, redaction and obfuscation protect data by replacing or hiding it — match the technique to the need. Four: provable deletion (cryptographic erasure) and sound retention are legal as well as technical obligations. Ask students to name a control for each CIA goal. Preview Lesson 5: access control — who is allowed to reach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prompts. The first has no single answer — the value is students justifying a method for a context (tokenization for payments, encryption for storage). The second is the lesson's thesis: encryption is necessary but not sufficient — it needs key management, access control and monitoring around it. Preview Lesson 5. Remind students this lesson carries the VBE3 integrity value assessed in the Lab Assignment (CLO2).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sp>
      <p:sp>
        <p:nvSpPr>
          <p:cNvPr id="3" name="Shape 1"/>
          <p:cNvSpPr/>
          <p:nvPr/>
        </p:nvSpPr>
        <p:spPr>
          <a:xfrm>
            <a:off x="10881360" y="4297680"/>
            <a:ext cx="3108960" cy="3108960"/>
          </a:xfrm>
          <a:prstGeom prst="ellipse">
            <a:avLst/>
          </a:prstGeom>
          <a:solidFill>
            <a:srgbClr val="FABA32">
              <a:alpha val="22000"/>
            </a:srgbClr>
          </a:solidFill>
          <a:ln/>
        </p:spPr>
      </p:sp>
      <p:pic>
        <p:nvPicPr>
          <p:cNvPr id="4" name="Image 0" descr="preencoded.png">    </p:cNvPr>
          <p:cNvPicPr>
            <a:picLocks noChangeAspect="1"/>
          </p:cNvPicPr>
          <p:nvPr/>
        </p:nvPicPr>
        <p:blipFill>
          <a:blip r:embed="rId1"/>
          <a:stretch>
            <a:fillRect/>
          </a:stretch>
        </p:blipFill>
        <p:spPr>
          <a:xfrm>
            <a:off x="7818120" y="502920"/>
            <a:ext cx="4114800" cy="3820886"/>
          </a:xfrm>
          <a:prstGeom prst="rect">
            <a:avLst/>
          </a:prstGeom>
        </p:spPr>
      </p:pic>
      <p:pic>
        <p:nvPicPr>
          <p:cNvPr id="5" name="Image 1" descr="/sessions/inspiring-busy-dijkstra/mnt/outputs/build/assets/logo_white_trim.png">    </p:cNvPr>
          <p:cNvPicPr>
            <a:picLocks noChangeAspect="1"/>
          </p:cNvPicPr>
          <p:nvPr/>
        </p:nvPicPr>
        <p:blipFill>
          <a:blip r:embed="rId2"/>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sp>
      <p:sp>
        <p:nvSpPr>
          <p:cNvPr id="7" name="Text 3"/>
          <p:cNvSpPr/>
          <p:nvPr/>
        </p:nvSpPr>
        <p:spPr>
          <a:xfrm>
            <a:off x="640080" y="2788920"/>
            <a:ext cx="3063240" cy="457200"/>
          </a:xfrm>
          <a:prstGeom prst="rect">
            <a:avLst/>
          </a:prstGeom>
          <a:noFill/>
          <a:ln/>
        </p:spPr>
        <p:txBody>
          <a:bodyPr wrap="square" lIns="0" tIns="0" rIns="0" bIns="0" rtlCol="0" anchor="ctr"/>
          <a:lstStyle/>
          <a:p>
            <a:pPr algn="ctr" indent="0" marL="0">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WEEK 4 · LESSON 4</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Data Protection for Cloud Infrastructure &amp; Services</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indent="0" marL="0">
              <a:buNone/>
            </a:pPr>
            <a:r>
              <a:rPr lang="en-US" sz="1550" i="1" dirty="0">
                <a:solidFill>
                  <a:srgbClr val="B6E0F2"/>
                </a:solidFill>
                <a:latin typeface="Calibri" pitchFamily="34" charset="0"/>
                <a:ea typeface="Calibri" pitchFamily="34" charset="-122"/>
                <a:cs typeface="Calibri" pitchFamily="34" charset="-120"/>
              </a:rPr>
              <a:t>Information lifecycle · Encryption · Tokenization · PKI &amp; key management · Secure deletion</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indent="0" marL="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LEARNING OUTCOMES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you will be able to do</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640080" y="1783080"/>
            <a:ext cx="868680" cy="868680"/>
          </a:xfrm>
          <a:prstGeom prst="ellipse">
            <a:avLst/>
          </a:prstGeom>
          <a:solidFill>
            <a:srgbClr val="FABA32"/>
          </a:solidFill>
          <a:ln/>
        </p:spPr>
      </p:sp>
      <p:pic>
        <p:nvPicPr>
          <p:cNvPr id="8" name="Image 0" descr="preencoded.png">    </p:cNvPr>
          <p:cNvPicPr>
            <a:picLocks noChangeAspect="1"/>
          </p:cNvPicPr>
          <p:nvPr/>
        </p:nvPicPr>
        <p:blipFill>
          <a:blip r:embed="rId1"/>
          <a:stretch>
            <a:fillRect/>
          </a:stretch>
        </p:blipFill>
        <p:spPr>
          <a:xfrm>
            <a:off x="848563" y="1991563"/>
            <a:ext cx="451714" cy="451714"/>
          </a:xfrm>
          <a:prstGeom prst="rect">
            <a:avLst/>
          </a:prstGeom>
        </p:spPr>
      </p:pic>
      <p:sp>
        <p:nvSpPr>
          <p:cNvPr id="9" name="Shape 5"/>
          <p:cNvSpPr/>
          <p:nvPr/>
        </p:nvSpPr>
        <p:spPr>
          <a:xfrm>
            <a:off x="173736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0" name="Text 6"/>
          <p:cNvSpPr/>
          <p:nvPr/>
        </p:nvSpPr>
        <p:spPr>
          <a:xfrm>
            <a:off x="196596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1.  </a:t>
            </a:r>
            <a:pPr indent="0" marL="0">
              <a:buNone/>
            </a:pPr>
            <a:r>
              <a:rPr lang="en-US" sz="1450" b="1" dirty="0">
                <a:solidFill>
                  <a:srgbClr val="262F65"/>
                </a:solidFill>
                <a:latin typeface="Calibri" pitchFamily="34" charset="0"/>
                <a:ea typeface="Calibri" pitchFamily="34" charset="-122"/>
                <a:cs typeface="Calibri" pitchFamily="34" charset="-120"/>
              </a:rPr>
              <a:t>Understand the cloud data lifecycle</a:t>
            </a:r>
            <a:endParaRPr lang="en-US" sz="1450" dirty="0"/>
          </a:p>
        </p:txBody>
      </p:sp>
      <p:sp>
        <p:nvSpPr>
          <p:cNvPr id="11" name="Text 7"/>
          <p:cNvSpPr/>
          <p:nvPr/>
        </p:nvSpPr>
        <p:spPr>
          <a:xfrm>
            <a:off x="196596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Where data lives, and where risk appears.</a:t>
            </a:r>
            <a:endParaRPr lang="en-US" sz="1200" dirty="0"/>
          </a:p>
        </p:txBody>
      </p:sp>
      <p:sp>
        <p:nvSpPr>
          <p:cNvPr id="12" name="Shape 8"/>
          <p:cNvSpPr/>
          <p:nvPr/>
        </p:nvSpPr>
        <p:spPr>
          <a:xfrm>
            <a:off x="731520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3" name="Text 9"/>
          <p:cNvSpPr/>
          <p:nvPr/>
        </p:nvSpPr>
        <p:spPr>
          <a:xfrm>
            <a:off x="754380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2.  </a:t>
            </a:r>
            <a:pPr indent="0" marL="0">
              <a:buNone/>
            </a:pPr>
            <a:r>
              <a:rPr lang="en-US" sz="1450" b="1" dirty="0">
                <a:solidFill>
                  <a:srgbClr val="262F65"/>
                </a:solidFill>
                <a:latin typeface="Calibri" pitchFamily="34" charset="0"/>
                <a:ea typeface="Calibri" pitchFamily="34" charset="-122"/>
                <a:cs typeface="Calibri" pitchFamily="34" charset="-120"/>
              </a:rPr>
              <a:t>Apply data protection techniques</a:t>
            </a:r>
            <a:endParaRPr lang="en-US" sz="1450" dirty="0"/>
          </a:p>
        </p:txBody>
      </p:sp>
      <p:sp>
        <p:nvSpPr>
          <p:cNvPr id="14" name="Text 10"/>
          <p:cNvSpPr/>
          <p:nvPr/>
        </p:nvSpPr>
        <p:spPr>
          <a:xfrm>
            <a:off x="754380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Encryption, tokenization, redaction, obfuscation.</a:t>
            </a:r>
            <a:endParaRPr lang="en-US" sz="1200" dirty="0"/>
          </a:p>
        </p:txBody>
      </p:sp>
      <p:sp>
        <p:nvSpPr>
          <p:cNvPr id="15" name="Shape 11"/>
          <p:cNvSpPr/>
          <p:nvPr/>
        </p:nvSpPr>
        <p:spPr>
          <a:xfrm>
            <a:off x="173736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6" name="Text 12"/>
          <p:cNvSpPr/>
          <p:nvPr/>
        </p:nvSpPr>
        <p:spPr>
          <a:xfrm>
            <a:off x="196596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3.  </a:t>
            </a:r>
            <a:pPr indent="0" marL="0">
              <a:buNone/>
            </a:pPr>
            <a:r>
              <a:rPr lang="en-US" sz="1450" b="1" dirty="0">
                <a:solidFill>
                  <a:srgbClr val="262F65"/>
                </a:solidFill>
                <a:latin typeface="Calibri" pitchFamily="34" charset="0"/>
                <a:ea typeface="Calibri" pitchFamily="34" charset="-122"/>
                <a:cs typeface="Calibri" pitchFamily="34" charset="-120"/>
              </a:rPr>
              <a:t>Ensure confidentiality &amp; integrity</a:t>
            </a:r>
            <a:endParaRPr lang="en-US" sz="1450" dirty="0"/>
          </a:p>
        </p:txBody>
      </p:sp>
      <p:sp>
        <p:nvSpPr>
          <p:cNvPr id="17" name="Text 13"/>
          <p:cNvSpPr/>
          <p:nvPr/>
        </p:nvSpPr>
        <p:spPr>
          <a:xfrm>
            <a:off x="196596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The core goals for data.</a:t>
            </a:r>
            <a:endParaRPr lang="en-US" sz="1200" dirty="0"/>
          </a:p>
        </p:txBody>
      </p:sp>
      <p:sp>
        <p:nvSpPr>
          <p:cNvPr id="18" name="Shape 14"/>
          <p:cNvSpPr/>
          <p:nvPr/>
        </p:nvSpPr>
        <p:spPr>
          <a:xfrm>
            <a:off x="731520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9" name="Text 15"/>
          <p:cNvSpPr/>
          <p:nvPr/>
        </p:nvSpPr>
        <p:spPr>
          <a:xfrm>
            <a:off x="754380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4.  </a:t>
            </a:r>
            <a:pPr indent="0" marL="0">
              <a:buNone/>
            </a:pPr>
            <a:r>
              <a:rPr lang="en-US" sz="1450" b="1" dirty="0">
                <a:solidFill>
                  <a:srgbClr val="262F65"/>
                </a:solidFill>
                <a:latin typeface="Calibri" pitchFamily="34" charset="0"/>
                <a:ea typeface="Calibri" pitchFamily="34" charset="-122"/>
                <a:cs typeface="Calibri" pitchFamily="34" charset="-120"/>
              </a:rPr>
              <a:t>Explain PKI &amp; key management</a:t>
            </a:r>
            <a:endParaRPr lang="en-US" sz="1450" dirty="0"/>
          </a:p>
        </p:txBody>
      </p:sp>
      <p:sp>
        <p:nvSpPr>
          <p:cNvPr id="20" name="Text 16"/>
          <p:cNvSpPr/>
          <p:nvPr/>
        </p:nvSpPr>
        <p:spPr>
          <a:xfrm>
            <a:off x="754380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Certificates, keys, rotation and revocation.</a:t>
            </a:r>
            <a:endParaRPr lang="en-US" sz="1200" dirty="0"/>
          </a:p>
        </p:txBody>
      </p:sp>
      <p:sp>
        <p:nvSpPr>
          <p:cNvPr id="21" name="Shape 17"/>
          <p:cNvSpPr/>
          <p:nvPr/>
        </p:nvSpPr>
        <p:spPr>
          <a:xfrm>
            <a:off x="173736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2" name="Text 18"/>
          <p:cNvSpPr/>
          <p:nvPr/>
        </p:nvSpPr>
        <p:spPr>
          <a:xfrm>
            <a:off x="196596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5.  </a:t>
            </a:r>
            <a:pPr indent="0" marL="0">
              <a:buNone/>
            </a:pPr>
            <a:r>
              <a:rPr lang="en-US" sz="1450" b="1" dirty="0">
                <a:solidFill>
                  <a:srgbClr val="262F65"/>
                </a:solidFill>
                <a:latin typeface="Calibri" pitchFamily="34" charset="0"/>
                <a:ea typeface="Calibri" pitchFamily="34" charset="-122"/>
                <a:cs typeface="Calibri" pitchFamily="34" charset="-120"/>
              </a:rPr>
              <a:t>Assure secure data deletion</a:t>
            </a:r>
            <a:endParaRPr lang="en-US" sz="1450" dirty="0"/>
          </a:p>
        </p:txBody>
      </p:sp>
      <p:sp>
        <p:nvSpPr>
          <p:cNvPr id="23" name="Text 19"/>
          <p:cNvSpPr/>
          <p:nvPr/>
        </p:nvSpPr>
        <p:spPr>
          <a:xfrm>
            <a:off x="196596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Secure wiping and cryptographic erasure.</a:t>
            </a:r>
            <a:endParaRPr lang="en-US" sz="1200" dirty="0"/>
          </a:p>
        </p:txBody>
      </p:sp>
      <p:sp>
        <p:nvSpPr>
          <p:cNvPr id="24" name="Shape 20"/>
          <p:cNvSpPr/>
          <p:nvPr/>
        </p:nvSpPr>
        <p:spPr>
          <a:xfrm>
            <a:off x="731520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5" name="Text 21"/>
          <p:cNvSpPr/>
          <p:nvPr/>
        </p:nvSpPr>
        <p:spPr>
          <a:xfrm>
            <a:off x="754380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6.  </a:t>
            </a:r>
            <a:pPr indent="0" marL="0">
              <a:buNone/>
            </a:pPr>
            <a:r>
              <a:rPr lang="en-US" sz="1450" b="1" dirty="0">
                <a:solidFill>
                  <a:srgbClr val="262F65"/>
                </a:solidFill>
                <a:latin typeface="Calibri" pitchFamily="34" charset="0"/>
                <a:ea typeface="Calibri" pitchFamily="34" charset="-122"/>
                <a:cs typeface="Calibri" pitchFamily="34" charset="-120"/>
              </a:rPr>
              <a:t>Understand retention &amp; archiving</a:t>
            </a:r>
            <a:endParaRPr lang="en-US" sz="1450" dirty="0"/>
          </a:p>
        </p:txBody>
      </p:sp>
      <p:sp>
        <p:nvSpPr>
          <p:cNvPr id="26" name="Text 22"/>
          <p:cNvSpPr/>
          <p:nvPr/>
        </p:nvSpPr>
        <p:spPr>
          <a:xfrm>
            <a:off x="754380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Keeping data no longer — and no shorter — than needed.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847088"/>
            <a:ext cx="1600200" cy="658368"/>
          </a:xfrm>
          <a:prstGeom prst="roundRect">
            <a:avLst>
              <a:gd name="adj" fmla="val 13889"/>
            </a:avLst>
          </a:prstGeom>
          <a:solidFill>
            <a:srgbClr val="FABA32"/>
          </a:solidFill>
          <a:ln/>
        </p:spPr>
      </p:sp>
      <p:sp>
        <p:nvSpPr>
          <p:cNvPr id="9" name="Text 6"/>
          <p:cNvSpPr/>
          <p:nvPr/>
        </p:nvSpPr>
        <p:spPr>
          <a:xfrm>
            <a:off x="960120" y="1847088"/>
            <a:ext cx="1600200" cy="658368"/>
          </a:xfrm>
          <a:prstGeom prst="rect">
            <a:avLst/>
          </a:prstGeom>
          <a:noFill/>
          <a:ln/>
        </p:spPr>
        <p:txBody>
          <a:bodyPr wrap="square" lIns="0" tIns="0" rIns="0" bIns="0" rtlCol="0" anchor="ctr"/>
          <a:lstStyle/>
          <a:p>
            <a:pPr algn="ctr" indent="0" marL="0">
              <a:buNone/>
            </a:pPr>
            <a:r>
              <a:rPr lang="en-US" sz="2100" b="1" dirty="0">
                <a:solidFill>
                  <a:srgbClr val="262F65"/>
                </a:solidFill>
                <a:latin typeface="Cambria" pitchFamily="34" charset="0"/>
                <a:ea typeface="Cambria" pitchFamily="34" charset="-122"/>
                <a:cs typeface="Cambria" pitchFamily="34" charset="-120"/>
              </a:rPr>
              <a:t>CLO 2</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Construct secure cloud computing operations that safeguard data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2" name="Shape 9"/>
          <p:cNvSpPr/>
          <p:nvPr/>
        </p:nvSpPr>
        <p:spPr>
          <a:xfrm>
            <a:off x="2002536" y="3383280"/>
            <a:ext cx="731520" cy="731520"/>
          </a:xfrm>
          <a:prstGeom prst="ellipse">
            <a:avLst/>
          </a:prstGeom>
          <a:solidFill>
            <a:srgbClr val="262F65"/>
          </a:solidFill>
          <a:ln/>
        </p:spPr>
      </p:sp>
      <p:pic>
        <p:nvPicPr>
          <p:cNvPr id="13" name="Image 0" descr="preencoded.png">    </p:cNvPr>
          <p:cNvPicPr>
            <a:picLocks noChangeAspect="1"/>
          </p:cNvPicPr>
          <p:nvPr/>
        </p:nvPicPr>
        <p:blipFill>
          <a:blip r:embed="rId1"/>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PLO2 · Cognitive Skills</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MQF Level iii(a)</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Bloom P3 (Precision)</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7" name="Shape 13"/>
          <p:cNvSpPr/>
          <p:nvPr/>
        </p:nvSpPr>
        <p:spPr>
          <a:xfrm>
            <a:off x="5715000" y="3383280"/>
            <a:ext cx="731520" cy="731520"/>
          </a:xfrm>
          <a:prstGeom prst="ellipse">
            <a:avLst/>
          </a:prstGeom>
          <a:solidFill>
            <a:srgbClr val="F2931F"/>
          </a:solidFill>
          <a:ln/>
        </p:spPr>
      </p:sp>
      <p:pic>
        <p:nvPicPr>
          <p:cNvPr id="18" name="Image 1" descr="preencoded.png">    </p:cNvPr>
          <p:cNvPicPr>
            <a:picLocks noChangeAspect="1"/>
          </p:cNvPicPr>
          <p:nvPr/>
        </p:nvPicPr>
        <p:blipFill>
          <a:blip r:embed="rId2"/>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SC8 · Problem-Solving</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9427464" y="3383280"/>
            <a:ext cx="731520" cy="731520"/>
          </a:xfrm>
          <a:prstGeom prst="ellipse">
            <a:avLst/>
          </a:prstGeom>
          <a:solidFill>
            <a:srgbClr val="262F65"/>
          </a:solidFill>
          <a:ln/>
        </p:spPr>
      </p:sp>
      <p:pic>
        <p:nvPicPr>
          <p:cNvPr id="23" name="Image 2" descr="preencoded.png">    </p:cNvPr>
          <p:cNvPicPr>
            <a:picLocks noChangeAspect="1"/>
          </p:cNvPicPr>
          <p:nvPr/>
        </p:nvPicPr>
        <p:blipFill>
          <a:blip r:embed="rId3"/>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Lab Assignment (CLO2)</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Data Lifecycle &amp; Protection Goals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DEFINITION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Data protection in the cloud</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Text 4"/>
          <p:cNvSpPr/>
          <p:nvPr/>
        </p:nvSpPr>
        <p:spPr>
          <a:xfrm>
            <a:off x="640080" y="1645920"/>
            <a:ext cx="5760720" cy="1188720"/>
          </a:xfrm>
          <a:prstGeom prst="rect">
            <a:avLst/>
          </a:prstGeom>
          <a:noFill/>
          <a:ln/>
        </p:spPr>
        <p:txBody>
          <a:bodyPr wrap="square" lIns="0" tIns="0" rIns="0" bIns="0" rtlCol="0" anchor="t"/>
          <a:lstStyle/>
          <a:p>
            <a:pPr indent="0" marL="0">
              <a:buNone/>
            </a:pPr>
            <a:r>
              <a:rPr lang="en-US" sz="1700" dirty="0">
                <a:solidFill>
                  <a:srgbClr val="23283A"/>
                </a:solidFill>
                <a:latin typeface="Calibri" pitchFamily="34" charset="0"/>
                <a:ea typeface="Calibri" pitchFamily="34" charset="-122"/>
                <a:cs typeface="Calibri" pitchFamily="34" charset="-120"/>
              </a:rPr>
              <a:t>The controls that keep data confidential, accurate and available — at every stage of its life.</a:t>
            </a:r>
            <a:endParaRPr lang="en-US" sz="1700" dirty="0"/>
          </a:p>
        </p:txBody>
      </p:sp>
      <p:sp>
        <p:nvSpPr>
          <p:cNvPr id="8" name="Shape 5"/>
          <p:cNvSpPr/>
          <p:nvPr/>
        </p:nvSpPr>
        <p:spPr>
          <a:xfrm>
            <a:off x="640080" y="3063240"/>
            <a:ext cx="146304" cy="146304"/>
          </a:xfrm>
          <a:prstGeom prst="ellipse">
            <a:avLst/>
          </a:prstGeom>
          <a:solidFill>
            <a:srgbClr val="F2931F"/>
          </a:solidFill>
          <a:ln/>
        </p:spPr>
      </p:sp>
      <p:sp>
        <p:nvSpPr>
          <p:cNvPr id="9" name="Text 6"/>
          <p:cNvSpPr/>
          <p:nvPr/>
        </p:nvSpPr>
        <p:spPr>
          <a:xfrm>
            <a:off x="932688" y="301752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Applies across the entire data lifecycle</a:t>
            </a:r>
            <a:endParaRPr lang="en-US" sz="1400" dirty="0"/>
          </a:p>
        </p:txBody>
      </p:sp>
      <p:sp>
        <p:nvSpPr>
          <p:cNvPr id="10" name="Shape 7"/>
          <p:cNvSpPr/>
          <p:nvPr/>
        </p:nvSpPr>
        <p:spPr>
          <a:xfrm>
            <a:off x="640080" y="3611880"/>
            <a:ext cx="146304" cy="146304"/>
          </a:xfrm>
          <a:prstGeom prst="ellipse">
            <a:avLst/>
          </a:prstGeom>
          <a:solidFill>
            <a:srgbClr val="F2931F"/>
          </a:solidFill>
          <a:ln/>
        </p:spPr>
      </p:sp>
      <p:sp>
        <p:nvSpPr>
          <p:cNvPr id="11" name="Text 8"/>
          <p:cNvSpPr/>
          <p:nvPr/>
        </p:nvSpPr>
        <p:spPr>
          <a:xfrm>
            <a:off x="932688" y="356616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A shared responsibility (provider + customer)</a:t>
            </a:r>
            <a:endParaRPr lang="en-US" sz="1400" dirty="0"/>
          </a:p>
        </p:txBody>
      </p:sp>
      <p:sp>
        <p:nvSpPr>
          <p:cNvPr id="12" name="Shape 9"/>
          <p:cNvSpPr/>
          <p:nvPr/>
        </p:nvSpPr>
        <p:spPr>
          <a:xfrm>
            <a:off x="640080" y="4160520"/>
            <a:ext cx="146304" cy="146304"/>
          </a:xfrm>
          <a:prstGeom prst="ellipse">
            <a:avLst/>
          </a:prstGeom>
          <a:solidFill>
            <a:srgbClr val="F2931F"/>
          </a:solidFill>
          <a:ln/>
        </p:spPr>
      </p:sp>
      <p:sp>
        <p:nvSpPr>
          <p:cNvPr id="13" name="Text 10"/>
          <p:cNvSpPr/>
          <p:nvPr/>
        </p:nvSpPr>
        <p:spPr>
          <a:xfrm>
            <a:off x="932688" y="4114800"/>
            <a:ext cx="5394960" cy="411480"/>
          </a:xfrm>
          <a:prstGeom prst="rect">
            <a:avLst/>
          </a:prstGeom>
          <a:noFill/>
          <a:ln/>
        </p:spPr>
        <p:txBody>
          <a:bodyPr wrap="square" lIns="0" tIns="0" rIns="0" bIns="0" rtlCol="0" anchor="ctr"/>
          <a:lstStyle/>
          <a:p>
            <a:pPr indent="0" marL="0">
              <a:buNone/>
            </a:pPr>
            <a:r>
              <a:rPr lang="en-US" sz="1400" dirty="0">
                <a:solidFill>
                  <a:srgbClr val="23283A"/>
                </a:solidFill>
                <a:latin typeface="Calibri" pitchFamily="34" charset="0"/>
                <a:ea typeface="Calibri" pitchFamily="34" charset="-122"/>
                <a:cs typeface="Calibri" pitchFamily="34" charset="-120"/>
              </a:rPr>
              <a:t>Where security meets compliance</a:t>
            </a:r>
            <a:endParaRPr lang="en-US" sz="1400" dirty="0"/>
          </a:p>
        </p:txBody>
      </p:sp>
      <p:sp>
        <p:nvSpPr>
          <p:cNvPr id="14" name="Shape 11"/>
          <p:cNvSpPr/>
          <p:nvPr/>
        </p:nvSpPr>
        <p:spPr>
          <a:xfrm>
            <a:off x="6720840" y="1600200"/>
            <a:ext cx="4800600" cy="3108960"/>
          </a:xfrm>
          <a:prstGeom prst="roundRect">
            <a:avLst>
              <a:gd name="adj" fmla="val 2647"/>
            </a:avLst>
          </a:prstGeom>
          <a:solidFill>
            <a:srgbClr val="262F65"/>
          </a:solidFill>
          <a:ln/>
          <a:effectLst>
            <a:outerShdw sx="100000" sy="100000" kx="0" ky="0" algn="bl" rotWithShape="0" blurRad="88900" dist="38100" dir="5400000">
              <a:srgbClr val="8894AD">
                <a:alpha val="28000"/>
              </a:srgbClr>
            </a:outerShdw>
          </a:effectLst>
        </p:spPr>
      </p:sp>
      <p:sp>
        <p:nvSpPr>
          <p:cNvPr id="15" name="Shape 12"/>
          <p:cNvSpPr/>
          <p:nvPr/>
        </p:nvSpPr>
        <p:spPr>
          <a:xfrm>
            <a:off x="7086600" y="1920240"/>
            <a:ext cx="868680" cy="868680"/>
          </a:xfrm>
          <a:prstGeom prst="ellipse">
            <a:avLst/>
          </a:prstGeom>
          <a:solidFill>
            <a:srgbClr val="FABA32"/>
          </a:solidFill>
          <a:ln/>
        </p:spPr>
      </p:sp>
      <p:pic>
        <p:nvPicPr>
          <p:cNvPr id="16" name="Image 0" descr="preencoded.png">    </p:cNvPr>
          <p:cNvPicPr>
            <a:picLocks noChangeAspect="1"/>
          </p:cNvPicPr>
          <p:nvPr/>
        </p:nvPicPr>
        <p:blipFill>
          <a:blip r:embed="rId1"/>
          <a:stretch>
            <a:fillRect/>
          </a:stretch>
        </p:blipFill>
        <p:spPr>
          <a:xfrm>
            <a:off x="7295083" y="2128723"/>
            <a:ext cx="451714" cy="451714"/>
          </a:xfrm>
          <a:prstGeom prst="rect">
            <a:avLst/>
          </a:prstGeom>
        </p:spPr>
      </p:pic>
      <p:sp>
        <p:nvSpPr>
          <p:cNvPr id="17" name="Text 13"/>
          <p:cNvSpPr/>
          <p:nvPr/>
        </p:nvSpPr>
        <p:spPr>
          <a:xfrm>
            <a:off x="7086600" y="2880360"/>
            <a:ext cx="4114800" cy="8229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Data is the asset — everything else protects it.</a:t>
            </a:r>
            <a:endParaRPr lang="en-US" sz="1900" dirty="0"/>
          </a:p>
        </p:txBody>
      </p:sp>
      <p:sp>
        <p:nvSpPr>
          <p:cNvPr id="18" name="Text 14"/>
          <p:cNvSpPr/>
          <p:nvPr/>
        </p:nvSpPr>
        <p:spPr>
          <a:xfrm>
            <a:off x="7086600" y="3749040"/>
            <a:ext cx="4114800" cy="914400"/>
          </a:xfrm>
          <a:prstGeom prst="rect">
            <a:avLst/>
          </a:prstGeom>
          <a:noFill/>
          <a:ln/>
        </p:spPr>
        <p:txBody>
          <a:bodyPr wrap="square" lIns="0" tIns="0" rIns="0" bIns="0" rtlCol="0" anchor="t"/>
          <a:lstStyle/>
          <a:p>
            <a:pPr indent="0" marL="0">
              <a:buNone/>
            </a:pPr>
            <a:r>
              <a:rPr lang="en-US" sz="1300" i="1" dirty="0">
                <a:solidFill>
                  <a:srgbClr val="B6E0F2"/>
                </a:solidFill>
                <a:latin typeface="Calibri" pitchFamily="34" charset="0"/>
                <a:ea typeface="Calibri" pitchFamily="34" charset="-122"/>
                <a:cs typeface="Calibri" pitchFamily="34" charset="-120"/>
              </a:rPr>
              <a:t>Isolation, access control and monitoring all exist so that data stays confidential, correct and available.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LIFECYCLE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The cloud data lifecycle — six stages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2148840"/>
            <a:ext cx="173736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120140" y="2404872"/>
            <a:ext cx="777240" cy="7772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306678" y="2591410"/>
            <a:ext cx="404165" cy="404165"/>
          </a:xfrm>
          <a:prstGeom prst="rect">
            <a:avLst/>
          </a:prstGeom>
        </p:spPr>
      </p:pic>
      <p:sp>
        <p:nvSpPr>
          <p:cNvPr id="10" name="Text 6"/>
          <p:cNvSpPr/>
          <p:nvPr/>
        </p:nvSpPr>
        <p:spPr>
          <a:xfrm>
            <a:off x="640080" y="3291840"/>
            <a:ext cx="1737360" cy="41148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Create</a:t>
            </a:r>
            <a:endParaRPr lang="en-US" sz="1400" dirty="0"/>
          </a:p>
        </p:txBody>
      </p:sp>
      <p:sp>
        <p:nvSpPr>
          <p:cNvPr id="11" name="Text 7"/>
          <p:cNvSpPr/>
          <p:nvPr/>
        </p:nvSpPr>
        <p:spPr>
          <a:xfrm>
            <a:off x="2359152" y="2651760"/>
            <a:ext cx="164592"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12" name="Shape 8"/>
          <p:cNvSpPr/>
          <p:nvPr/>
        </p:nvSpPr>
        <p:spPr>
          <a:xfrm>
            <a:off x="2505456" y="2148840"/>
            <a:ext cx="173736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2985516" y="2404872"/>
            <a:ext cx="777240" cy="777240"/>
          </a:xfrm>
          <a:prstGeom prst="ellipse">
            <a:avLst/>
          </a:prstGeom>
          <a:solidFill>
            <a:srgbClr val="293E7B"/>
          </a:solidFill>
          <a:ln/>
        </p:spPr>
      </p:sp>
      <p:pic>
        <p:nvPicPr>
          <p:cNvPr id="14" name="Image 1" descr="preencoded.png">    </p:cNvPr>
          <p:cNvPicPr>
            <a:picLocks noChangeAspect="1"/>
          </p:cNvPicPr>
          <p:nvPr/>
        </p:nvPicPr>
        <p:blipFill>
          <a:blip r:embed="rId2"/>
          <a:stretch>
            <a:fillRect/>
          </a:stretch>
        </p:blipFill>
        <p:spPr>
          <a:xfrm>
            <a:off x="3172054" y="2591410"/>
            <a:ext cx="404165" cy="404165"/>
          </a:xfrm>
          <a:prstGeom prst="rect">
            <a:avLst/>
          </a:prstGeom>
        </p:spPr>
      </p:pic>
      <p:sp>
        <p:nvSpPr>
          <p:cNvPr id="15" name="Text 10"/>
          <p:cNvSpPr/>
          <p:nvPr/>
        </p:nvSpPr>
        <p:spPr>
          <a:xfrm>
            <a:off x="2505456" y="3291840"/>
            <a:ext cx="1737360" cy="41148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Store</a:t>
            </a:r>
            <a:endParaRPr lang="en-US" sz="1400" dirty="0"/>
          </a:p>
        </p:txBody>
      </p:sp>
      <p:sp>
        <p:nvSpPr>
          <p:cNvPr id="16" name="Text 11"/>
          <p:cNvSpPr/>
          <p:nvPr/>
        </p:nvSpPr>
        <p:spPr>
          <a:xfrm>
            <a:off x="4224528" y="2651760"/>
            <a:ext cx="164592"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17" name="Shape 12"/>
          <p:cNvSpPr/>
          <p:nvPr/>
        </p:nvSpPr>
        <p:spPr>
          <a:xfrm>
            <a:off x="4370832" y="2148840"/>
            <a:ext cx="173736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4850892" y="2404872"/>
            <a:ext cx="777240" cy="777240"/>
          </a:xfrm>
          <a:prstGeom prst="ellipse">
            <a:avLst/>
          </a:prstGeom>
          <a:solidFill>
            <a:srgbClr val="F2931F"/>
          </a:solidFill>
          <a:ln/>
        </p:spPr>
      </p:sp>
      <p:pic>
        <p:nvPicPr>
          <p:cNvPr id="19" name="Image 2" descr="preencoded.png">    </p:cNvPr>
          <p:cNvPicPr>
            <a:picLocks noChangeAspect="1"/>
          </p:cNvPicPr>
          <p:nvPr/>
        </p:nvPicPr>
        <p:blipFill>
          <a:blip r:embed="rId3"/>
          <a:stretch>
            <a:fillRect/>
          </a:stretch>
        </p:blipFill>
        <p:spPr>
          <a:xfrm>
            <a:off x="5037430" y="2591410"/>
            <a:ext cx="404165" cy="404165"/>
          </a:xfrm>
          <a:prstGeom prst="rect">
            <a:avLst/>
          </a:prstGeom>
        </p:spPr>
      </p:pic>
      <p:sp>
        <p:nvSpPr>
          <p:cNvPr id="20" name="Text 14"/>
          <p:cNvSpPr/>
          <p:nvPr/>
        </p:nvSpPr>
        <p:spPr>
          <a:xfrm>
            <a:off x="4370832" y="3291840"/>
            <a:ext cx="1737360" cy="41148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Use</a:t>
            </a:r>
            <a:endParaRPr lang="en-US" sz="1400" dirty="0"/>
          </a:p>
        </p:txBody>
      </p:sp>
      <p:sp>
        <p:nvSpPr>
          <p:cNvPr id="21" name="Text 15"/>
          <p:cNvSpPr/>
          <p:nvPr/>
        </p:nvSpPr>
        <p:spPr>
          <a:xfrm>
            <a:off x="6089904" y="2651760"/>
            <a:ext cx="164592"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22" name="Shape 16"/>
          <p:cNvSpPr/>
          <p:nvPr/>
        </p:nvSpPr>
        <p:spPr>
          <a:xfrm>
            <a:off x="6236208" y="2148840"/>
            <a:ext cx="173736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716268" y="2404872"/>
            <a:ext cx="777240" cy="77724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6902806" y="2591410"/>
            <a:ext cx="404165" cy="404165"/>
          </a:xfrm>
          <a:prstGeom prst="rect">
            <a:avLst/>
          </a:prstGeom>
        </p:spPr>
      </p:pic>
      <p:sp>
        <p:nvSpPr>
          <p:cNvPr id="25" name="Text 18"/>
          <p:cNvSpPr/>
          <p:nvPr/>
        </p:nvSpPr>
        <p:spPr>
          <a:xfrm>
            <a:off x="6236208" y="3291840"/>
            <a:ext cx="1737360" cy="41148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Share</a:t>
            </a:r>
            <a:endParaRPr lang="en-US" sz="1400" dirty="0"/>
          </a:p>
        </p:txBody>
      </p:sp>
      <p:sp>
        <p:nvSpPr>
          <p:cNvPr id="26" name="Text 19"/>
          <p:cNvSpPr/>
          <p:nvPr/>
        </p:nvSpPr>
        <p:spPr>
          <a:xfrm>
            <a:off x="7955280" y="2651760"/>
            <a:ext cx="164592"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27" name="Shape 20"/>
          <p:cNvSpPr/>
          <p:nvPr/>
        </p:nvSpPr>
        <p:spPr>
          <a:xfrm>
            <a:off x="8101584" y="2148840"/>
            <a:ext cx="173736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8581644" y="2404872"/>
            <a:ext cx="777240" cy="777240"/>
          </a:xfrm>
          <a:prstGeom prst="ellipse">
            <a:avLst/>
          </a:prstGeom>
          <a:solidFill>
            <a:srgbClr val="293E7B"/>
          </a:solidFill>
          <a:ln/>
        </p:spPr>
      </p:sp>
      <p:pic>
        <p:nvPicPr>
          <p:cNvPr id="29" name="Image 4" descr="preencoded.png">    </p:cNvPr>
          <p:cNvPicPr>
            <a:picLocks noChangeAspect="1"/>
          </p:cNvPicPr>
          <p:nvPr/>
        </p:nvPicPr>
        <p:blipFill>
          <a:blip r:embed="rId5"/>
          <a:stretch>
            <a:fillRect/>
          </a:stretch>
        </p:blipFill>
        <p:spPr>
          <a:xfrm>
            <a:off x="8768182" y="2591410"/>
            <a:ext cx="404165" cy="404165"/>
          </a:xfrm>
          <a:prstGeom prst="rect">
            <a:avLst/>
          </a:prstGeom>
        </p:spPr>
      </p:pic>
      <p:sp>
        <p:nvSpPr>
          <p:cNvPr id="30" name="Text 22"/>
          <p:cNvSpPr/>
          <p:nvPr/>
        </p:nvSpPr>
        <p:spPr>
          <a:xfrm>
            <a:off x="8101584" y="3291840"/>
            <a:ext cx="1737360" cy="41148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Archive</a:t>
            </a:r>
            <a:endParaRPr lang="en-US" sz="1400" dirty="0"/>
          </a:p>
        </p:txBody>
      </p:sp>
      <p:sp>
        <p:nvSpPr>
          <p:cNvPr id="31" name="Text 23"/>
          <p:cNvSpPr/>
          <p:nvPr/>
        </p:nvSpPr>
        <p:spPr>
          <a:xfrm>
            <a:off x="9820656" y="2651760"/>
            <a:ext cx="164592" cy="548640"/>
          </a:xfrm>
          <a:prstGeom prst="rect">
            <a:avLst/>
          </a:prstGeom>
          <a:noFill/>
          <a:ln/>
        </p:spPr>
        <p:txBody>
          <a:bodyPr wrap="square" lIns="0" tIns="0" rIns="0" bIns="0" rtlCol="0" anchor="ctr"/>
          <a:lstStyle/>
          <a:p>
            <a:pPr algn="ctr" indent="0" marL="0">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32" name="Shape 24"/>
          <p:cNvSpPr/>
          <p:nvPr/>
        </p:nvSpPr>
        <p:spPr>
          <a:xfrm>
            <a:off x="9966960" y="2148840"/>
            <a:ext cx="1737360" cy="1691640"/>
          </a:xfrm>
          <a:prstGeom prst="roundRect">
            <a:avLst>
              <a:gd name="adj" fmla="val 4865"/>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10447020" y="2404872"/>
            <a:ext cx="777240" cy="777240"/>
          </a:xfrm>
          <a:prstGeom prst="ellipse">
            <a:avLst/>
          </a:prstGeom>
          <a:solidFill>
            <a:srgbClr val="F2931F"/>
          </a:solidFill>
          <a:ln/>
        </p:spPr>
      </p:sp>
      <p:pic>
        <p:nvPicPr>
          <p:cNvPr id="34" name="Image 5" descr="preencoded.png">    </p:cNvPr>
          <p:cNvPicPr>
            <a:picLocks noChangeAspect="1"/>
          </p:cNvPicPr>
          <p:nvPr/>
        </p:nvPicPr>
        <p:blipFill>
          <a:blip r:embed="rId6"/>
          <a:stretch>
            <a:fillRect/>
          </a:stretch>
        </p:blipFill>
        <p:spPr>
          <a:xfrm>
            <a:off x="10633558" y="2591410"/>
            <a:ext cx="404165" cy="404165"/>
          </a:xfrm>
          <a:prstGeom prst="rect">
            <a:avLst/>
          </a:prstGeom>
        </p:spPr>
      </p:pic>
      <p:sp>
        <p:nvSpPr>
          <p:cNvPr id="35" name="Text 26"/>
          <p:cNvSpPr/>
          <p:nvPr/>
        </p:nvSpPr>
        <p:spPr>
          <a:xfrm>
            <a:off x="9966960" y="3291840"/>
            <a:ext cx="1737360" cy="411480"/>
          </a:xfrm>
          <a:prstGeom prst="rect">
            <a:avLst/>
          </a:prstGeom>
          <a:noFill/>
          <a:ln/>
        </p:spPr>
        <p:txBody>
          <a:bodyPr wrap="square" lIns="0" tIns="0" rIns="0" bIns="0" rtlCol="0" anchor="ctr"/>
          <a:lstStyle/>
          <a:p>
            <a:pPr algn="ctr" indent="0" marL="0">
              <a:buNone/>
            </a:pPr>
            <a:r>
              <a:rPr lang="en-US" sz="1400" b="1" dirty="0">
                <a:solidFill>
                  <a:srgbClr val="262F65"/>
                </a:solidFill>
                <a:latin typeface="Calibri" pitchFamily="34" charset="0"/>
                <a:ea typeface="Calibri" pitchFamily="34" charset="-122"/>
                <a:cs typeface="Calibri" pitchFamily="34" charset="-120"/>
              </a:rPr>
              <a:t>Destroy</a:t>
            </a:r>
            <a:endParaRPr lang="en-US" sz="1400" dirty="0"/>
          </a:p>
        </p:txBody>
      </p:sp>
      <p:sp>
        <p:nvSpPr>
          <p:cNvPr id="36" name="Text 27"/>
          <p:cNvSpPr/>
          <p:nvPr/>
        </p:nvSpPr>
        <p:spPr>
          <a:xfrm>
            <a:off x="640080" y="4572000"/>
            <a:ext cx="10881360" cy="73152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Why it matters:  </a:t>
            </a:r>
            <a:pPr indent="0" marL="0">
              <a:buNone/>
            </a:pPr>
            <a:r>
              <a:rPr lang="en-US" sz="1450" i="1" dirty="0">
                <a:solidFill>
                  <a:srgbClr val="262F65"/>
                </a:solidFill>
                <a:latin typeface="Calibri" pitchFamily="34" charset="0"/>
                <a:ea typeface="Calibri" pitchFamily="34" charset="-122"/>
                <a:cs typeface="Calibri" pitchFamily="34" charset="-120"/>
              </a:rPr>
              <a:t>the lifecycle tells you WHERE risk occurs and WHICH control to apply — and compliance requires knowing your data's whole journey.</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GOALS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Protection goals — the CIA triad for data</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Confidentiality</a:t>
            </a:r>
            <a:endParaRPr lang="en-US" sz="1700" dirty="0"/>
          </a:p>
        </p:txBody>
      </p:sp>
      <p:sp>
        <p:nvSpPr>
          <p:cNvPr id="11" name="Text 7"/>
          <p:cNvSpPr/>
          <p:nvPr/>
        </p:nvSpPr>
        <p:spPr>
          <a:xfrm>
            <a:off x="804672"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Prevent unauthorised access.</a:t>
            </a:r>
            <a:endParaRPr lang="en-US" sz="1250" dirty="0"/>
          </a:p>
          <a:p>
            <a:pPr algn="ctr" indent="0" marL="0">
              <a:buNone/>
            </a:pPr>
            <a:r>
              <a:rPr lang="en-US" sz="1250" dirty="0">
                <a:solidFill>
                  <a:srgbClr val="23283A"/>
                </a:solidFill>
                <a:latin typeface="Calibri" pitchFamily="34" charset="0"/>
                <a:ea typeface="Calibri" pitchFamily="34" charset="-122"/>
                <a:cs typeface="Calibri" pitchFamily="34" charset="-120"/>
              </a:rPr>
              <a:t>Encryption · access control</a:t>
            </a:r>
            <a:endParaRPr lang="en-US" sz="1250" dirty="0"/>
          </a:p>
        </p:txBody>
      </p:sp>
      <p:sp>
        <p:nvSpPr>
          <p:cNvPr id="12" name="Shape 8"/>
          <p:cNvSpPr/>
          <p:nvPr/>
        </p:nvSpPr>
        <p:spPr>
          <a:xfrm>
            <a:off x="4362602"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Integrity</a:t>
            </a:r>
            <a:endParaRPr lang="en-US" sz="1700" dirty="0"/>
          </a:p>
        </p:txBody>
      </p:sp>
      <p:sp>
        <p:nvSpPr>
          <p:cNvPr id="16" name="Text 11"/>
          <p:cNvSpPr/>
          <p:nvPr/>
        </p:nvSpPr>
        <p:spPr>
          <a:xfrm>
            <a:off x="4527194"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Ensure data is unaltered — and prove it.</a:t>
            </a:r>
            <a:endParaRPr lang="en-US" sz="1250" dirty="0"/>
          </a:p>
          <a:p>
            <a:pPr algn="ctr" indent="0" marL="0">
              <a:buNone/>
            </a:pPr>
            <a:r>
              <a:rPr lang="en-US" sz="1250" dirty="0">
                <a:solidFill>
                  <a:srgbClr val="23283A"/>
                </a:solidFill>
                <a:latin typeface="Calibri" pitchFamily="34" charset="0"/>
                <a:ea typeface="Calibri" pitchFamily="34" charset="-122"/>
                <a:cs typeface="Calibri" pitchFamily="34" charset="-120"/>
              </a:rPr>
              <a:t>Hashing · digital signatures</a:t>
            </a:r>
            <a:endParaRPr lang="en-US" sz="1250" dirty="0"/>
          </a:p>
        </p:txBody>
      </p:sp>
      <p:sp>
        <p:nvSpPr>
          <p:cNvPr id="17" name="Shape 12"/>
          <p:cNvSpPr/>
          <p:nvPr/>
        </p:nvSpPr>
        <p:spPr>
          <a:xfrm>
            <a:off x="8085125"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Availability</a:t>
            </a:r>
            <a:endParaRPr lang="en-US" sz="1700" dirty="0"/>
          </a:p>
        </p:txBody>
      </p:sp>
      <p:sp>
        <p:nvSpPr>
          <p:cNvPr id="21" name="Text 15"/>
          <p:cNvSpPr/>
          <p:nvPr/>
        </p:nvSpPr>
        <p:spPr>
          <a:xfrm>
            <a:off x="8249717"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Accessible when needed.</a:t>
            </a:r>
            <a:endParaRPr lang="en-US" sz="1250" dirty="0"/>
          </a:p>
          <a:p>
            <a:pPr algn="ctr" indent="0" marL="0">
              <a:buNone/>
            </a:pPr>
            <a:r>
              <a:rPr lang="en-US" sz="1250" dirty="0">
                <a:solidFill>
                  <a:srgbClr val="23283A"/>
                </a:solidFill>
                <a:latin typeface="Calibri" pitchFamily="34" charset="0"/>
                <a:ea typeface="Calibri" pitchFamily="34" charset="-122"/>
                <a:cs typeface="Calibri" pitchFamily="34" charset="-120"/>
              </a:rPr>
              <a:t>Backups · redundancy</a:t>
            </a:r>
            <a:endParaRPr lang="en-US" sz="1250" dirty="0"/>
          </a:p>
        </p:txBody>
      </p:sp>
      <p:sp>
        <p:nvSpPr>
          <p:cNvPr id="22" name="Text 16"/>
          <p:cNvSpPr/>
          <p:nvPr/>
        </p:nvSpPr>
        <p:spPr>
          <a:xfrm>
            <a:off x="640080" y="5074920"/>
            <a:ext cx="10881360" cy="457200"/>
          </a:xfrm>
          <a:prstGeom prst="rect">
            <a:avLst/>
          </a:prstGeom>
          <a:noFill/>
          <a:ln/>
        </p:spPr>
        <p:txBody>
          <a:bodyPr wrap="square" lIns="0" tIns="0" rIns="0" bIns="0" rtlCol="0" anchor="ctr"/>
          <a:lstStyle/>
          <a:p>
            <a:pPr algn="ctr" indent="0" marL="0">
              <a:buNone/>
            </a:pPr>
            <a:r>
              <a:rPr lang="en-US" sz="1400" i="1" dirty="0">
                <a:solidFill>
                  <a:srgbClr val="262F65"/>
                </a:solidFill>
                <a:latin typeface="Calibri" pitchFamily="34" charset="0"/>
                <a:ea typeface="Calibri" pitchFamily="34" charset="-122"/>
                <a:cs typeface="Calibri" pitchFamily="34" charset="-120"/>
              </a:rPr>
              <a:t>Data protection is not only secrecy — corrupted or unavailable data can be as damaging as leaked data.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TWO CORE GOALS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Confidentiality &amp; integrity in practice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Confidentiality</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Keep sensitive data unreadable to the wrong parties.</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Encryption — </a:t>
            </a:r>
            <a:pPr indent="0" marL="0">
              <a:buNone/>
            </a:pPr>
            <a:r>
              <a:rPr lang="en-US" sz="1250" dirty="0">
                <a:solidFill>
                  <a:srgbClr val="5B6472"/>
                </a:solidFill>
                <a:latin typeface="Calibri" pitchFamily="34" charset="0"/>
                <a:ea typeface="Calibri" pitchFamily="34" charset="-122"/>
                <a:cs typeface="Calibri" pitchFamily="34" charset="-120"/>
              </a:rPr>
              <a:t>unreadable without the key</a:t>
            </a: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Access control — </a:t>
            </a:r>
            <a:pPr indent="0" marL="0">
              <a:buNone/>
            </a:pPr>
            <a:r>
              <a:rPr lang="en-US" sz="1250" dirty="0">
                <a:solidFill>
                  <a:srgbClr val="5B6472"/>
                </a:solidFill>
                <a:latin typeface="Calibri" pitchFamily="34" charset="0"/>
                <a:ea typeface="Calibri" pitchFamily="34" charset="-122"/>
                <a:cs typeface="Calibri" pitchFamily="34" charset="-120"/>
              </a:rPr>
              <a:t>limit who can reach it</a:t>
            </a: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Classification — </a:t>
            </a:r>
            <a:pPr indent="0" marL="0">
              <a:buNone/>
            </a:pPr>
            <a:r>
              <a:rPr lang="en-US" sz="1250" dirty="0">
                <a:solidFill>
                  <a:srgbClr val="5B6472"/>
                </a:solidFill>
                <a:latin typeface="Calibri" pitchFamily="34" charset="0"/>
                <a:ea typeface="Calibri" pitchFamily="34" charset="-122"/>
                <a:cs typeface="Calibri" pitchFamily="34" charset="-120"/>
              </a:rPr>
              <a:t>know what is sensitive</a:t>
            </a: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Integrity</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Ensure data is accurate — and tampering is detectable.</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Hashing — </a:t>
            </a:r>
            <a:pPr indent="0" marL="0">
              <a:buNone/>
            </a:pPr>
            <a:r>
              <a:rPr lang="en-US" sz="1250" dirty="0">
                <a:solidFill>
                  <a:srgbClr val="5B6472"/>
                </a:solidFill>
                <a:latin typeface="Calibri" pitchFamily="34" charset="0"/>
                <a:ea typeface="Calibri" pitchFamily="34" charset="-122"/>
                <a:cs typeface="Calibri" pitchFamily="34" charset="-120"/>
              </a:rPr>
              <a:t>a fingerprint that changes if data changes</a:t>
            </a: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Digital signatures — </a:t>
            </a:r>
            <a:pPr indent="0" marL="0">
              <a:buNone/>
            </a:pPr>
            <a:r>
              <a:rPr lang="en-US" sz="1250" dirty="0">
                <a:solidFill>
                  <a:srgbClr val="5B6472"/>
                </a:solidFill>
                <a:latin typeface="Calibri" pitchFamily="34" charset="0"/>
                <a:ea typeface="Calibri" pitchFamily="34" charset="-122"/>
                <a:cs typeface="Calibri" pitchFamily="34" charset="-120"/>
              </a:rPr>
              <a:t>prove origin + no alteration</a:t>
            </a: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Version control — </a:t>
            </a:r>
            <a:pPr indent="0" marL="0">
              <a:buNone/>
            </a:pPr>
            <a:r>
              <a:rPr lang="en-US" sz="1250" dirty="0">
                <a:solidFill>
                  <a:srgbClr val="5B6472"/>
                </a:solidFill>
                <a:latin typeface="Calibri" pitchFamily="34" charset="0"/>
                <a:ea typeface="Calibri" pitchFamily="34" charset="-122"/>
                <a:cs typeface="Calibri" pitchFamily="34" charset="-120"/>
              </a:rPr>
              <a:t>track changes over time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Threats to Cloud Data</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THREAT LANDSCAPE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Attack vectors &amp; cloud data threats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Common attack vectors</a:t>
            </a:r>
            <a:endParaRPr lang="en-US" sz="1550" dirty="0"/>
          </a:p>
        </p:txBody>
      </p:sp>
      <p:sp>
        <p:nvSpPr>
          <p:cNvPr id="11" name="Shape 7"/>
          <p:cNvSpPr/>
          <p:nvPr/>
        </p:nvSpPr>
        <p:spPr>
          <a:xfrm>
            <a:off x="1005840" y="3127248"/>
            <a:ext cx="128016" cy="128016"/>
          </a:xfrm>
          <a:prstGeom prst="ellipse">
            <a:avLst/>
          </a:prstGeom>
          <a:solidFill>
            <a:srgbClr val="262F65"/>
          </a:solidFill>
          <a:ln/>
        </p:spPr>
      </p:sp>
      <p:sp>
        <p:nvSpPr>
          <p:cNvPr id="12" name="Text 8"/>
          <p:cNvSpPr/>
          <p:nvPr/>
        </p:nvSpPr>
        <p:spPr>
          <a:xfrm>
            <a:off x="1280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Data breaches — </a:t>
            </a:r>
            <a:pPr indent="0" marL="0">
              <a:buNone/>
            </a:pPr>
            <a:r>
              <a:rPr lang="en-US" sz="1250" dirty="0">
                <a:solidFill>
                  <a:srgbClr val="5B6472"/>
                </a:solidFill>
                <a:latin typeface="Calibri" pitchFamily="34" charset="0"/>
                <a:ea typeface="Calibri" pitchFamily="34" charset="-122"/>
                <a:cs typeface="Calibri" pitchFamily="34" charset="-120"/>
              </a:rPr>
              <a:t>unauthorised access to data</a:t>
            </a:r>
            <a:endParaRPr lang="en-US" sz="1250" dirty="0"/>
          </a:p>
        </p:txBody>
      </p:sp>
      <p:sp>
        <p:nvSpPr>
          <p:cNvPr id="13" name="Shape 9"/>
          <p:cNvSpPr/>
          <p:nvPr/>
        </p:nvSpPr>
        <p:spPr>
          <a:xfrm>
            <a:off x="1005840" y="3694176"/>
            <a:ext cx="128016" cy="128016"/>
          </a:xfrm>
          <a:prstGeom prst="ellipse">
            <a:avLst/>
          </a:prstGeom>
          <a:solidFill>
            <a:srgbClr val="262F65"/>
          </a:solidFill>
          <a:ln/>
        </p:spPr>
      </p:sp>
      <p:sp>
        <p:nvSpPr>
          <p:cNvPr id="14" name="Text 10"/>
          <p:cNvSpPr/>
          <p:nvPr/>
        </p:nvSpPr>
        <p:spPr>
          <a:xfrm>
            <a:off x="1280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Eavesdropping — </a:t>
            </a:r>
            <a:pPr indent="0" marL="0">
              <a:buNone/>
            </a:pPr>
            <a:r>
              <a:rPr lang="en-US" sz="1250" dirty="0">
                <a:solidFill>
                  <a:srgbClr val="5B6472"/>
                </a:solidFill>
                <a:latin typeface="Calibri" pitchFamily="34" charset="0"/>
                <a:ea typeface="Calibri" pitchFamily="34" charset="-122"/>
                <a:cs typeface="Calibri" pitchFamily="34" charset="-120"/>
              </a:rPr>
              <a:t>intercepting data in transit</a:t>
            </a:r>
            <a:endParaRPr lang="en-US" sz="1250" dirty="0"/>
          </a:p>
        </p:txBody>
      </p:sp>
      <p:sp>
        <p:nvSpPr>
          <p:cNvPr id="15" name="Shape 11"/>
          <p:cNvSpPr/>
          <p:nvPr/>
        </p:nvSpPr>
        <p:spPr>
          <a:xfrm>
            <a:off x="1005840" y="4261104"/>
            <a:ext cx="128016" cy="128016"/>
          </a:xfrm>
          <a:prstGeom prst="ellipse">
            <a:avLst/>
          </a:prstGeom>
          <a:solidFill>
            <a:srgbClr val="262F65"/>
          </a:solidFill>
          <a:ln/>
        </p:spPr>
      </p:sp>
      <p:sp>
        <p:nvSpPr>
          <p:cNvPr id="16" name="Text 12"/>
          <p:cNvSpPr/>
          <p:nvPr/>
        </p:nvSpPr>
        <p:spPr>
          <a:xfrm>
            <a:off x="1280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API vulnerabilities — </a:t>
            </a:r>
            <a:pPr indent="0" marL="0">
              <a:buNone/>
            </a:pPr>
            <a:r>
              <a:rPr lang="en-US" sz="1250" dirty="0">
                <a:solidFill>
                  <a:srgbClr val="5B6472"/>
                </a:solidFill>
                <a:latin typeface="Calibri" pitchFamily="34" charset="0"/>
                <a:ea typeface="Calibri" pitchFamily="34" charset="-122"/>
                <a:cs typeface="Calibri" pitchFamily="34" charset="-120"/>
              </a:rPr>
              <a:t>abusing read/write interfaces</a:t>
            </a:r>
            <a:endParaRPr lang="en-US" sz="1250" dirty="0"/>
          </a:p>
        </p:txBody>
      </p:sp>
      <p:sp>
        <p:nvSpPr>
          <p:cNvPr id="17" name="Shape 13"/>
          <p:cNvSpPr/>
          <p:nvPr/>
        </p:nvSpPr>
        <p:spPr>
          <a:xfrm>
            <a:off x="1005840" y="4828032"/>
            <a:ext cx="128016" cy="128016"/>
          </a:xfrm>
          <a:prstGeom prst="ellipse">
            <a:avLst/>
          </a:prstGeom>
          <a:solidFill>
            <a:srgbClr val="262F65"/>
          </a:solidFill>
          <a:ln/>
        </p:spPr>
      </p:sp>
      <p:sp>
        <p:nvSpPr>
          <p:cNvPr id="18" name="Text 14"/>
          <p:cNvSpPr/>
          <p:nvPr/>
        </p:nvSpPr>
        <p:spPr>
          <a:xfrm>
            <a:off x="1280160" y="4764024"/>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Malware — </a:t>
            </a:r>
            <a:pPr indent="0" marL="0">
              <a:buNone/>
            </a:pPr>
            <a:r>
              <a:rPr lang="en-US" sz="1250" dirty="0">
                <a:solidFill>
                  <a:srgbClr val="5B6472"/>
                </a:solidFill>
                <a:latin typeface="Calibri" pitchFamily="34" charset="0"/>
                <a:ea typeface="Calibri" pitchFamily="34" charset="-122"/>
                <a:cs typeface="Calibri" pitchFamily="34" charset="-120"/>
              </a:rPr>
              <a:t>steals or corrupts data</a:t>
            </a:r>
            <a:endParaRPr lang="en-US" sz="1250" dirty="0"/>
          </a:p>
        </p:txBody>
      </p:sp>
      <p:sp>
        <p:nvSpPr>
          <p:cNvPr id="19" name="Shape 15"/>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20" name="Shape 16"/>
          <p:cNvSpPr/>
          <p:nvPr/>
        </p:nvSpPr>
        <p:spPr>
          <a:xfrm>
            <a:off x="6675120" y="2057400"/>
            <a:ext cx="868680" cy="868680"/>
          </a:xfrm>
          <a:prstGeom prst="ellipse">
            <a:avLst/>
          </a:prstGeom>
          <a:solidFill>
            <a:srgbClr val="F2931F"/>
          </a:solidFill>
          <a:ln/>
        </p:spPr>
      </p:sp>
      <p:pic>
        <p:nvPicPr>
          <p:cNvPr id="21"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2" name="Text 17"/>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Cloud data threats</a:t>
            </a:r>
            <a:endParaRPr lang="en-US" sz="1550" dirty="0"/>
          </a:p>
        </p:txBody>
      </p:sp>
      <p:sp>
        <p:nvSpPr>
          <p:cNvPr id="23" name="Shape 18"/>
          <p:cNvSpPr/>
          <p:nvPr/>
        </p:nvSpPr>
        <p:spPr>
          <a:xfrm>
            <a:off x="6720840" y="3127248"/>
            <a:ext cx="128016" cy="128016"/>
          </a:xfrm>
          <a:prstGeom prst="ellipse">
            <a:avLst/>
          </a:prstGeom>
          <a:solidFill>
            <a:srgbClr val="F2931F"/>
          </a:solidFill>
          <a:ln/>
        </p:spPr>
      </p:sp>
      <p:sp>
        <p:nvSpPr>
          <p:cNvPr id="24" name="Text 19"/>
          <p:cNvSpPr/>
          <p:nvPr/>
        </p:nvSpPr>
        <p:spPr>
          <a:xfrm>
            <a:off x="6995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Insider threats — </a:t>
            </a:r>
            <a:pPr indent="0" marL="0">
              <a:buNone/>
            </a:pPr>
            <a:r>
              <a:rPr lang="en-US" sz="1250" dirty="0">
                <a:solidFill>
                  <a:srgbClr val="5B6472"/>
                </a:solidFill>
                <a:latin typeface="Calibri" pitchFamily="34" charset="0"/>
                <a:ea typeface="Calibri" pitchFamily="34" charset="-122"/>
                <a:cs typeface="Calibri" pitchFamily="34" charset="-120"/>
              </a:rPr>
              <a:t>misuse by staff</a:t>
            </a:r>
            <a:endParaRPr lang="en-US" sz="1250" dirty="0"/>
          </a:p>
        </p:txBody>
      </p:sp>
      <p:sp>
        <p:nvSpPr>
          <p:cNvPr id="25" name="Shape 20"/>
          <p:cNvSpPr/>
          <p:nvPr/>
        </p:nvSpPr>
        <p:spPr>
          <a:xfrm>
            <a:off x="6720840" y="3694176"/>
            <a:ext cx="128016" cy="128016"/>
          </a:xfrm>
          <a:prstGeom prst="ellipse">
            <a:avLst/>
          </a:prstGeom>
          <a:solidFill>
            <a:srgbClr val="F2931F"/>
          </a:solidFill>
          <a:ln/>
        </p:spPr>
      </p:sp>
      <p:sp>
        <p:nvSpPr>
          <p:cNvPr id="26" name="Text 21"/>
          <p:cNvSpPr/>
          <p:nvPr/>
        </p:nvSpPr>
        <p:spPr>
          <a:xfrm>
            <a:off x="6995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Misconfiguration — </a:t>
            </a:r>
            <a:pPr indent="0" marL="0">
              <a:buNone/>
            </a:pPr>
            <a:r>
              <a:rPr lang="en-US" sz="1250" dirty="0">
                <a:solidFill>
                  <a:srgbClr val="5B6472"/>
                </a:solidFill>
                <a:latin typeface="Calibri" pitchFamily="34" charset="0"/>
                <a:ea typeface="Calibri" pitchFamily="34" charset="-122"/>
                <a:cs typeface="Calibri" pitchFamily="34" charset="-120"/>
              </a:rPr>
              <a:t>the #1 cause — public buckets</a:t>
            </a:r>
            <a:endParaRPr lang="en-US" sz="1250" dirty="0"/>
          </a:p>
        </p:txBody>
      </p:sp>
      <p:sp>
        <p:nvSpPr>
          <p:cNvPr id="27" name="Shape 22"/>
          <p:cNvSpPr/>
          <p:nvPr/>
        </p:nvSpPr>
        <p:spPr>
          <a:xfrm>
            <a:off x="6720840" y="4261104"/>
            <a:ext cx="128016" cy="128016"/>
          </a:xfrm>
          <a:prstGeom prst="ellipse">
            <a:avLst/>
          </a:prstGeom>
          <a:solidFill>
            <a:srgbClr val="F2931F"/>
          </a:solidFill>
          <a:ln/>
        </p:spPr>
      </p:sp>
      <p:sp>
        <p:nvSpPr>
          <p:cNvPr id="28" name="Text 23"/>
          <p:cNvSpPr/>
          <p:nvPr/>
        </p:nvSpPr>
        <p:spPr>
          <a:xfrm>
            <a:off x="6995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Data leakage — </a:t>
            </a:r>
            <a:pPr indent="0" marL="0">
              <a:buNone/>
            </a:pPr>
            <a:r>
              <a:rPr lang="en-US" sz="1250" dirty="0">
                <a:solidFill>
                  <a:srgbClr val="5B6472"/>
                </a:solidFill>
                <a:latin typeface="Calibri" pitchFamily="34" charset="0"/>
                <a:ea typeface="Calibri" pitchFamily="34" charset="-122"/>
                <a:cs typeface="Calibri" pitchFamily="34" charset="-120"/>
              </a:rPr>
              <a:t>weak isolation / over-sharing</a:t>
            </a:r>
            <a:endParaRPr lang="en-US" sz="1250" dirty="0"/>
          </a:p>
        </p:txBody>
      </p:sp>
      <p:sp>
        <p:nvSpPr>
          <p:cNvPr id="29" name="Shape 24"/>
          <p:cNvSpPr/>
          <p:nvPr/>
        </p:nvSpPr>
        <p:spPr>
          <a:xfrm>
            <a:off x="6720840" y="4828032"/>
            <a:ext cx="128016" cy="128016"/>
          </a:xfrm>
          <a:prstGeom prst="ellipse">
            <a:avLst/>
          </a:prstGeom>
          <a:solidFill>
            <a:srgbClr val="F2931F"/>
          </a:solidFill>
          <a:ln/>
        </p:spPr>
      </p:sp>
      <p:sp>
        <p:nvSpPr>
          <p:cNvPr id="30" name="Text 25"/>
          <p:cNvSpPr/>
          <p:nvPr/>
        </p:nvSpPr>
        <p:spPr>
          <a:xfrm>
            <a:off x="6995160" y="4764024"/>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Unauthorised access — </a:t>
            </a:r>
            <a:pPr indent="0" marL="0">
              <a:buNone/>
            </a:pPr>
            <a:r>
              <a:rPr lang="en-US" sz="1250" dirty="0">
                <a:solidFill>
                  <a:srgbClr val="5B6472"/>
                </a:solidFill>
                <a:latin typeface="Calibri" pitchFamily="34" charset="0"/>
                <a:ea typeface="Calibri" pitchFamily="34" charset="-122"/>
                <a:cs typeface="Calibri" pitchFamily="34" charset="-120"/>
              </a:rPr>
              <a:t>weak access control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Encryption &amp; Data Masking</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CORE CONTROL</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Encryption — symmetric vs asymmetric</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Symmetric</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One shared secret key encrypts and decrypts.</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Fast — </a:t>
            </a:r>
            <a:pPr indent="0" marL="0">
              <a:buNone/>
            </a:pPr>
            <a:r>
              <a:rPr lang="en-US" sz="1250" dirty="0">
                <a:solidFill>
                  <a:srgbClr val="5B6472"/>
                </a:solidFill>
                <a:latin typeface="Calibri" pitchFamily="34" charset="0"/>
                <a:ea typeface="Calibri" pitchFamily="34" charset="-122"/>
                <a:cs typeface="Calibri" pitchFamily="34" charset="-120"/>
              </a:rPr>
              <a:t>ideal for bulk data, disks, files</a:t>
            </a: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Challenge — </a:t>
            </a:r>
            <a:pPr indent="0" marL="0">
              <a:buNone/>
            </a:pPr>
            <a:r>
              <a:rPr lang="en-US" sz="1250" dirty="0">
                <a:solidFill>
                  <a:srgbClr val="5B6472"/>
                </a:solidFill>
                <a:latin typeface="Calibri" pitchFamily="34" charset="0"/>
                <a:ea typeface="Calibri" pitchFamily="34" charset="-122"/>
                <a:cs typeface="Calibri" pitchFamily="34" charset="-120"/>
              </a:rPr>
              <a:t>distributing the key securely</a:t>
            </a: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Example — </a:t>
            </a:r>
            <a:pPr indent="0" marL="0">
              <a:buNone/>
            </a:pPr>
            <a:r>
              <a:rPr lang="en-US" sz="1250" dirty="0">
                <a:solidFill>
                  <a:srgbClr val="5B6472"/>
                </a:solidFill>
                <a:latin typeface="Calibri" pitchFamily="34" charset="0"/>
                <a:ea typeface="Calibri" pitchFamily="34" charset="-122"/>
                <a:cs typeface="Calibri" pitchFamily="34" charset="-120"/>
              </a:rPr>
              <a:t>AES</a:t>
            </a: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Asymmetric</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A key pair — public to encrypt, private to decrypt.</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Solves key distribution — </a:t>
            </a:r>
            <a:pPr indent="0" marL="0">
              <a:buNone/>
            </a:pPr>
            <a:r>
              <a:rPr lang="en-US" sz="1250" dirty="0">
                <a:solidFill>
                  <a:srgbClr val="5B6472"/>
                </a:solidFill>
                <a:latin typeface="Calibri" pitchFamily="34" charset="0"/>
                <a:ea typeface="Calibri" pitchFamily="34" charset="-122"/>
                <a:cs typeface="Calibri" pitchFamily="34" charset="-120"/>
              </a:rPr>
              <a:t>share the public key freely</a:t>
            </a: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Enables signatures — </a:t>
            </a:r>
            <a:pPr indent="0" marL="0">
              <a:buNone/>
            </a:pPr>
            <a:r>
              <a:rPr lang="en-US" sz="1250" dirty="0">
                <a:solidFill>
                  <a:srgbClr val="5B6472"/>
                </a:solidFill>
                <a:latin typeface="Calibri" pitchFamily="34" charset="0"/>
                <a:ea typeface="Calibri" pitchFamily="34" charset="-122"/>
                <a:cs typeface="Calibri" pitchFamily="34" charset="-120"/>
              </a:rPr>
              <a:t>and identity</a:t>
            </a: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Slower — </a:t>
            </a:r>
            <a:pPr indent="0" marL="0">
              <a:buNone/>
            </a:pPr>
            <a:r>
              <a:rPr lang="en-US" sz="1250" dirty="0">
                <a:solidFill>
                  <a:srgbClr val="5B6472"/>
                </a:solidFill>
                <a:latin typeface="Calibri" pitchFamily="34" charset="0"/>
                <a:ea typeface="Calibri" pitchFamily="34" charset="-122"/>
                <a:cs typeface="Calibri" pitchFamily="34" charset="-120"/>
              </a:rPr>
              <a:t>used for small data / key exchange</a:t>
            </a:r>
            <a:endParaRPr lang="en-US" sz="1250" dirty="0"/>
          </a:p>
        </p:txBody>
      </p:sp>
      <p:sp>
        <p:nvSpPr>
          <p:cNvPr id="29" name="Text 24"/>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300" b="1" dirty="0">
                <a:solidFill>
                  <a:srgbClr val="F2931F"/>
                </a:solidFill>
                <a:latin typeface="Calibri" pitchFamily="34" charset="0"/>
                <a:ea typeface="Calibri" pitchFamily="34" charset="-122"/>
                <a:cs typeface="Calibri" pitchFamily="34" charset="-120"/>
              </a:rPr>
              <a:t>In practice:  </a:t>
            </a:r>
            <a:pPr algn="ctr" indent="0" marL="0">
              <a:buNone/>
            </a:pPr>
            <a:r>
              <a:rPr lang="en-US" sz="1300" i="1" dirty="0">
                <a:solidFill>
                  <a:srgbClr val="262F65"/>
                </a:solidFill>
                <a:latin typeface="Calibri" pitchFamily="34" charset="0"/>
                <a:ea typeface="Calibri" pitchFamily="34" charset="-122"/>
                <a:cs typeface="Calibri" pitchFamily="34" charset="-120"/>
              </a:rPr>
              <a:t>asymmetric exchanges a symmetric key, then symmetric encrypts the data — that is how TLS works.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WHERE TO APPLY</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Encryption use cases — the three states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Data at rest</a:t>
            </a:r>
            <a:endParaRPr lang="en-US" sz="1700" dirty="0"/>
          </a:p>
        </p:txBody>
      </p:sp>
      <p:sp>
        <p:nvSpPr>
          <p:cNvPr id="11" name="Text 7"/>
          <p:cNvSpPr/>
          <p:nvPr/>
        </p:nvSpPr>
        <p:spPr>
          <a:xfrm>
            <a:off x="804672"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Encrypt stored data — a stolen disk yields only ciphertext.</a:t>
            </a:r>
            <a:endParaRPr lang="en-US" sz="1250" dirty="0"/>
          </a:p>
        </p:txBody>
      </p:sp>
      <p:sp>
        <p:nvSpPr>
          <p:cNvPr id="12" name="Shape 8"/>
          <p:cNvSpPr/>
          <p:nvPr/>
        </p:nvSpPr>
        <p:spPr>
          <a:xfrm>
            <a:off x="4362602"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Data in transit</a:t>
            </a:r>
            <a:endParaRPr lang="en-US" sz="1700" dirty="0"/>
          </a:p>
        </p:txBody>
      </p:sp>
      <p:sp>
        <p:nvSpPr>
          <p:cNvPr id="16" name="Text 11"/>
          <p:cNvSpPr/>
          <p:nvPr/>
        </p:nvSpPr>
        <p:spPr>
          <a:xfrm>
            <a:off x="4527194"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TLS / HTTPS — intercepted traffic stays unreadable.</a:t>
            </a:r>
            <a:endParaRPr lang="en-US" sz="1250" dirty="0"/>
          </a:p>
        </p:txBody>
      </p:sp>
      <p:sp>
        <p:nvSpPr>
          <p:cNvPr id="17" name="Shape 12"/>
          <p:cNvSpPr/>
          <p:nvPr/>
        </p:nvSpPr>
        <p:spPr>
          <a:xfrm>
            <a:off x="8085125" y="1783080"/>
            <a:ext cx="3466490" cy="3108960"/>
          </a:xfrm>
          <a:prstGeom prst="roundRect">
            <a:avLst>
              <a:gd name="adj" fmla="val 264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Backups</a:t>
            </a:r>
            <a:endParaRPr lang="en-US" sz="1700" dirty="0"/>
          </a:p>
        </p:txBody>
      </p:sp>
      <p:sp>
        <p:nvSpPr>
          <p:cNvPr id="21" name="Text 15"/>
          <p:cNvSpPr/>
          <p:nvPr/>
        </p:nvSpPr>
        <p:spPr>
          <a:xfrm>
            <a:off x="8249717" y="3794760"/>
            <a:ext cx="3137306" cy="100584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Encrypt backups too — a common overlooked leak.</a:t>
            </a:r>
            <a:endParaRPr lang="en-US" sz="1250" dirty="0"/>
          </a:p>
        </p:txBody>
      </p:sp>
      <p:sp>
        <p:nvSpPr>
          <p:cNvPr id="22" name="Text 16"/>
          <p:cNvSpPr/>
          <p:nvPr/>
        </p:nvSpPr>
        <p:spPr>
          <a:xfrm>
            <a:off x="640080" y="5074920"/>
            <a:ext cx="10881360" cy="457200"/>
          </a:xfrm>
          <a:prstGeom prst="rect">
            <a:avLst/>
          </a:prstGeom>
          <a:noFill/>
          <a:ln/>
        </p:spPr>
        <p:txBody>
          <a:bodyPr wrap="square" lIns="0" tIns="0" rIns="0" bIns="0" rtlCol="0" anchor="ctr"/>
          <a:lstStyle/>
          <a:p>
            <a:pPr algn="ctr" indent="0" marL="0">
              <a:buNone/>
            </a:pPr>
            <a:r>
              <a:rPr lang="en-US" sz="1400" b="1" dirty="0">
                <a:solidFill>
                  <a:srgbClr val="F2931F"/>
                </a:solidFill>
                <a:latin typeface="Calibri" pitchFamily="34" charset="0"/>
                <a:ea typeface="Calibri" pitchFamily="34" charset="-122"/>
                <a:cs typeface="Calibri" pitchFamily="34" charset="-120"/>
              </a:rPr>
              <a:t>Rule:  </a:t>
            </a:r>
            <a:pPr algn="ctr" indent="0" marL="0">
              <a:buNone/>
            </a:pPr>
            <a:r>
              <a:rPr lang="en-US" sz="1400" i="1" dirty="0">
                <a:solidFill>
                  <a:srgbClr val="262F65"/>
                </a:solidFill>
                <a:latin typeface="Calibri" pitchFamily="34" charset="0"/>
                <a:ea typeface="Calibri" pitchFamily="34" charset="-122"/>
                <a:cs typeface="Calibri" pitchFamily="34" charset="-120"/>
              </a:rPr>
              <a:t>attackers target the weakest link — a single plaintext copy undoes encrypted storage.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BEYOND ENCRYPTION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Tokenization, redaction &amp; obfuscation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Tokenization</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Replace data with a meaningless token; keep the real value in a vault. Backbone of payments.</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Redaction</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Remove or mask sensitive fields — e.g. show only the last 4 digits in logs.</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Obfuscation</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Transform data so it is unreadable to attackers — often for non-production data.</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i="1" dirty="0">
                <a:solidFill>
                  <a:srgbClr val="262F65"/>
                </a:solidFill>
                <a:latin typeface="Calibri" pitchFamily="34" charset="0"/>
                <a:ea typeface="Calibri" pitchFamily="34" charset="-122"/>
                <a:cs typeface="Calibri" pitchFamily="34" charset="-120"/>
              </a:rPr>
              <a:t>Match the technique to the need — recover exact data (encrypt), operate without it (tokenize), hide it (redact).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PKI, Key Management &amp; Deletion</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TRUST INFRASTRUCTURE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Public Key Infrastructure (PKI)</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640080" y="1691640"/>
            <a:ext cx="1143000" cy="1143000"/>
          </a:xfrm>
          <a:prstGeom prst="ellipse">
            <a:avLst/>
          </a:prstGeom>
          <a:solidFill>
            <a:srgbClr val="262F65"/>
          </a:solidFill>
          <a:ln/>
        </p:spPr>
      </p:sp>
      <p:pic>
        <p:nvPicPr>
          <p:cNvPr id="8" name="Image 0" descr="preencoded.png">    </p:cNvPr>
          <p:cNvPicPr>
            <a:picLocks noChangeAspect="1"/>
          </p:cNvPicPr>
          <p:nvPr/>
        </p:nvPicPr>
        <p:blipFill>
          <a:blip r:embed="rId1"/>
          <a:stretch>
            <a:fillRect/>
          </a:stretch>
        </p:blipFill>
        <p:spPr>
          <a:xfrm>
            <a:off x="914400" y="1965960"/>
            <a:ext cx="594360" cy="594360"/>
          </a:xfrm>
          <a:prstGeom prst="rect">
            <a:avLst/>
          </a:prstGeom>
        </p:spPr>
      </p:pic>
      <p:sp>
        <p:nvSpPr>
          <p:cNvPr id="9" name="Text 5"/>
          <p:cNvSpPr/>
          <p:nvPr/>
        </p:nvSpPr>
        <p:spPr>
          <a:xfrm>
            <a:off x="2148840" y="1737360"/>
            <a:ext cx="9418320" cy="1005840"/>
          </a:xfrm>
          <a:prstGeom prst="rect">
            <a:avLst/>
          </a:prstGeom>
          <a:noFill/>
          <a:ln/>
        </p:spPr>
        <p:txBody>
          <a:bodyPr wrap="square" lIns="0" tIns="0" rIns="0" bIns="0" rtlCol="0" anchor="t"/>
          <a:lstStyle/>
          <a:p>
            <a:pPr indent="0" marL="0">
              <a:buNone/>
            </a:pPr>
            <a:r>
              <a:rPr lang="en-US" sz="1600" dirty="0">
                <a:solidFill>
                  <a:srgbClr val="23283A"/>
                </a:solidFill>
                <a:latin typeface="Calibri" pitchFamily="34" charset="0"/>
                <a:ea typeface="Calibri" pitchFamily="34" charset="-122"/>
                <a:cs typeface="Calibri" pitchFamily="34" charset="-120"/>
              </a:rPr>
              <a:t>A framework of certificates and keys that lets parties trust each other's public keys — the basis of secure communication.</a:t>
            </a:r>
            <a:endParaRPr lang="en-US" sz="1600" dirty="0"/>
          </a:p>
        </p:txBody>
      </p:sp>
      <p:sp>
        <p:nvSpPr>
          <p:cNvPr id="10" name="Shape 6"/>
          <p:cNvSpPr/>
          <p:nvPr/>
        </p:nvSpPr>
        <p:spPr>
          <a:xfrm>
            <a:off x="640080" y="3063240"/>
            <a:ext cx="3466490" cy="1965960"/>
          </a:xfrm>
          <a:prstGeom prst="roundRect">
            <a:avLst>
              <a:gd name="adj" fmla="val 4186"/>
            </a:avLst>
          </a:prstGeom>
          <a:solidFill>
            <a:srgbClr val="F4F6FB"/>
          </a:solidFill>
          <a:ln/>
          <a:effectLst>
            <a:outerShdw sx="100000" sy="100000" kx="0" ky="0" algn="bl" rotWithShape="0" blurRad="88900" dist="38100" dir="5400000">
              <a:srgbClr val="8894AD">
                <a:alpha val="28000"/>
              </a:srgbClr>
            </a:outerShdw>
          </a:effectLst>
        </p:spPr>
      </p:sp>
      <p:sp>
        <p:nvSpPr>
          <p:cNvPr id="11" name="Shape 7"/>
          <p:cNvSpPr/>
          <p:nvPr/>
        </p:nvSpPr>
        <p:spPr>
          <a:xfrm>
            <a:off x="1916125" y="3383280"/>
            <a:ext cx="914400" cy="914400"/>
          </a:xfrm>
          <a:prstGeom prst="ellipse">
            <a:avLst/>
          </a:prstGeom>
          <a:solidFill>
            <a:srgbClr val="262F65"/>
          </a:solidFill>
          <a:ln/>
        </p:spPr>
      </p:sp>
      <p:pic>
        <p:nvPicPr>
          <p:cNvPr id="12" name="Image 1" descr="preencoded.png">    </p:cNvPr>
          <p:cNvPicPr>
            <a:picLocks noChangeAspect="1"/>
          </p:cNvPicPr>
          <p:nvPr/>
        </p:nvPicPr>
        <p:blipFill>
          <a:blip r:embed="rId2"/>
          <a:stretch>
            <a:fillRect/>
          </a:stretch>
        </p:blipFill>
        <p:spPr>
          <a:xfrm>
            <a:off x="2135581" y="3602736"/>
            <a:ext cx="475488" cy="475488"/>
          </a:xfrm>
          <a:prstGeom prst="rect">
            <a:avLst/>
          </a:prstGeom>
        </p:spPr>
      </p:pic>
      <p:sp>
        <p:nvSpPr>
          <p:cNvPr id="13" name="Text 8"/>
          <p:cNvSpPr/>
          <p:nvPr/>
        </p:nvSpPr>
        <p:spPr>
          <a:xfrm>
            <a:off x="749808" y="443484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Public / private keys</a:t>
            </a:r>
            <a:endParaRPr lang="en-US" sz="1700" dirty="0"/>
          </a:p>
        </p:txBody>
      </p:sp>
      <p:sp>
        <p:nvSpPr>
          <p:cNvPr id="14" name="Text 9"/>
          <p:cNvSpPr/>
          <p:nvPr/>
        </p:nvSpPr>
        <p:spPr>
          <a:xfrm>
            <a:off x="804672" y="5074920"/>
            <a:ext cx="3137306" cy="-13716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Asymmetric pair — encrypt &amp; verify vs decrypt &amp; sign.</a:t>
            </a:r>
            <a:endParaRPr lang="en-US" sz="1250" dirty="0"/>
          </a:p>
        </p:txBody>
      </p:sp>
      <p:sp>
        <p:nvSpPr>
          <p:cNvPr id="15" name="Shape 10"/>
          <p:cNvSpPr/>
          <p:nvPr/>
        </p:nvSpPr>
        <p:spPr>
          <a:xfrm>
            <a:off x="4362602" y="3063240"/>
            <a:ext cx="3466490" cy="1965960"/>
          </a:xfrm>
          <a:prstGeom prst="roundRect">
            <a:avLst>
              <a:gd name="adj" fmla="val 4186"/>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5638648" y="3383280"/>
            <a:ext cx="914400" cy="91440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5858104" y="3602736"/>
            <a:ext cx="475488" cy="475488"/>
          </a:xfrm>
          <a:prstGeom prst="rect">
            <a:avLst/>
          </a:prstGeom>
        </p:spPr>
      </p:pic>
      <p:sp>
        <p:nvSpPr>
          <p:cNvPr id="18" name="Text 12"/>
          <p:cNvSpPr/>
          <p:nvPr/>
        </p:nvSpPr>
        <p:spPr>
          <a:xfrm>
            <a:off x="4472330" y="443484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Certificate Authority</a:t>
            </a:r>
            <a:endParaRPr lang="en-US" sz="1700" dirty="0"/>
          </a:p>
        </p:txBody>
      </p:sp>
      <p:sp>
        <p:nvSpPr>
          <p:cNvPr id="19" name="Text 13"/>
          <p:cNvSpPr/>
          <p:nvPr/>
        </p:nvSpPr>
        <p:spPr>
          <a:xfrm>
            <a:off x="4527194" y="5074920"/>
            <a:ext cx="3137306" cy="-13716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Trusted issuer binding a key to a verified identity.</a:t>
            </a:r>
            <a:endParaRPr lang="en-US" sz="1250" dirty="0"/>
          </a:p>
        </p:txBody>
      </p:sp>
      <p:sp>
        <p:nvSpPr>
          <p:cNvPr id="20" name="Shape 14"/>
          <p:cNvSpPr/>
          <p:nvPr/>
        </p:nvSpPr>
        <p:spPr>
          <a:xfrm>
            <a:off x="8085125" y="3063240"/>
            <a:ext cx="3466490" cy="1965960"/>
          </a:xfrm>
          <a:prstGeom prst="roundRect">
            <a:avLst>
              <a:gd name="adj" fmla="val 4186"/>
            </a:avLst>
          </a:prstGeom>
          <a:solidFill>
            <a:srgbClr val="F4F6FB"/>
          </a:solidFill>
          <a:ln/>
          <a:effectLst>
            <a:outerShdw sx="100000" sy="100000" kx="0" ky="0" algn="bl" rotWithShape="0" blurRad="88900" dist="38100" dir="5400000">
              <a:srgbClr val="8894AD">
                <a:alpha val="28000"/>
              </a:srgbClr>
            </a:outerShdw>
          </a:effectLst>
        </p:spPr>
      </p:sp>
      <p:sp>
        <p:nvSpPr>
          <p:cNvPr id="21" name="Shape 15"/>
          <p:cNvSpPr/>
          <p:nvPr/>
        </p:nvSpPr>
        <p:spPr>
          <a:xfrm>
            <a:off x="9361170" y="3383280"/>
            <a:ext cx="914400" cy="914400"/>
          </a:xfrm>
          <a:prstGeom prst="ellipse">
            <a:avLst/>
          </a:prstGeom>
          <a:solidFill>
            <a:srgbClr val="293E7B"/>
          </a:solidFill>
          <a:ln/>
        </p:spPr>
      </p:sp>
      <p:pic>
        <p:nvPicPr>
          <p:cNvPr id="22" name="Image 3" descr="preencoded.png">    </p:cNvPr>
          <p:cNvPicPr>
            <a:picLocks noChangeAspect="1"/>
          </p:cNvPicPr>
          <p:nvPr/>
        </p:nvPicPr>
        <p:blipFill>
          <a:blip r:embed="rId4"/>
          <a:stretch>
            <a:fillRect/>
          </a:stretch>
        </p:blipFill>
        <p:spPr>
          <a:xfrm>
            <a:off x="9580626" y="3602736"/>
            <a:ext cx="475488" cy="475488"/>
          </a:xfrm>
          <a:prstGeom prst="rect">
            <a:avLst/>
          </a:prstGeom>
        </p:spPr>
      </p:pic>
      <p:sp>
        <p:nvSpPr>
          <p:cNvPr id="23" name="Text 16"/>
          <p:cNvSpPr/>
          <p:nvPr/>
        </p:nvSpPr>
        <p:spPr>
          <a:xfrm>
            <a:off x="8194853" y="443484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Digital certificate</a:t>
            </a:r>
            <a:endParaRPr lang="en-US" sz="1700" dirty="0"/>
          </a:p>
        </p:txBody>
      </p:sp>
      <p:sp>
        <p:nvSpPr>
          <p:cNvPr id="24" name="Text 17"/>
          <p:cNvSpPr/>
          <p:nvPr/>
        </p:nvSpPr>
        <p:spPr>
          <a:xfrm>
            <a:off x="8249717" y="5074920"/>
            <a:ext cx="3137306" cy="-13716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Signed document carrying the public key + identity.</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WEAKEST LINK</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Key management lifecycle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1737360"/>
            <a:ext cx="5212080" cy="3200400"/>
          </a:xfrm>
          <a:prstGeom prst="roundRect">
            <a:avLst>
              <a:gd name="adj" fmla="val 2571"/>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960120" cy="960120"/>
          </a:xfrm>
          <a:prstGeom prst="ellipse">
            <a:avLst/>
          </a:prstGeom>
          <a:solidFill>
            <a:srgbClr val="FABA32"/>
          </a:solidFill>
          <a:ln/>
        </p:spPr>
      </p:sp>
      <p:pic>
        <p:nvPicPr>
          <p:cNvPr id="9" name="Image 0" descr="preencoded.png">    </p:cNvPr>
          <p:cNvPicPr>
            <a:picLocks noChangeAspect="1"/>
          </p:cNvPicPr>
          <p:nvPr/>
        </p:nvPicPr>
        <p:blipFill>
          <a:blip r:embed="rId1"/>
          <a:stretch>
            <a:fillRect/>
          </a:stretch>
        </p:blipFill>
        <p:spPr>
          <a:xfrm>
            <a:off x="1190549" y="2287829"/>
            <a:ext cx="499262" cy="499262"/>
          </a:xfrm>
          <a:prstGeom prst="rect">
            <a:avLst/>
          </a:prstGeom>
        </p:spPr>
      </p:pic>
      <p:sp>
        <p:nvSpPr>
          <p:cNvPr id="10" name="Text 6"/>
          <p:cNvSpPr/>
          <p:nvPr/>
        </p:nvSpPr>
        <p:spPr>
          <a:xfrm>
            <a:off x="2148840" y="1965960"/>
            <a:ext cx="3566160" cy="11887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Encryption is only as strong as its key management.</a:t>
            </a:r>
            <a:endParaRPr lang="en-US" sz="1800" dirty="0"/>
          </a:p>
        </p:txBody>
      </p:sp>
      <p:sp>
        <p:nvSpPr>
          <p:cNvPr id="11" name="Text 7"/>
          <p:cNvSpPr/>
          <p:nvPr/>
        </p:nvSpPr>
        <p:spPr>
          <a:xfrm>
            <a:off x="960120" y="3840480"/>
            <a:ext cx="4617720" cy="914400"/>
          </a:xfrm>
          <a:prstGeom prst="rect">
            <a:avLst/>
          </a:prstGeom>
          <a:noFill/>
          <a:ln/>
        </p:spPr>
        <p:txBody>
          <a:bodyPr wrap="square" lIns="0" tIns="0" rIns="0" bIns="0" rtlCol="0" anchor="t"/>
          <a:lstStyle/>
          <a:p>
            <a:pPr indent="0" marL="0">
              <a:buNone/>
            </a:pPr>
            <a:r>
              <a:rPr lang="en-US" sz="1350" i="1" dirty="0">
                <a:solidFill>
                  <a:srgbClr val="B6E0F2"/>
                </a:solidFill>
                <a:latin typeface="Calibri" pitchFamily="34" charset="0"/>
                <a:ea typeface="Calibri" pitchFamily="34" charset="-122"/>
                <a:cs typeface="Calibri" pitchFamily="34" charset="-120"/>
              </a:rPr>
              <a:t>Leaked key = worthless cipher.  Lost key = unrecoverable data.</a:t>
            </a:r>
            <a:endParaRPr lang="en-US" sz="1350" dirty="0"/>
          </a:p>
        </p:txBody>
      </p:sp>
      <p:sp>
        <p:nvSpPr>
          <p:cNvPr id="12" name="Shape 8"/>
          <p:cNvSpPr/>
          <p:nvPr/>
        </p:nvSpPr>
        <p:spPr>
          <a:xfrm>
            <a:off x="6172200" y="1737360"/>
            <a:ext cx="5349240" cy="685800"/>
          </a:xfrm>
          <a:prstGeom prst="roundRect">
            <a:avLst>
              <a:gd name="adj" fmla="val 12000"/>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327648" y="1856232"/>
            <a:ext cx="457200" cy="457200"/>
          </a:xfrm>
          <a:prstGeom prst="ellipse">
            <a:avLst/>
          </a:prstGeom>
          <a:solidFill>
            <a:srgbClr val="262F65"/>
          </a:solidFill>
          <a:ln/>
        </p:spPr>
      </p:sp>
      <p:pic>
        <p:nvPicPr>
          <p:cNvPr id="14" name="Image 1" descr="preencoded.png">    </p:cNvPr>
          <p:cNvPicPr>
            <a:picLocks noChangeAspect="1"/>
          </p:cNvPicPr>
          <p:nvPr/>
        </p:nvPicPr>
        <p:blipFill>
          <a:blip r:embed="rId2"/>
          <a:stretch>
            <a:fillRect/>
          </a:stretch>
        </p:blipFill>
        <p:spPr>
          <a:xfrm>
            <a:off x="6437376" y="1965960"/>
            <a:ext cx="237744" cy="237744"/>
          </a:xfrm>
          <a:prstGeom prst="rect">
            <a:avLst/>
          </a:prstGeom>
        </p:spPr>
      </p:pic>
      <p:sp>
        <p:nvSpPr>
          <p:cNvPr id="15" name="Text 10"/>
          <p:cNvSpPr/>
          <p:nvPr/>
        </p:nvSpPr>
        <p:spPr>
          <a:xfrm>
            <a:off x="6903720" y="1737360"/>
            <a:ext cx="4480560" cy="685800"/>
          </a:xfrm>
          <a:prstGeom prst="rect">
            <a:avLst/>
          </a:prstGeom>
          <a:noFill/>
          <a:ln/>
        </p:spPr>
        <p:txBody>
          <a:bodyPr wrap="square" lIns="0" tIns="0" rIns="0" bIns="0" rtlCol="0" anchor="ctr"/>
          <a:lstStyle/>
          <a:p>
            <a:pPr indent="0" marL="0">
              <a:buNone/>
            </a:pPr>
            <a:r>
              <a:rPr lang="en-US" sz="1200" b="1" dirty="0">
                <a:solidFill>
                  <a:srgbClr val="262F65"/>
                </a:solidFill>
                <a:latin typeface="Calibri" pitchFamily="34" charset="0"/>
                <a:ea typeface="Calibri" pitchFamily="34" charset="-122"/>
                <a:cs typeface="Calibri" pitchFamily="34" charset="-120"/>
              </a:rPr>
              <a:t>Generate — </a:t>
            </a:r>
            <a:pPr indent="0" marL="0">
              <a:buNone/>
            </a:pPr>
            <a:r>
              <a:rPr lang="en-US" sz="1200" dirty="0">
                <a:solidFill>
                  <a:srgbClr val="5B6472"/>
                </a:solidFill>
                <a:latin typeface="Calibri" pitchFamily="34" charset="0"/>
                <a:ea typeface="Calibri" pitchFamily="34" charset="-122"/>
                <a:cs typeface="Calibri" pitchFamily="34" charset="-120"/>
              </a:rPr>
              <a:t>Strong, random keys.</a:t>
            </a:r>
            <a:endParaRPr lang="en-US" sz="1200" dirty="0"/>
          </a:p>
        </p:txBody>
      </p:sp>
      <p:sp>
        <p:nvSpPr>
          <p:cNvPr id="16" name="Shape 11"/>
          <p:cNvSpPr/>
          <p:nvPr/>
        </p:nvSpPr>
        <p:spPr>
          <a:xfrm>
            <a:off x="6172200" y="2560320"/>
            <a:ext cx="5349240" cy="685800"/>
          </a:xfrm>
          <a:prstGeom prst="roundRect">
            <a:avLst>
              <a:gd name="adj" fmla="val 12000"/>
            </a:avLst>
          </a:prstGeom>
          <a:solidFill>
            <a:srgbClr val="F4F6FB"/>
          </a:solidFill>
          <a:ln/>
          <a:effectLst>
            <a:outerShdw sx="100000" sy="100000" kx="0" ky="0" algn="bl" rotWithShape="0" blurRad="88900" dist="38100" dir="5400000">
              <a:srgbClr val="8894AD">
                <a:alpha val="28000"/>
              </a:srgbClr>
            </a:outerShdw>
          </a:effectLst>
        </p:spPr>
      </p:sp>
      <p:sp>
        <p:nvSpPr>
          <p:cNvPr id="17" name="Shape 12"/>
          <p:cNvSpPr/>
          <p:nvPr/>
        </p:nvSpPr>
        <p:spPr>
          <a:xfrm>
            <a:off x="6327648" y="2679192"/>
            <a:ext cx="457200" cy="457200"/>
          </a:xfrm>
          <a:prstGeom prst="ellipse">
            <a:avLst/>
          </a:prstGeom>
          <a:solidFill>
            <a:srgbClr val="F2931F"/>
          </a:solidFill>
          <a:ln/>
        </p:spPr>
      </p:sp>
      <p:pic>
        <p:nvPicPr>
          <p:cNvPr id="18" name="Image 2" descr="preencoded.png">    </p:cNvPr>
          <p:cNvPicPr>
            <a:picLocks noChangeAspect="1"/>
          </p:cNvPicPr>
          <p:nvPr/>
        </p:nvPicPr>
        <p:blipFill>
          <a:blip r:embed="rId3"/>
          <a:stretch>
            <a:fillRect/>
          </a:stretch>
        </p:blipFill>
        <p:spPr>
          <a:xfrm>
            <a:off x="6437376" y="2788920"/>
            <a:ext cx="237744" cy="237744"/>
          </a:xfrm>
          <a:prstGeom prst="rect">
            <a:avLst/>
          </a:prstGeom>
        </p:spPr>
      </p:pic>
      <p:sp>
        <p:nvSpPr>
          <p:cNvPr id="19" name="Text 13"/>
          <p:cNvSpPr/>
          <p:nvPr/>
        </p:nvSpPr>
        <p:spPr>
          <a:xfrm>
            <a:off x="6903720" y="2560320"/>
            <a:ext cx="4480560" cy="685800"/>
          </a:xfrm>
          <a:prstGeom prst="rect">
            <a:avLst/>
          </a:prstGeom>
          <a:noFill/>
          <a:ln/>
        </p:spPr>
        <p:txBody>
          <a:bodyPr wrap="square" lIns="0" tIns="0" rIns="0" bIns="0" rtlCol="0" anchor="ctr"/>
          <a:lstStyle/>
          <a:p>
            <a:pPr indent="0" marL="0">
              <a:buNone/>
            </a:pPr>
            <a:r>
              <a:rPr lang="en-US" sz="1200" b="1" dirty="0">
                <a:solidFill>
                  <a:srgbClr val="262F65"/>
                </a:solidFill>
                <a:latin typeface="Calibri" pitchFamily="34" charset="0"/>
                <a:ea typeface="Calibri" pitchFamily="34" charset="-122"/>
                <a:cs typeface="Calibri" pitchFamily="34" charset="-120"/>
              </a:rPr>
              <a:t>Store &amp; distribute — </a:t>
            </a:r>
            <a:pPr indent="0" marL="0">
              <a:buNone/>
            </a:pPr>
            <a:r>
              <a:rPr lang="en-US" sz="1200" dirty="0">
                <a:solidFill>
                  <a:srgbClr val="5B6472"/>
                </a:solidFill>
                <a:latin typeface="Calibri" pitchFamily="34" charset="0"/>
                <a:ea typeface="Calibri" pitchFamily="34" charset="-122"/>
                <a:cs typeface="Calibri" pitchFamily="34" charset="-120"/>
              </a:rPr>
              <a:t>Separate from data; use a KMS/HSM, never hard-code.</a:t>
            </a:r>
            <a:endParaRPr lang="en-US" sz="1200" dirty="0"/>
          </a:p>
        </p:txBody>
      </p:sp>
      <p:sp>
        <p:nvSpPr>
          <p:cNvPr id="20" name="Shape 14"/>
          <p:cNvSpPr/>
          <p:nvPr/>
        </p:nvSpPr>
        <p:spPr>
          <a:xfrm>
            <a:off x="6172200" y="3383280"/>
            <a:ext cx="5349240" cy="685800"/>
          </a:xfrm>
          <a:prstGeom prst="roundRect">
            <a:avLst>
              <a:gd name="adj" fmla="val 12000"/>
            </a:avLst>
          </a:prstGeom>
          <a:solidFill>
            <a:srgbClr val="F4F6FB"/>
          </a:solidFill>
          <a:ln/>
          <a:effectLst>
            <a:outerShdw sx="100000" sy="100000" kx="0" ky="0" algn="bl" rotWithShape="0" blurRad="88900" dist="38100" dir="5400000">
              <a:srgbClr val="8894AD">
                <a:alpha val="28000"/>
              </a:srgbClr>
            </a:outerShdw>
          </a:effectLst>
        </p:spPr>
      </p:sp>
      <p:sp>
        <p:nvSpPr>
          <p:cNvPr id="21" name="Shape 15"/>
          <p:cNvSpPr/>
          <p:nvPr/>
        </p:nvSpPr>
        <p:spPr>
          <a:xfrm>
            <a:off x="6327648" y="3502152"/>
            <a:ext cx="457200" cy="457200"/>
          </a:xfrm>
          <a:prstGeom prst="ellipse">
            <a:avLst/>
          </a:prstGeom>
          <a:solidFill>
            <a:srgbClr val="293E7B"/>
          </a:solidFill>
          <a:ln/>
        </p:spPr>
      </p:sp>
      <p:pic>
        <p:nvPicPr>
          <p:cNvPr id="22" name="Image 3" descr="preencoded.png">    </p:cNvPr>
          <p:cNvPicPr>
            <a:picLocks noChangeAspect="1"/>
          </p:cNvPicPr>
          <p:nvPr/>
        </p:nvPicPr>
        <p:blipFill>
          <a:blip r:embed="rId4"/>
          <a:stretch>
            <a:fillRect/>
          </a:stretch>
        </p:blipFill>
        <p:spPr>
          <a:xfrm>
            <a:off x="6437376" y="3611880"/>
            <a:ext cx="237744" cy="237744"/>
          </a:xfrm>
          <a:prstGeom prst="rect">
            <a:avLst/>
          </a:prstGeom>
        </p:spPr>
      </p:pic>
      <p:sp>
        <p:nvSpPr>
          <p:cNvPr id="23" name="Text 16"/>
          <p:cNvSpPr/>
          <p:nvPr/>
        </p:nvSpPr>
        <p:spPr>
          <a:xfrm>
            <a:off x="6903720" y="3383280"/>
            <a:ext cx="4480560" cy="685800"/>
          </a:xfrm>
          <a:prstGeom prst="rect">
            <a:avLst/>
          </a:prstGeom>
          <a:noFill/>
          <a:ln/>
        </p:spPr>
        <p:txBody>
          <a:bodyPr wrap="square" lIns="0" tIns="0" rIns="0" bIns="0" rtlCol="0" anchor="ctr"/>
          <a:lstStyle/>
          <a:p>
            <a:pPr indent="0" marL="0">
              <a:buNone/>
            </a:pPr>
            <a:r>
              <a:rPr lang="en-US" sz="1200" b="1" dirty="0">
                <a:solidFill>
                  <a:srgbClr val="262F65"/>
                </a:solidFill>
                <a:latin typeface="Calibri" pitchFamily="34" charset="0"/>
                <a:ea typeface="Calibri" pitchFamily="34" charset="-122"/>
                <a:cs typeface="Calibri" pitchFamily="34" charset="-120"/>
              </a:rPr>
              <a:t>Rotate — </a:t>
            </a:r>
            <a:pPr indent="0" marL="0">
              <a:buNone/>
            </a:pPr>
            <a:r>
              <a:rPr lang="en-US" sz="1200" dirty="0">
                <a:solidFill>
                  <a:srgbClr val="5B6472"/>
                </a:solidFill>
                <a:latin typeface="Calibri" pitchFamily="34" charset="0"/>
                <a:ea typeface="Calibri" pitchFamily="34" charset="-122"/>
                <a:cs typeface="Calibri" pitchFamily="34" charset="-120"/>
              </a:rPr>
              <a:t>Change periodically to limit exposure.</a:t>
            </a:r>
            <a:endParaRPr lang="en-US" sz="1200" dirty="0"/>
          </a:p>
        </p:txBody>
      </p:sp>
      <p:sp>
        <p:nvSpPr>
          <p:cNvPr id="24" name="Shape 17"/>
          <p:cNvSpPr/>
          <p:nvPr/>
        </p:nvSpPr>
        <p:spPr>
          <a:xfrm>
            <a:off x="6172200" y="4206240"/>
            <a:ext cx="5349240" cy="685800"/>
          </a:xfrm>
          <a:prstGeom prst="roundRect">
            <a:avLst>
              <a:gd name="adj" fmla="val 12000"/>
            </a:avLst>
          </a:prstGeom>
          <a:solidFill>
            <a:srgbClr val="F4F6FB"/>
          </a:solidFill>
          <a:ln/>
          <a:effectLst>
            <a:outerShdw sx="100000" sy="100000" kx="0" ky="0" algn="bl" rotWithShape="0" blurRad="88900" dist="38100" dir="5400000">
              <a:srgbClr val="8894AD">
                <a:alpha val="28000"/>
              </a:srgbClr>
            </a:outerShdw>
          </a:effectLst>
        </p:spPr>
      </p:sp>
      <p:sp>
        <p:nvSpPr>
          <p:cNvPr id="25" name="Shape 18"/>
          <p:cNvSpPr/>
          <p:nvPr/>
        </p:nvSpPr>
        <p:spPr>
          <a:xfrm>
            <a:off x="6327648" y="4325112"/>
            <a:ext cx="457200" cy="457200"/>
          </a:xfrm>
          <a:prstGeom prst="ellipse">
            <a:avLst/>
          </a:prstGeom>
          <a:solidFill>
            <a:srgbClr val="E8403A"/>
          </a:solidFill>
          <a:ln/>
        </p:spPr>
      </p:sp>
      <p:pic>
        <p:nvPicPr>
          <p:cNvPr id="26" name="Image 4" descr="preencoded.png">    </p:cNvPr>
          <p:cNvPicPr>
            <a:picLocks noChangeAspect="1"/>
          </p:cNvPicPr>
          <p:nvPr/>
        </p:nvPicPr>
        <p:blipFill>
          <a:blip r:embed="rId5"/>
          <a:stretch>
            <a:fillRect/>
          </a:stretch>
        </p:blipFill>
        <p:spPr>
          <a:xfrm>
            <a:off x="6437376" y="4434840"/>
            <a:ext cx="237744" cy="237744"/>
          </a:xfrm>
          <a:prstGeom prst="rect">
            <a:avLst/>
          </a:prstGeom>
        </p:spPr>
      </p:pic>
      <p:sp>
        <p:nvSpPr>
          <p:cNvPr id="27" name="Text 19"/>
          <p:cNvSpPr/>
          <p:nvPr/>
        </p:nvSpPr>
        <p:spPr>
          <a:xfrm>
            <a:off x="6903720" y="4206240"/>
            <a:ext cx="4480560" cy="685800"/>
          </a:xfrm>
          <a:prstGeom prst="rect">
            <a:avLst/>
          </a:prstGeom>
          <a:noFill/>
          <a:ln/>
        </p:spPr>
        <p:txBody>
          <a:bodyPr wrap="square" lIns="0" tIns="0" rIns="0" bIns="0" rtlCol="0" anchor="ctr"/>
          <a:lstStyle/>
          <a:p>
            <a:pPr indent="0" marL="0">
              <a:buNone/>
            </a:pPr>
            <a:r>
              <a:rPr lang="en-US" sz="1200" b="1" dirty="0">
                <a:solidFill>
                  <a:srgbClr val="262F65"/>
                </a:solidFill>
                <a:latin typeface="Calibri" pitchFamily="34" charset="0"/>
                <a:ea typeface="Calibri" pitchFamily="34" charset="-122"/>
                <a:cs typeface="Calibri" pitchFamily="34" charset="-120"/>
              </a:rPr>
              <a:t>Revoke &amp; destroy — </a:t>
            </a:r>
            <a:pPr indent="0" marL="0">
              <a:buNone/>
            </a:pPr>
            <a:r>
              <a:rPr lang="en-US" sz="1200" dirty="0">
                <a:solidFill>
                  <a:srgbClr val="5B6472"/>
                </a:solidFill>
                <a:latin typeface="Calibri" pitchFamily="34" charset="0"/>
                <a:ea typeface="Calibri" pitchFamily="34" charset="-122"/>
                <a:cs typeface="Calibri" pitchFamily="34" charset="-120"/>
              </a:rPr>
              <a:t>Retire compromised or expired keys.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PROVABLE DESTRUCTION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Assuring data deletion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640080" y="1737360"/>
            <a:ext cx="5349240" cy="3657600"/>
          </a:xfrm>
          <a:prstGeom prst="roundRect">
            <a:avLst>
              <a:gd name="adj" fmla="val 2250"/>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Secure deletion</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Overwrite storage so the original data is gone.</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Reliable on media you control — </a:t>
            </a:r>
            <a:pPr indent="0" marL="0">
              <a:buNone/>
            </a:pP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Hard on shared cloud storage — </a:t>
            </a:r>
            <a:pPr indent="0" marL="0">
              <a:buNone/>
            </a:pPr>
            <a:r>
              <a:rPr lang="en-US" sz="1250" dirty="0">
                <a:solidFill>
                  <a:srgbClr val="5B6472"/>
                </a:solidFill>
                <a:latin typeface="Calibri" pitchFamily="34" charset="0"/>
                <a:ea typeface="Calibri" pitchFamily="34" charset="-122"/>
                <a:cs typeface="Calibri" pitchFamily="34" charset="-120"/>
              </a:rPr>
              <a:t>you can't address blocks</a:t>
            </a: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Verify the wipe — </a:t>
            </a:r>
            <a:pPr indent="0" marL="0">
              <a:buNone/>
            </a:pPr>
            <a:endParaRPr lang="en-US" sz="1250" dirty="0"/>
          </a:p>
        </p:txBody>
      </p:sp>
      <p:sp>
        <p:nvSpPr>
          <p:cNvPr id="18" name="Shape 14"/>
          <p:cNvSpPr/>
          <p:nvPr/>
        </p:nvSpPr>
        <p:spPr>
          <a:xfrm>
            <a:off x="6355080" y="1737360"/>
            <a:ext cx="5349240" cy="3657600"/>
          </a:xfrm>
          <a:prstGeom prst="roundRect">
            <a:avLst>
              <a:gd name="adj" fmla="val 2250"/>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Cryptographic erasure</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Destroy the key — the ciphertext becomes unreadable.</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Instant &amp; verifiable — </a:t>
            </a:r>
            <a:pPr indent="0" marL="0">
              <a:buNone/>
            </a:pP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Works on distributed storage — </a:t>
            </a:r>
            <a:pPr indent="0" marL="0">
              <a:buNone/>
            </a:pP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Needs per-object / per-tenant keys — </a:t>
            </a:r>
            <a:pPr indent="0" marL="0">
              <a:buNone/>
            </a:pPr>
            <a:endParaRPr lang="en-US" sz="1250" dirty="0"/>
          </a:p>
        </p:txBody>
      </p:sp>
      <p:sp>
        <p:nvSpPr>
          <p:cNvPr id="29" name="Text 24"/>
          <p:cNvSpPr/>
          <p:nvPr/>
        </p:nvSpPr>
        <p:spPr>
          <a:xfrm>
            <a:off x="640080" y="553212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Compliance angle:  </a:t>
            </a:r>
            <a:pPr algn="ctr" indent="0" marL="0">
              <a:buNone/>
            </a:pPr>
            <a:r>
              <a:rPr lang="en-US" sz="1350" i="1" dirty="0">
                <a:solidFill>
                  <a:srgbClr val="262F65"/>
                </a:solidFill>
                <a:latin typeface="Calibri" pitchFamily="34" charset="0"/>
                <a:ea typeface="Calibri" pitchFamily="34" charset="-122"/>
                <a:cs typeface="Calibri" pitchFamily="34" charset="-120"/>
              </a:rPr>
              <a:t>the 'right to be forgotten' makes provable deletion a legal obligation (Lesson 10).</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KEEP IT RIGHT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Retention &amp; archiving policies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Retention</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How long to keep data — set by legal + business needs. Too long OR too short both carry risk.</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Archiving</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Move inactive data to low-cost storage — available for compliance, still encrypted.</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Deletion procedures</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Auto-delete after the retention period; secure wipe; verify.</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400" i="1" dirty="0">
                <a:solidFill>
                  <a:srgbClr val="262F65"/>
                </a:solidFill>
                <a:latin typeface="Calibri" pitchFamily="34" charset="0"/>
                <a:ea typeface="Calibri" pitchFamily="34" charset="-122"/>
                <a:cs typeface="Calibri" pitchFamily="34" charset="-120"/>
              </a:rPr>
              <a:t>Good governance keeps data no longer — and no shorter — than required.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05</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5</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Strategy, Case Study &amp; Practice</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BRINGING IT TOGETHER</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 layered data-protection strategy</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Strategy — four layers</a:t>
            </a:r>
            <a:endParaRPr lang="en-US" sz="1550" dirty="0"/>
          </a:p>
        </p:txBody>
      </p:sp>
      <p:sp>
        <p:nvSpPr>
          <p:cNvPr id="11" name="Shape 7"/>
          <p:cNvSpPr/>
          <p:nvPr/>
        </p:nvSpPr>
        <p:spPr>
          <a:xfrm>
            <a:off x="1005840" y="3127248"/>
            <a:ext cx="128016" cy="128016"/>
          </a:xfrm>
          <a:prstGeom prst="ellipse">
            <a:avLst/>
          </a:prstGeom>
          <a:solidFill>
            <a:srgbClr val="262F65"/>
          </a:solidFill>
          <a:ln/>
        </p:spPr>
      </p:sp>
      <p:sp>
        <p:nvSpPr>
          <p:cNvPr id="12" name="Text 8"/>
          <p:cNvSpPr/>
          <p:nvPr/>
        </p:nvSpPr>
        <p:spPr>
          <a:xfrm>
            <a:off x="1280160" y="306324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Encryption — </a:t>
            </a:r>
            <a:pPr indent="0" marL="0">
              <a:buNone/>
            </a:pPr>
            <a:r>
              <a:rPr lang="en-US" sz="1250" dirty="0">
                <a:solidFill>
                  <a:srgbClr val="5B6472"/>
                </a:solidFill>
                <a:latin typeface="Calibri" pitchFamily="34" charset="0"/>
                <a:ea typeface="Calibri" pitchFamily="34" charset="-122"/>
                <a:cs typeface="Calibri" pitchFamily="34" charset="-120"/>
              </a:rPr>
              <a:t>confidentiality + integrity</a:t>
            </a:r>
            <a:endParaRPr lang="en-US" sz="1250" dirty="0"/>
          </a:p>
        </p:txBody>
      </p:sp>
      <p:sp>
        <p:nvSpPr>
          <p:cNvPr id="13" name="Shape 9"/>
          <p:cNvSpPr/>
          <p:nvPr/>
        </p:nvSpPr>
        <p:spPr>
          <a:xfrm>
            <a:off x="1005840" y="3694176"/>
            <a:ext cx="128016" cy="128016"/>
          </a:xfrm>
          <a:prstGeom prst="ellipse">
            <a:avLst/>
          </a:prstGeom>
          <a:solidFill>
            <a:srgbClr val="262F65"/>
          </a:solidFill>
          <a:ln/>
        </p:spPr>
      </p:sp>
      <p:sp>
        <p:nvSpPr>
          <p:cNvPr id="14" name="Text 10"/>
          <p:cNvSpPr/>
          <p:nvPr/>
        </p:nvSpPr>
        <p:spPr>
          <a:xfrm>
            <a:off x="1280160" y="363016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Access control — </a:t>
            </a:r>
            <a:pPr indent="0" marL="0">
              <a:buNone/>
            </a:pPr>
            <a:r>
              <a:rPr lang="en-US" sz="1250" dirty="0">
                <a:solidFill>
                  <a:srgbClr val="5B6472"/>
                </a:solidFill>
                <a:latin typeface="Calibri" pitchFamily="34" charset="0"/>
                <a:ea typeface="Calibri" pitchFamily="34" charset="-122"/>
                <a:cs typeface="Calibri" pitchFamily="34" charset="-120"/>
              </a:rPr>
              <a:t>only authorised identities</a:t>
            </a:r>
            <a:endParaRPr lang="en-US" sz="1250" dirty="0"/>
          </a:p>
        </p:txBody>
      </p:sp>
      <p:sp>
        <p:nvSpPr>
          <p:cNvPr id="15" name="Shape 11"/>
          <p:cNvSpPr/>
          <p:nvPr/>
        </p:nvSpPr>
        <p:spPr>
          <a:xfrm>
            <a:off x="1005840" y="4261104"/>
            <a:ext cx="128016" cy="128016"/>
          </a:xfrm>
          <a:prstGeom prst="ellipse">
            <a:avLst/>
          </a:prstGeom>
          <a:solidFill>
            <a:srgbClr val="262F65"/>
          </a:solidFill>
          <a:ln/>
        </p:spPr>
      </p:sp>
      <p:sp>
        <p:nvSpPr>
          <p:cNvPr id="16" name="Text 12"/>
          <p:cNvSpPr/>
          <p:nvPr/>
        </p:nvSpPr>
        <p:spPr>
          <a:xfrm>
            <a:off x="1280160" y="419709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Monitoring — </a:t>
            </a:r>
            <a:pPr indent="0" marL="0">
              <a:buNone/>
            </a:pPr>
            <a:r>
              <a:rPr lang="en-US" sz="1250" dirty="0">
                <a:solidFill>
                  <a:srgbClr val="5B6472"/>
                </a:solidFill>
                <a:latin typeface="Calibri" pitchFamily="34" charset="0"/>
                <a:ea typeface="Calibri" pitchFamily="34" charset="-122"/>
                <a:cs typeface="Calibri" pitchFamily="34" charset="-120"/>
              </a:rPr>
              <a:t>detect suspicious access</a:t>
            </a:r>
            <a:endParaRPr lang="en-US" sz="1250" dirty="0"/>
          </a:p>
        </p:txBody>
      </p:sp>
      <p:sp>
        <p:nvSpPr>
          <p:cNvPr id="17" name="Shape 13"/>
          <p:cNvSpPr/>
          <p:nvPr/>
        </p:nvSpPr>
        <p:spPr>
          <a:xfrm>
            <a:off x="1005840" y="4828032"/>
            <a:ext cx="128016" cy="128016"/>
          </a:xfrm>
          <a:prstGeom prst="ellipse">
            <a:avLst/>
          </a:prstGeom>
          <a:solidFill>
            <a:srgbClr val="262F65"/>
          </a:solidFill>
          <a:ln/>
        </p:spPr>
      </p:sp>
      <p:sp>
        <p:nvSpPr>
          <p:cNvPr id="18" name="Text 14"/>
          <p:cNvSpPr/>
          <p:nvPr/>
        </p:nvSpPr>
        <p:spPr>
          <a:xfrm>
            <a:off x="1280160" y="4764024"/>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Backup &amp; recovery — </a:t>
            </a:r>
            <a:pPr indent="0" marL="0">
              <a:buNone/>
            </a:pPr>
            <a:r>
              <a:rPr lang="en-US" sz="1250" dirty="0">
                <a:solidFill>
                  <a:srgbClr val="5B6472"/>
                </a:solidFill>
                <a:latin typeface="Calibri" pitchFamily="34" charset="0"/>
                <a:ea typeface="Calibri" pitchFamily="34" charset="-122"/>
                <a:cs typeface="Calibri" pitchFamily="34" charset="-120"/>
              </a:rPr>
              <a:t>preserve availability</a:t>
            </a:r>
            <a:endParaRPr lang="en-US" sz="1250" dirty="0"/>
          </a:p>
        </p:txBody>
      </p:sp>
      <p:sp>
        <p:nvSpPr>
          <p:cNvPr id="19" name="Shape 15"/>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20" name="Shape 16"/>
          <p:cNvSpPr/>
          <p:nvPr/>
        </p:nvSpPr>
        <p:spPr>
          <a:xfrm>
            <a:off x="6675120" y="2057400"/>
            <a:ext cx="868680" cy="868680"/>
          </a:xfrm>
          <a:prstGeom prst="ellipse">
            <a:avLst/>
          </a:prstGeom>
          <a:solidFill>
            <a:srgbClr val="F2931F"/>
          </a:solidFill>
          <a:ln/>
        </p:spPr>
      </p:sp>
      <p:pic>
        <p:nvPicPr>
          <p:cNvPr id="21"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2" name="Text 17"/>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Multi-tenant data management</a:t>
            </a:r>
            <a:endParaRPr lang="en-US" sz="1550" dirty="0"/>
          </a:p>
        </p:txBody>
      </p:sp>
      <p:sp>
        <p:nvSpPr>
          <p:cNvPr id="23" name="Text 18"/>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Shared cloud demands per-tenant separation.</a:t>
            </a:r>
            <a:endParaRPr lang="en-US" sz="1250" dirty="0"/>
          </a:p>
        </p:txBody>
      </p:sp>
      <p:sp>
        <p:nvSpPr>
          <p:cNvPr id="24" name="Shape 19"/>
          <p:cNvSpPr/>
          <p:nvPr/>
        </p:nvSpPr>
        <p:spPr>
          <a:xfrm>
            <a:off x="6720840" y="3767328"/>
            <a:ext cx="128016" cy="128016"/>
          </a:xfrm>
          <a:prstGeom prst="ellipse">
            <a:avLst/>
          </a:prstGeom>
          <a:solidFill>
            <a:srgbClr val="F2931F"/>
          </a:solidFill>
          <a:ln/>
        </p:spPr>
      </p:sp>
      <p:sp>
        <p:nvSpPr>
          <p:cNvPr id="25" name="Text 20"/>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Isolate each tenant's data — </a:t>
            </a:r>
            <a:pPr indent="0" marL="0">
              <a:buNone/>
            </a:pPr>
            <a:r>
              <a:rPr lang="en-US" sz="1250" dirty="0">
                <a:solidFill>
                  <a:srgbClr val="5B6472"/>
                </a:solidFill>
                <a:latin typeface="Calibri" pitchFamily="34" charset="0"/>
                <a:ea typeface="Calibri" pitchFamily="34" charset="-122"/>
                <a:cs typeface="Calibri" pitchFamily="34" charset="-120"/>
              </a:rPr>
              <a:t>storage isolation + per-tenant keys</a:t>
            </a:r>
            <a:endParaRPr lang="en-US" sz="1250" dirty="0"/>
          </a:p>
        </p:txBody>
      </p:sp>
      <p:sp>
        <p:nvSpPr>
          <p:cNvPr id="26" name="Shape 21"/>
          <p:cNvSpPr/>
          <p:nvPr/>
        </p:nvSpPr>
        <p:spPr>
          <a:xfrm>
            <a:off x="6720840" y="4334256"/>
            <a:ext cx="128016" cy="128016"/>
          </a:xfrm>
          <a:prstGeom prst="ellipse">
            <a:avLst/>
          </a:prstGeom>
          <a:solidFill>
            <a:srgbClr val="F2931F"/>
          </a:solidFill>
          <a:ln/>
        </p:spPr>
      </p:sp>
      <p:sp>
        <p:nvSpPr>
          <p:cNvPr id="27" name="Text 22"/>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Ensure privacy &amp; compliance — </a:t>
            </a:r>
            <a:pPr indent="0" marL="0">
              <a:buNone/>
            </a:pPr>
            <a:endParaRPr lang="en-US" sz="1250" dirty="0"/>
          </a:p>
        </p:txBody>
      </p:sp>
      <p:sp>
        <p:nvSpPr>
          <p:cNvPr id="28" name="Shape 23"/>
          <p:cNvSpPr/>
          <p:nvPr/>
        </p:nvSpPr>
        <p:spPr>
          <a:xfrm>
            <a:off x="6720840" y="4901184"/>
            <a:ext cx="128016" cy="128016"/>
          </a:xfrm>
          <a:prstGeom prst="ellipse">
            <a:avLst/>
          </a:prstGeom>
          <a:solidFill>
            <a:srgbClr val="F2931F"/>
          </a:solidFill>
          <a:ln/>
        </p:spPr>
      </p:sp>
      <p:sp>
        <p:nvSpPr>
          <p:cNvPr id="29" name="Text 24"/>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Defense in depth for data — </a:t>
            </a:r>
            <a:pPr indent="0" marL="0">
              <a:buNone/>
            </a:pPr>
            <a:r>
              <a:rPr lang="en-US" sz="1250" dirty="0">
                <a:solidFill>
                  <a:srgbClr val="5B6472"/>
                </a:solidFill>
                <a:latin typeface="Calibri" pitchFamily="34" charset="0"/>
                <a:ea typeface="Calibri" pitchFamily="34" charset="-122"/>
                <a:cs typeface="Calibri" pitchFamily="34" charset="-120"/>
              </a:rPr>
              <a:t>controls reinforce each other</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OPERATIONAL SUPPORTS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Backup, recovery &amp; access monitoring</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Backup &amp; recovery</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Survive loss, corruption and ransomware.</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Regular backups — </a:t>
            </a:r>
            <a:pPr indent="0" marL="0">
              <a:buNone/>
            </a:pPr>
            <a:r>
              <a:rPr lang="en-US" sz="1250" dirty="0">
                <a:solidFill>
                  <a:srgbClr val="5B6472"/>
                </a:solidFill>
                <a:latin typeface="Calibri" pitchFamily="34" charset="0"/>
                <a:ea typeface="Calibri" pitchFamily="34" charset="-122"/>
                <a:cs typeface="Calibri" pitchFamily="34" charset="-120"/>
              </a:rPr>
              <a:t>encrypted, offsite/multi-region</a:t>
            </a: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Disaster recovery plan — </a:t>
            </a:r>
            <a:pPr indent="0" marL="0">
              <a:buNone/>
            </a:pPr>
            <a:r>
              <a:rPr lang="en-US" sz="1250" dirty="0">
                <a:solidFill>
                  <a:srgbClr val="5B6472"/>
                </a:solidFill>
                <a:latin typeface="Calibri" pitchFamily="34" charset="0"/>
                <a:ea typeface="Calibri" pitchFamily="34" charset="-122"/>
                <a:cs typeface="Calibri" pitchFamily="34" charset="-120"/>
              </a:rPr>
              <a:t>tested restores only</a:t>
            </a: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Protects availability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Access monitoring</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See who touches data, and catch misuse.</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Track access — </a:t>
            </a:r>
            <a:pPr indent="0" marL="0">
              <a:buNone/>
            </a:pPr>
            <a:r>
              <a:rPr lang="en-US" sz="1250" dirty="0">
                <a:solidFill>
                  <a:srgbClr val="5B6472"/>
                </a:solidFill>
                <a:latin typeface="Calibri" pitchFamily="34" charset="0"/>
                <a:ea typeface="Calibri" pitchFamily="34" charset="-122"/>
                <a:cs typeface="Calibri" pitchFamily="34" charset="-120"/>
              </a:rPr>
              <a:t>who, what, when</a:t>
            </a: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Detect anomalies — </a:t>
            </a:r>
            <a:pPr indent="0" marL="0">
              <a:buNone/>
            </a:pPr>
            <a:r>
              <a:rPr lang="en-US" sz="1250" dirty="0">
                <a:solidFill>
                  <a:srgbClr val="5B6472"/>
                </a:solidFill>
                <a:latin typeface="Calibri" pitchFamily="34" charset="0"/>
                <a:ea typeface="Calibri" pitchFamily="34" charset="-122"/>
                <a:cs typeface="Calibri" pitchFamily="34" charset="-120"/>
              </a:rPr>
              <a:t>bulk downloads, new locations</a:t>
            </a: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Feeds the audit trail — </a:t>
            </a:r>
            <a:pPr indent="0" marL="0">
              <a:buNone/>
            </a:pPr>
            <a:r>
              <a:rPr lang="en-US" sz="1250" dirty="0">
                <a:solidFill>
                  <a:srgbClr val="5B6472"/>
                </a:solidFill>
                <a:latin typeface="Calibri" pitchFamily="34" charset="0"/>
                <a:ea typeface="Calibri" pitchFamily="34" charset="-122"/>
                <a:cs typeface="Calibri" pitchFamily="34" charset="-120"/>
              </a:rPr>
              <a:t>for compliance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APPLY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Case study — the unencrypted breach</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640080" y="1691640"/>
            <a:ext cx="10881360" cy="1600200"/>
          </a:xfrm>
          <a:prstGeom prst="roundRect">
            <a:avLst>
              <a:gd name="adj" fmla="val 5143"/>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11680"/>
            <a:ext cx="960120" cy="960120"/>
          </a:xfrm>
          <a:prstGeom prst="ellipse">
            <a:avLst/>
          </a:prstGeom>
          <a:solidFill>
            <a:srgbClr val="E8403A"/>
          </a:solidFill>
          <a:ln/>
        </p:spPr>
      </p:sp>
      <p:pic>
        <p:nvPicPr>
          <p:cNvPr id="9" name="Image 0" descr="preencoded.png">    </p:cNvPr>
          <p:cNvPicPr>
            <a:picLocks noChangeAspect="1"/>
          </p:cNvPicPr>
          <p:nvPr/>
        </p:nvPicPr>
        <p:blipFill>
          <a:blip r:embed="rId1"/>
          <a:stretch>
            <a:fillRect/>
          </a:stretch>
        </p:blipFill>
        <p:spPr>
          <a:xfrm>
            <a:off x="1190549" y="2242109"/>
            <a:ext cx="499262" cy="499262"/>
          </a:xfrm>
          <a:prstGeom prst="rect">
            <a:avLst/>
          </a:prstGeom>
        </p:spPr>
      </p:pic>
      <p:sp>
        <p:nvSpPr>
          <p:cNvPr id="10" name="Text 6"/>
          <p:cNvSpPr/>
          <p:nvPr/>
        </p:nvSpPr>
        <p:spPr>
          <a:xfrm>
            <a:off x="2194560" y="1874520"/>
            <a:ext cx="905256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An organisation stored sensitive customer data in the cloud without encrypting it. An attacker reached the storage and exfiltrated readable data — a full breach.</a:t>
            </a:r>
            <a:endParaRPr lang="en-US" sz="1500" dirty="0"/>
          </a:p>
        </p:txBody>
      </p:sp>
      <p:sp>
        <p:nvSpPr>
          <p:cNvPr id="11" name="Shape 7"/>
          <p:cNvSpPr/>
          <p:nvPr/>
        </p:nvSpPr>
        <p:spPr>
          <a:xfrm>
            <a:off x="640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2" name="Text 8"/>
          <p:cNvSpPr/>
          <p:nvPr/>
        </p:nvSpPr>
        <p:spPr>
          <a:xfrm>
            <a:off x="914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What went wrong?</a:t>
            </a:r>
            <a:endParaRPr lang="en-US" sz="1600" dirty="0"/>
          </a:p>
        </p:txBody>
      </p:sp>
      <p:sp>
        <p:nvSpPr>
          <p:cNvPr id="13" name="Text 9"/>
          <p:cNvSpPr/>
          <p:nvPr/>
        </p:nvSpPr>
        <p:spPr>
          <a:xfrm>
            <a:off x="914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No encryption made exposed data instantly usable — compounded by weak access control and no monitoring.</a:t>
            </a:r>
            <a:endParaRPr lang="en-US" sz="1300" dirty="0"/>
          </a:p>
        </p:txBody>
      </p:sp>
      <p:sp>
        <p:nvSpPr>
          <p:cNvPr id="14" name="Shape 10"/>
          <p:cNvSpPr/>
          <p:nvPr/>
        </p:nvSpPr>
        <p:spPr>
          <a:xfrm>
            <a:off x="6355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5" name="Text 11"/>
          <p:cNvSpPr/>
          <p:nvPr/>
        </p:nvSpPr>
        <p:spPr>
          <a:xfrm>
            <a:off x="6629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How to prevent it?</a:t>
            </a:r>
            <a:endParaRPr lang="en-US" sz="1600" dirty="0"/>
          </a:p>
        </p:txBody>
      </p:sp>
      <p:sp>
        <p:nvSpPr>
          <p:cNvPr id="16" name="Text 12"/>
          <p:cNvSpPr/>
          <p:nvPr/>
        </p:nvSpPr>
        <p:spPr>
          <a:xfrm>
            <a:off x="6629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Encrypt at rest, in transit &amp; backups · manage keys well · least-privilege access · monitor access.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BASELINE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Best practices — protecting data</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64008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2011680"/>
            <a:ext cx="685800" cy="6858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60704" y="2176272"/>
            <a:ext cx="356616" cy="356616"/>
          </a:xfrm>
          <a:prstGeom prst="rect">
            <a:avLst/>
          </a:prstGeom>
        </p:spPr>
      </p:pic>
      <p:sp>
        <p:nvSpPr>
          <p:cNvPr id="10" name="Text 6"/>
          <p:cNvSpPr/>
          <p:nvPr/>
        </p:nvSpPr>
        <p:spPr>
          <a:xfrm>
            <a:off x="178308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Encrypt sensitive data</a:t>
            </a:r>
            <a:endParaRPr lang="en-US" sz="1450" dirty="0"/>
          </a:p>
        </p:txBody>
      </p:sp>
      <p:sp>
        <p:nvSpPr>
          <p:cNvPr id="11" name="Text 7"/>
          <p:cNvSpPr/>
          <p:nvPr/>
        </p:nvSpPr>
        <p:spPr>
          <a:xfrm>
            <a:off x="178308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In every state, backups included.</a:t>
            </a:r>
            <a:endParaRPr lang="en-US" sz="1200" dirty="0"/>
          </a:p>
        </p:txBody>
      </p:sp>
      <p:sp>
        <p:nvSpPr>
          <p:cNvPr id="12" name="Shape 8"/>
          <p:cNvSpPr/>
          <p:nvPr/>
        </p:nvSpPr>
        <p:spPr>
          <a:xfrm>
            <a:off x="621792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473952" y="2011680"/>
            <a:ext cx="685800" cy="6858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6638544" y="2176272"/>
            <a:ext cx="356616" cy="356616"/>
          </a:xfrm>
          <a:prstGeom prst="rect">
            <a:avLst/>
          </a:prstGeom>
        </p:spPr>
      </p:pic>
      <p:sp>
        <p:nvSpPr>
          <p:cNvPr id="15" name="Text 10"/>
          <p:cNvSpPr/>
          <p:nvPr/>
        </p:nvSpPr>
        <p:spPr>
          <a:xfrm>
            <a:off x="736092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Manage keys rigorously</a:t>
            </a:r>
            <a:endParaRPr lang="en-US" sz="1450" dirty="0"/>
          </a:p>
        </p:txBody>
      </p:sp>
      <p:sp>
        <p:nvSpPr>
          <p:cNvPr id="16" name="Text 11"/>
          <p:cNvSpPr/>
          <p:nvPr/>
        </p:nvSpPr>
        <p:spPr>
          <a:xfrm>
            <a:off x="736092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Separate, rotated, in a KMS/HSM.</a:t>
            </a:r>
            <a:endParaRPr lang="en-US" sz="1200" dirty="0"/>
          </a:p>
        </p:txBody>
      </p:sp>
      <p:sp>
        <p:nvSpPr>
          <p:cNvPr id="17" name="Shape 12"/>
          <p:cNvSpPr/>
          <p:nvPr/>
        </p:nvSpPr>
        <p:spPr>
          <a:xfrm>
            <a:off x="64008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896112" y="3410712"/>
            <a:ext cx="685800" cy="6858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1060704" y="3575304"/>
            <a:ext cx="356616" cy="356616"/>
          </a:xfrm>
          <a:prstGeom prst="rect">
            <a:avLst/>
          </a:prstGeom>
        </p:spPr>
      </p:pic>
      <p:sp>
        <p:nvSpPr>
          <p:cNvPr id="20" name="Text 14"/>
          <p:cNvSpPr/>
          <p:nvPr/>
        </p:nvSpPr>
        <p:spPr>
          <a:xfrm>
            <a:off x="178308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Apply least privilege</a:t>
            </a:r>
            <a:endParaRPr lang="en-US" sz="1450" dirty="0"/>
          </a:p>
        </p:txBody>
      </p:sp>
      <p:sp>
        <p:nvSpPr>
          <p:cNvPr id="21" name="Text 15"/>
          <p:cNvSpPr/>
          <p:nvPr/>
        </p:nvSpPr>
        <p:spPr>
          <a:xfrm>
            <a:off x="178308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Few identities reach the data.</a:t>
            </a:r>
            <a:endParaRPr lang="en-US" sz="1200" dirty="0"/>
          </a:p>
        </p:txBody>
      </p:sp>
      <p:sp>
        <p:nvSpPr>
          <p:cNvPr id="22" name="Shape 16"/>
          <p:cNvSpPr/>
          <p:nvPr/>
        </p:nvSpPr>
        <p:spPr>
          <a:xfrm>
            <a:off x="621792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473952" y="3410712"/>
            <a:ext cx="685800" cy="68580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6638544" y="3575304"/>
            <a:ext cx="356616" cy="356616"/>
          </a:xfrm>
          <a:prstGeom prst="rect">
            <a:avLst/>
          </a:prstGeom>
        </p:spPr>
      </p:pic>
      <p:sp>
        <p:nvSpPr>
          <p:cNvPr id="25" name="Text 18"/>
          <p:cNvSpPr/>
          <p:nvPr/>
        </p:nvSpPr>
        <p:spPr>
          <a:xfrm>
            <a:off x="736092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Monitor access</a:t>
            </a:r>
            <a:endParaRPr lang="en-US" sz="1450" dirty="0"/>
          </a:p>
        </p:txBody>
      </p:sp>
      <p:sp>
        <p:nvSpPr>
          <p:cNvPr id="26" name="Text 19"/>
          <p:cNvSpPr/>
          <p:nvPr/>
        </p:nvSpPr>
        <p:spPr>
          <a:xfrm>
            <a:off x="736092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Detect misuse early.</a:t>
            </a:r>
            <a:endParaRPr lang="en-US" sz="1200" dirty="0"/>
          </a:p>
        </p:txBody>
      </p:sp>
      <p:sp>
        <p:nvSpPr>
          <p:cNvPr id="27" name="Shape 20"/>
          <p:cNvSpPr/>
          <p:nvPr/>
        </p:nvSpPr>
        <p:spPr>
          <a:xfrm>
            <a:off x="64008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896112" y="4809744"/>
            <a:ext cx="685800" cy="685800"/>
          </a:xfrm>
          <a:prstGeom prst="ellipse">
            <a:avLst/>
          </a:prstGeom>
          <a:solidFill>
            <a:srgbClr val="F2931F"/>
          </a:solidFill>
          <a:ln/>
        </p:spPr>
      </p:sp>
      <p:pic>
        <p:nvPicPr>
          <p:cNvPr id="29" name="Image 4" descr="preencoded.png">    </p:cNvPr>
          <p:cNvPicPr>
            <a:picLocks noChangeAspect="1"/>
          </p:cNvPicPr>
          <p:nvPr/>
        </p:nvPicPr>
        <p:blipFill>
          <a:blip r:embed="rId5"/>
          <a:stretch>
            <a:fillRect/>
          </a:stretch>
        </p:blipFill>
        <p:spPr>
          <a:xfrm>
            <a:off x="1060704" y="4974336"/>
            <a:ext cx="356616" cy="356616"/>
          </a:xfrm>
          <a:prstGeom prst="rect">
            <a:avLst/>
          </a:prstGeom>
        </p:spPr>
      </p:pic>
      <p:sp>
        <p:nvSpPr>
          <p:cNvPr id="30" name="Text 22"/>
          <p:cNvSpPr/>
          <p:nvPr/>
        </p:nvSpPr>
        <p:spPr>
          <a:xfrm>
            <a:off x="178308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Follow retention &amp; deletion</a:t>
            </a:r>
            <a:endParaRPr lang="en-US" sz="1450" dirty="0"/>
          </a:p>
        </p:txBody>
      </p:sp>
      <p:sp>
        <p:nvSpPr>
          <p:cNvPr id="31" name="Text 23"/>
          <p:cNvSpPr/>
          <p:nvPr/>
        </p:nvSpPr>
        <p:spPr>
          <a:xfrm>
            <a:off x="178308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Keep only as long as needed.</a:t>
            </a:r>
            <a:endParaRPr lang="en-US" sz="1200" dirty="0"/>
          </a:p>
        </p:txBody>
      </p:sp>
      <p:sp>
        <p:nvSpPr>
          <p:cNvPr id="32" name="Shape 24"/>
          <p:cNvSpPr/>
          <p:nvPr/>
        </p:nvSpPr>
        <p:spPr>
          <a:xfrm>
            <a:off x="621792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6473952" y="4809744"/>
            <a:ext cx="685800" cy="685800"/>
          </a:xfrm>
          <a:prstGeom prst="ellipse">
            <a:avLst/>
          </a:prstGeom>
          <a:solidFill>
            <a:srgbClr val="293E7B"/>
          </a:solidFill>
          <a:ln/>
        </p:spPr>
      </p:sp>
      <p:pic>
        <p:nvPicPr>
          <p:cNvPr id="34" name="Image 5" descr="preencoded.png">    </p:cNvPr>
          <p:cNvPicPr>
            <a:picLocks noChangeAspect="1"/>
          </p:cNvPicPr>
          <p:nvPr/>
        </p:nvPicPr>
        <p:blipFill>
          <a:blip r:embed="rId6"/>
          <a:stretch>
            <a:fillRect/>
          </a:stretch>
        </p:blipFill>
        <p:spPr>
          <a:xfrm>
            <a:off x="6638544" y="4974336"/>
            <a:ext cx="356616" cy="356616"/>
          </a:xfrm>
          <a:prstGeom prst="rect">
            <a:avLst/>
          </a:prstGeom>
        </p:spPr>
      </p:pic>
      <p:sp>
        <p:nvSpPr>
          <p:cNvPr id="35" name="Text 26"/>
          <p:cNvSpPr/>
          <p:nvPr/>
        </p:nvSpPr>
        <p:spPr>
          <a:xfrm>
            <a:off x="736092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Classify data first</a:t>
            </a:r>
            <a:endParaRPr lang="en-US" sz="1450" dirty="0"/>
          </a:p>
        </p:txBody>
      </p:sp>
      <p:sp>
        <p:nvSpPr>
          <p:cNvPr id="36" name="Text 27"/>
          <p:cNvSpPr/>
          <p:nvPr/>
        </p:nvSpPr>
        <p:spPr>
          <a:xfrm>
            <a:off x="736092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Protect the sensitive data most.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Key takeaways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19</a:t>
            </a:r>
            <a:endParaRPr lang="en-US" sz="900" dirty="0"/>
          </a:p>
        </p:txBody>
      </p:sp>
      <p:sp>
        <p:nvSpPr>
          <p:cNvPr id="7" name="Shape 4"/>
          <p:cNvSpPr/>
          <p:nvPr/>
        </p:nvSpPr>
        <p:spPr>
          <a:xfrm>
            <a:off x="640080" y="1783080"/>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956816"/>
            <a:ext cx="548640" cy="5486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00354" y="2088490"/>
            <a:ext cx="285293" cy="285293"/>
          </a:xfrm>
          <a:prstGeom prst="rect">
            <a:avLst/>
          </a:prstGeom>
        </p:spPr>
      </p:pic>
      <p:sp>
        <p:nvSpPr>
          <p:cNvPr id="10" name="Text 6"/>
          <p:cNvSpPr/>
          <p:nvPr/>
        </p:nvSpPr>
        <p:spPr>
          <a:xfrm>
            <a:off x="1600200" y="1856232"/>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1   </a:t>
            </a:r>
            <a:pPr indent="0" marL="0">
              <a:buNone/>
            </a:pPr>
            <a:r>
              <a:rPr lang="en-US" sz="1350" dirty="0">
                <a:solidFill>
                  <a:srgbClr val="23283A"/>
                </a:solidFill>
                <a:latin typeface="Calibri" pitchFamily="34" charset="0"/>
                <a:ea typeface="Calibri" pitchFamily="34" charset="-122"/>
                <a:cs typeface="Calibri" pitchFamily="34" charset="-120"/>
              </a:rPr>
              <a:t>Data protection spans the whole lifecycle — create, store, use, share, archive, destroy — aiming at CIA.</a:t>
            </a:r>
            <a:endParaRPr lang="en-US" sz="1350" dirty="0"/>
          </a:p>
        </p:txBody>
      </p:sp>
      <p:sp>
        <p:nvSpPr>
          <p:cNvPr id="11" name="Shape 7"/>
          <p:cNvSpPr/>
          <p:nvPr/>
        </p:nvSpPr>
        <p:spPr>
          <a:xfrm>
            <a:off x="640080" y="2807208"/>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980944"/>
            <a:ext cx="548640" cy="548640"/>
          </a:xfrm>
          <a:prstGeom prst="ellipse">
            <a:avLst/>
          </a:prstGeom>
          <a:solidFill>
            <a:srgbClr val="293E7B"/>
          </a:solidFill>
          <a:ln/>
        </p:spPr>
      </p:sp>
      <p:pic>
        <p:nvPicPr>
          <p:cNvPr id="13" name="Image 1" descr="preencoded.png">    </p:cNvPr>
          <p:cNvPicPr>
            <a:picLocks noChangeAspect="1"/>
          </p:cNvPicPr>
          <p:nvPr/>
        </p:nvPicPr>
        <p:blipFill>
          <a:blip r:embed="rId2"/>
          <a:stretch>
            <a:fillRect/>
          </a:stretch>
        </p:blipFill>
        <p:spPr>
          <a:xfrm>
            <a:off x="1000354" y="3112618"/>
            <a:ext cx="285293" cy="285293"/>
          </a:xfrm>
          <a:prstGeom prst="rect">
            <a:avLst/>
          </a:prstGeom>
        </p:spPr>
      </p:pic>
      <p:sp>
        <p:nvSpPr>
          <p:cNvPr id="14" name="Text 9"/>
          <p:cNvSpPr/>
          <p:nvPr/>
        </p:nvSpPr>
        <p:spPr>
          <a:xfrm>
            <a:off x="1600200" y="2880360"/>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2   </a:t>
            </a:r>
            <a:pPr indent="0" marL="0">
              <a:buNone/>
            </a:pPr>
            <a:r>
              <a:rPr lang="en-US" sz="1350" dirty="0">
                <a:solidFill>
                  <a:srgbClr val="23283A"/>
                </a:solidFill>
                <a:latin typeface="Calibri" pitchFamily="34" charset="0"/>
                <a:ea typeface="Calibri" pitchFamily="34" charset="-122"/>
                <a:cs typeface="Calibri" pitchFamily="34" charset="-120"/>
              </a:rPr>
              <a:t>Encryption is the core control — but only as strong as its key management.</a:t>
            </a:r>
            <a:endParaRPr lang="en-US" sz="1350" dirty="0"/>
          </a:p>
        </p:txBody>
      </p:sp>
      <p:sp>
        <p:nvSpPr>
          <p:cNvPr id="15" name="Shape 10"/>
          <p:cNvSpPr/>
          <p:nvPr/>
        </p:nvSpPr>
        <p:spPr>
          <a:xfrm>
            <a:off x="640080" y="3831336"/>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4005072"/>
            <a:ext cx="548640" cy="54864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1000354" y="4136746"/>
            <a:ext cx="285293" cy="285293"/>
          </a:xfrm>
          <a:prstGeom prst="rect">
            <a:avLst/>
          </a:prstGeom>
        </p:spPr>
      </p:pic>
      <p:sp>
        <p:nvSpPr>
          <p:cNvPr id="18" name="Text 12"/>
          <p:cNvSpPr/>
          <p:nvPr/>
        </p:nvSpPr>
        <p:spPr>
          <a:xfrm>
            <a:off x="1600200" y="3904488"/>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3   </a:t>
            </a:r>
            <a:pPr indent="0" marL="0">
              <a:buNone/>
            </a:pPr>
            <a:r>
              <a:rPr lang="en-US" sz="1350" dirty="0">
                <a:solidFill>
                  <a:srgbClr val="23283A"/>
                </a:solidFill>
                <a:latin typeface="Calibri" pitchFamily="34" charset="0"/>
                <a:ea typeface="Calibri" pitchFamily="34" charset="-122"/>
                <a:cs typeface="Calibri" pitchFamily="34" charset="-120"/>
              </a:rPr>
              <a:t>Tokenization, redaction and obfuscation protect data by replacing or hiding it — match technique to need.</a:t>
            </a:r>
            <a:endParaRPr lang="en-US" sz="1350" dirty="0"/>
          </a:p>
        </p:txBody>
      </p:sp>
      <p:sp>
        <p:nvSpPr>
          <p:cNvPr id="19" name="Shape 13"/>
          <p:cNvSpPr/>
          <p:nvPr/>
        </p:nvSpPr>
        <p:spPr>
          <a:xfrm>
            <a:off x="640080" y="4855464"/>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5029200"/>
            <a:ext cx="548640" cy="548640"/>
          </a:xfrm>
          <a:prstGeom prst="ellipse">
            <a:avLst/>
          </a:prstGeom>
          <a:solidFill>
            <a:srgbClr val="FABA32"/>
          </a:solidFill>
          <a:ln/>
        </p:spPr>
      </p:sp>
      <p:pic>
        <p:nvPicPr>
          <p:cNvPr id="21" name="Image 3" descr="preencoded.png">    </p:cNvPr>
          <p:cNvPicPr>
            <a:picLocks noChangeAspect="1"/>
          </p:cNvPicPr>
          <p:nvPr/>
        </p:nvPicPr>
        <p:blipFill>
          <a:blip r:embed="rId4"/>
          <a:stretch>
            <a:fillRect/>
          </a:stretch>
        </p:blipFill>
        <p:spPr>
          <a:xfrm>
            <a:off x="1000354" y="5160874"/>
            <a:ext cx="285293" cy="285293"/>
          </a:xfrm>
          <a:prstGeom prst="rect">
            <a:avLst/>
          </a:prstGeom>
        </p:spPr>
      </p:pic>
      <p:sp>
        <p:nvSpPr>
          <p:cNvPr id="22" name="Text 15"/>
          <p:cNvSpPr/>
          <p:nvPr/>
        </p:nvSpPr>
        <p:spPr>
          <a:xfrm>
            <a:off x="1600200" y="4928616"/>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4   </a:t>
            </a:r>
            <a:pPr indent="0" marL="0">
              <a:buNone/>
            </a:pPr>
            <a:r>
              <a:rPr lang="en-US" sz="1350" dirty="0">
                <a:solidFill>
                  <a:srgbClr val="23283A"/>
                </a:solidFill>
                <a:latin typeface="Calibri" pitchFamily="34" charset="0"/>
                <a:ea typeface="Calibri" pitchFamily="34" charset="-122"/>
                <a:cs typeface="Calibri" pitchFamily="34" charset="-120"/>
              </a:rPr>
              <a:t>Provable deletion (cryptographic erasure) and sound retention are legal as well as technical obligations.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sp>
      <p:sp>
        <p:nvSpPr>
          <p:cNvPr id="3" name="Shape 1"/>
          <p:cNvSpPr/>
          <p:nvPr/>
        </p:nvSpPr>
        <p:spPr>
          <a:xfrm>
            <a:off x="640080" y="1280160"/>
            <a:ext cx="1188720" cy="1188720"/>
          </a:xfrm>
          <a:prstGeom prst="ellipse">
            <a:avLst/>
          </a:prstGeom>
          <a:solidFill>
            <a:srgbClr val="FABA32"/>
          </a:solidFill>
          <a:ln/>
        </p:spPr>
      </p:sp>
      <p:pic>
        <p:nvPicPr>
          <p:cNvPr id="4" name="Image 0" descr="preencoded.png">    </p:cNvPr>
          <p:cNvPicPr>
            <a:picLocks noChangeAspect="1"/>
          </p:cNvPicPr>
          <p:nvPr/>
        </p:nvPicPr>
        <p:blipFill>
          <a:blip r:embed="rId1"/>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10058400" cy="1463040"/>
          </a:xfrm>
          <a:prstGeom prst="rect">
            <a:avLst/>
          </a:prstGeom>
          <a:noFill/>
          <a:ln/>
        </p:spPr>
        <p:txBody>
          <a:bodyPr wrap="square" lIns="0" tIns="0" rIns="0" bIns="0" rtlCol="0" anchor="t"/>
          <a:lstStyle/>
          <a:p>
            <a:pPr marL="342900" indent="-342900">
              <a:lnSpc>
                <a:spcPct val="130000"/>
              </a:lnSpc>
              <a:buSzPct val="100000"/>
              <a:buChar char="•"/>
            </a:pPr>
            <a:r>
              <a:rPr lang="en-US" sz="1650" dirty="0">
                <a:solidFill>
                  <a:srgbClr val="B6E0F2"/>
                </a:solidFill>
                <a:latin typeface="Calibri" pitchFamily="34" charset="0"/>
                <a:ea typeface="Calibri" pitchFamily="34" charset="-122"/>
                <a:cs typeface="Calibri" pitchFamily="34" charset="-120"/>
              </a:rPr>
              <a:t>Which data-protection method do you think is most effective — and in what situation?</a:t>
            </a:r>
            <a:endParaRPr lang="en-US" sz="1650" dirty="0"/>
          </a:p>
          <a:p>
            <a:pPr indent="0" marL="0">
              <a:lnSpc>
                <a:spcPct val="130000"/>
              </a:lnSpc>
              <a:buNone/>
            </a:pPr>
            <a:r>
              <a:rPr lang="en-US" sz="1650" dirty="0">
                <a:solidFill>
                  <a:srgbClr val="B6E0F2"/>
                </a:solidFill>
                <a:latin typeface="Calibri" pitchFamily="34" charset="0"/>
                <a:ea typeface="Calibri" pitchFamily="34" charset="-122"/>
                <a:cs typeface="Calibri" pitchFamily="34" charset="-120"/>
              </a:rPr>
              <a:t>Is encryption alone sufficient to protect cloud data? Why or why not?</a:t>
            </a:r>
            <a:endParaRPr lang="en-US" sz="1650" dirty="0"/>
          </a:p>
        </p:txBody>
      </p:sp>
      <p:sp>
        <p:nvSpPr>
          <p:cNvPr id="7" name="Text 4"/>
          <p:cNvSpPr/>
          <p:nvPr/>
        </p:nvSpPr>
        <p:spPr>
          <a:xfrm>
            <a:off x="640080" y="5760720"/>
            <a:ext cx="10789920" cy="457200"/>
          </a:xfrm>
          <a:prstGeom prst="rect">
            <a:avLst/>
          </a:prstGeom>
          <a:noFill/>
          <a:ln/>
        </p:spPr>
        <p:txBody>
          <a:bodyPr wrap="square" lIns="0" tIns="0" rIns="0" bIns="0" rtlCol="0" anchor="ctr"/>
          <a:lstStyle/>
          <a:p>
            <a:pPr indent="0" marL="0">
              <a:buNone/>
            </a:pPr>
            <a:r>
              <a:rPr lang="en-US" sz="1300" i="1" dirty="0">
                <a:solidFill>
                  <a:srgbClr val="FABA32"/>
                </a:solidFill>
                <a:latin typeface="Calibri" pitchFamily="34" charset="0"/>
                <a:ea typeface="Calibri" pitchFamily="34" charset="-122"/>
                <a:cs typeface="Calibri" pitchFamily="34" charset="-120"/>
              </a:rPr>
              <a:t>Next week — Lesson 5:  Enforcing Access Control for Cloud Infrastructure (RBAC · MFA · hardening)</a:t>
            </a:r>
            <a:endParaRPr lang="en-US" sz="1300" dirty="0"/>
          </a:p>
        </p:txBody>
      </p:sp>
      <p:pic>
        <p:nvPicPr>
          <p:cNvPr id="8" name="Image 1" descr="/sessions/inspiring-busy-dijkstra/mnt/outputs/build/assets/logo_white_trim.png">    </p:cNvPr>
          <p:cNvPicPr>
            <a:picLocks noChangeAspect="1"/>
          </p:cNvPicPr>
          <p:nvPr/>
        </p:nvPicPr>
        <p:blipFill>
          <a:blip r:embed="rId2"/>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 Data Protection for Cloud Infrastructure and Services</dc:title>
  <dc:subject>PptxGenJS Presentation</dc:subject>
  <dc:creator>Prof. Dr. Shahrulniza Musa</dc:creator>
  <cp:lastModifiedBy>Prof. Dr. Shahrulniza Musa</cp:lastModifiedBy>
  <cp:revision>1</cp:revision>
  <dcterms:created xsi:type="dcterms:W3CDTF">2026-07-09T09:48:44Z</dcterms:created>
  <dcterms:modified xsi:type="dcterms:W3CDTF">2026-07-09T09:48:44Z</dcterms:modified>
</cp:coreProperties>
</file>