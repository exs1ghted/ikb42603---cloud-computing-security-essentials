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2" d="100"/>
          <a:sy n="72" d="100"/>
        </p:scale>
        <p:origin x="140"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318532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Lesson 5, the third pillar: access control. Frame it — we protected the data last week; access control decides WHO may reach it. In the cloud, where resources are reachable from anywhere, identity and access are the effective perimeter, so this pillar is where most breaches are won or lost. Walk the six outcomes. This lesson maps to CLO2 and underpins the Lab Assignment. Note it builds on the IAM preview from Lesson 2 and pairs with the identity-management deep dive in Lesson 7. Give students the mantra we'll use: the right user, with the right access, at the right time.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Constructive-alignment slide for the external examiner and MQF accreditation. Lesson 5 maps to CLO2 — constructing secure cloud operations that safeguard data integrity — aligned to PLO2, MQF Level iii(a), and Bloom P3. It carries the VBE3 integrity value and the SC8 integrated-problem-solving skill, and is assessed through the Lab Assignment. Use it to show students how access-control content ties to the outcomes they are graded 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Establish what access control is and the principles that govern it. The goal is simple to state and hard to do: only authorised users reach only the resources they need. We ground it in least privilege, need-to-know and separation of duties.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it: access control restricts access to cloud resources so that only authorised users can reach systems and data. The mantra on the slide captures it — the right user, the right access, the right time. Stress why it is critical in the cloud: resources are internet-reachable, so access control is often the last and most important line between an attacker and your data; a stolen credential with broad rights is a full breach. Note the two questions it must answer, which structure the next section: are you who you claim (authentication), and are you allowed to do this (authorization). Connect to zero trust from Lesson 2 — verify every request — and to least privilege, which access control is the mechanism to enforce.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requirements a cloud access-control system must meet. Strong identity management: a reliable source of truth for who exists and what they are — the subject of Lesson 7. Secure authentication: robust proof of identity, MFA as baseline, resistant to phishing and brute force. Fine-grained authorization: permissions precise enough to grant exactly what is needed and no more — enabling least privilege. Continuous monitoring: watch access in real time to catch misuse, tying to Lesson 6. The message: these four work as a set — strong authentication is undermined by coarse authorization that over-grants; fine authorization is undermined by weak authentication that lets impostors in; and both need monitoring to catch what slips through. This slide frames the requirements the rest of the lesson satisfies.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principles govern good access control. Least privilege: grant the minimum access required — the recurring theme; it limits the blast radius of any compromise. Need-to-know: a user should access only the specific data their task requires, even within their privilege level — a finance analyst may have finance access but not to every account. Separation of duties: split critical actions across multiple people so no single individual can complete a sensitive process alone — for example, one person requests a payment and another approves it; this prevents both fraud and single-point mistakes. Together they minimise the risk of misuse, whether malicious or accidental. Tie back: least privilege and separation of duties are exactly the controls that would have contained the breaches in earlier lessons, and they are enforced through the authorization models we cover next.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what access control defends against. General attack vectors target credentials: credential theft (stealing usernames and passwords), phishing (tricking users into surrendering them), brute force (guessing weak passwords automatically), and session hijacking (stealing an active login token). Cloud access threats: account hijacking (an attacker operating as a legitimate user), insider threats, misconfigured permissions (over-broad access, the recurring cloud failure), and weak authentication (no MFA, reused passwords). The through-line: almost all of these are defeated by the controls in this lesson — MFA defeats phishing, credential theft and brute force; least privilege and fine-grained authorization limit hijacking and misconfiguration; monitoring catches session hijacking and insider misuse. Ask students to pair each threat with its counter-control; that mapping is the lesson in miniature.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halves of access control, which students must never confuse. Authentication proves who you are; authorization decides what you may do. We cover methods, MFA, and the RBAC/ABAC models.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distinction crisp because it is a perennial confusion and a common exam question. Authentication answers 'who are you?' — it verifies identity, for example logging in with a password and MFA. Authorization answers 'what are you allowed to do?' — it determines access rights once identity is established, for example whether you may open a particular file. The order is fixed: authenticate first, then authorize. Use the slide's example — logging in (authentication) versus having permission to access a file (authorization). Stress that both must be strong: perfect authentication with sloppy authorization means verified users can do too much; tight authorization with weak authentication means impostors slip in. The next slides deepen each half — methods and MFA for authentication, RBAC and ABAC for authorization.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Authentication factors fall into three classes: something you know (a password or PIN), something you have (a phone, token or smart card), and something you are (a biometric — fingerprint, face). Passwords alone are the weakest, being phishable, guessable and reusable across sites. Multi-factor authentication combines factors from DIFFERENT classes — for example a password plus a code from your phone — so that stealing one factor is not enough. This is the single highest-impact access control: MFA defeats the large majority of credential attacks, including phishing and brute force, which is why it should be the baseline for anything sensitive. Biometrics add a strong 'something you are' factor and are convenient, though they raise privacy considerations. The takeaway for students: more independent factors means stronger assurance — and MFA is the cheapest large security win available. Preview: identity federation and SSO in Lesson 7 let one strong authentication serve many services.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dominant models for deciding what an authenticated user may do. RBAC, role-based access control, grants permissions by role — an Admin role, a User role — so you manage access by assigning people to roles rather than setting individual permissions. It is simple, scalable and the workhorse of most organisations; the example is Admin versus User. ABAC, attribute-based access control, decides access from attributes — user department, resource sensitivity, time of day, location, device — giving fine-grained, context-aware control at the cost of complexity. Guidance: use RBAC for broad, stable structures where roles map cleanly to jobs; add ABAC when you need context-sensitive precision, such as 'only from the corporate network during business hours.' Both are mechanisms to enforce least privilege from Part 1. In the cloud, providers' IAM systems implement RBAC natively and increasingly support attribute-based conditions, so students will meet both in practice.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Access control applies to three layers of the infrastructure — compute, network and storage. A gap in any one lets an attacker in, so all three must be controlled together.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Access control is not one thing — it applies across three domains, echoing the isolation dimensions from Lesson 3. Compute access control governs who can log into and administer virtual machines and workloads. Network access control governs which systems may talk to which, using firewalls, segmentation and filtering. Storage access control governs who may read and write stored data, using permissions, encryption and policies. The unifying principle is least privilege applied at every layer, plus default-deny on the network. Tell students the point: securing only one domain is like locking the front door but leaving the windows open — an attacker who cannot log into a VM directly may reach its data through a mis-permissioned storage bucket or an open network path. We take one slide on each.</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Detail the first two domains. Compute access control: restrict who can log into virtual machines, use secure login methods (key-based SSH, not shared passwords), and tightly restrict administrative privileges so few identities hold admin — most breaches escalate through over-granted admin rights. Network access control: govern traffic between systems using firewalls and security groups, network segmentation (from Lesson 3), and IP filtering to permit connections only from known sources; add VPNs and access control lists for finer control. The connecting idea is default-deny with least privilege: by default nothing may log in or connect, and you explicitly permit only what is needed. This directly limits lateral movement — an attacker who lands on one machine cannot freely reach others. Both domains rely on the identity system underneath, reinforcing why identity management (Lesson 7) is foundational.</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domain, and the one behind the most headline breaches. Storage access control restricts who can read and write stored data through three combined mechanisms. File and object permissions define who may access what — the mis-set permission on a storage bucket is the classic cloud breach, so private-by-default and least privilege are essential. Encryption protects the data itself, so even a permission mistake yields only ciphertext — the link back to Lesson 4. Access policies express fine-grained rules, often attribute-based, about who may do what under which conditions. Add monitoring of data access to detect misuse. The lesson to land: the exposed-bucket breach we keep returning to is a storage access-control failure, and it is prevented by exactly these controls — correct permissions, encryption as a safety net, and monitoring to catch mistakes. This connects storage access control to the data-protection pillar and to compliance.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Access control decides who gets in; hardening reduces what they can exploit once the system is running. We cover OS hardening, minimization, secure remote access and trusted boot.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Hardening means configuring a system to reduce its attack surface — fewer ways in, fewer things to exploit. The core OS-hardening steps on the slide: remove unnecessary services (every running service is a potential entry point), apply security patches promptly (unpatched flaws are the attacker's easiest route), and disable unused ports and accounts. System minimization is the underlying principle: keep only the components you actually need — a minimal system has fewer vulnerabilities and is easier to secure and monitor. Connect to earlier lessons: this is defense in depth and security-by-design applied at the host level, and it complements access control — even if someone gets in, a hardened, minimal system gives them little to exploit and no idle service to abuse. In the cloud, hardened, minimal machine images (golden images) let you deploy secure-by-default hosts at scale. Note verified/measured boot on the next slide extends hardening to startup integrity.</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more controls. Securing remote access: administrators and users often connect from outside, so require VPNs to tunnel traffic securely, enforce MFA on every remote session, and limit remote access to what is necessary — remote administrative access is a prime attacker target, so it deserves the strongest controls. Verified and measured boot ensures system integrity from the very start: the system checks that each component loaded at startup is authentic and unmodified, detecting rootkits or tampering that would otherwise hide beneath the operating system. This extends integrity — the CIA goal — down to the boot process, and gives you a trustworthy foundation, which becomes important for the trusted-platform design pattern in Lesson 8. The combined message: control how people get in remotely, and verify that the machine itself has not been tampered with before you trust anything running on it.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Prevention is never perfect, so we add detection — firewalls, intrusion detection and prevention, and honeypots — then apply everything to a breach scenario.</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detective and preventive network controls that back up access control. Firewalls filter incoming and outgoing traffic against rules, blocking unauthorised access — the first network gate. Intrusion Detection Systems watch for suspicious activity and alert administrators — they see attacks but do not stop them. Intrusion Prevention Systems go further: they detect AND automatically block threats in real time. Honeypots are decoy systems deliberately exposed to attract attackers, so you can detect intrusions early and study attacker behaviour without risking real assets. The framing: access control and hardening try to prevent intrusion; these tools detect and contain it when prevention fails — the same detect-and-respond philosophy as Lesson 6's monitoring. Together, prevention plus detection is defense in depth for access. Note IDS/IPS and firewalls feed the SIEM, closing the loop with the monitoring pillar.</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as a think-pair-share. Scenario: a weak password policy allowed an attacker to guess or brute-force an account's credentials, and from that account they reached sensitive systems — a breach that started with a single weak password. Ask the two questions. What failed? Weak authentication (short, reused, no complexity), no MFA to stop the guessed password from working, and likely over-broad permissions on the account so the foothold reached far. How to improve access control? Enforce strong authentication and MFA (which alone would have stopped this), apply least privilege so a single account cannot reach everything, monitor for brute-force patterns and lock accounts, and review access regularly. The teaching point that also answers the discussion question: MFA is the highest-impact fix here, but it is not enough alone — least privilege limits the damage and monitoring catches the attempt. Connect to shared responsibility: password policy and MFA were the customer's to enforce. Let pairs report before consolidating.</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Distil the lesson. Enforce least privilege everywhere — people and machines. Use MFA as the baseline for all sensitive access. Regularly review access to fight permission creep and remove stale accounts. Monitor activity to detect misuse early. Harden systems to reduce what an intruder can exploit. And secure remote access with VPN and MFA. Tell students these six are the operational core of CLO2 and map to Lab Assignment criteria. Preview: Lesson 7 goes deeper into identity — single sign-on, federation and provisioning — the machinery that makes strong, scalable authentication practical across many services.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Consolidate. One: in the cloud, identity is the perimeter — access control is where most breaches are won or lost. Two: authentication (who you are) and authorization (what you may do) are distinct and both must be strong — MFA and least privilege are the highest-impact controls. Three: access control spans compute, network and storage — secure all three. Four: hardening and detection back up access control when prevention slips. Ask students to state the difference between authentication and authorization and give one control for each. Preview Lesson 7: identity management — SSO, federation and provisioning.</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prompts. The first is the lesson's thesis: MFA is the single highest-impact control but not sufficient alone — least privilege and monitoring must accompany it. The second has no single answer; the value is the justification. Preview Lesson 7 on identity management. Remind students this lesson maps to CLO2 and the Lab Assignment. (Note: Week 6 covered Monitoring, Auditing &amp; Management, and the Test on CLO1 falls in that week.)</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0.png"/><Relationship Id="rId7" Type="http://schemas.openxmlformats.org/officeDocument/2006/relationships/image" Target="../media/image27.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36.png"/><Relationship Id="rId4" Type="http://schemas.openxmlformats.org/officeDocument/2006/relationships/image" Target="../media/image16.png"/></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7.png"/><Relationship Id="rId4" Type="http://schemas.openxmlformats.org/officeDocument/2006/relationships/image" Target="../media/image9.png"/></Relationships>
</file>

<file path=ppt/slides/_rels/slide2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149"/>
        </a:solidFill>
        <a:effectLst/>
      </p:bgPr>
    </p:bg>
    <p:spTree>
      <p:nvGrpSpPr>
        <p:cNvPr id="1" name=""/>
        <p:cNvGrpSpPr/>
        <p:nvPr/>
      </p:nvGrpSpPr>
      <p:grpSpPr>
        <a:xfrm>
          <a:off x="0" y="0"/>
          <a:ext cx="0" cy="0"/>
          <a:chOff x="0" y="0"/>
          <a:chExt cx="0" cy="0"/>
        </a:xfrm>
      </p:grpSpPr>
      <p:sp>
        <p:nvSpPr>
          <p:cNvPr id="2" name="Shape 0"/>
          <p:cNvSpPr/>
          <p:nvPr/>
        </p:nvSpPr>
        <p:spPr>
          <a:xfrm>
            <a:off x="9692640" y="-1463040"/>
            <a:ext cx="4206240" cy="4206240"/>
          </a:xfrm>
          <a:prstGeom prst="ellipse">
            <a:avLst/>
          </a:prstGeom>
          <a:solidFill>
            <a:srgbClr val="293E7B">
              <a:alpha val="45000"/>
            </a:srgbClr>
          </a:solidFill>
          <a:ln/>
        </p:spPr>
        <p:txBody>
          <a:bodyPr/>
          <a:lstStyle/>
          <a:p>
            <a:endParaRPr lang="en-MY"/>
          </a:p>
        </p:txBody>
      </p:sp>
      <p:sp>
        <p:nvSpPr>
          <p:cNvPr id="3" name="Shape 1"/>
          <p:cNvSpPr/>
          <p:nvPr/>
        </p:nvSpPr>
        <p:spPr>
          <a:xfrm>
            <a:off x="10881360" y="4297680"/>
            <a:ext cx="3108960" cy="3108960"/>
          </a:xfrm>
          <a:prstGeom prst="ellipse">
            <a:avLst/>
          </a:prstGeom>
          <a:solidFill>
            <a:srgbClr val="FABA32">
              <a:alpha val="22000"/>
            </a:srgbClr>
          </a:solidFill>
          <a:ln/>
        </p:spPr>
        <p:txBody>
          <a:bodyPr/>
          <a:lstStyle/>
          <a:p>
            <a:endParaRPr lang="en-MY"/>
          </a:p>
        </p:txBody>
      </p:sp>
      <p:pic>
        <p:nvPicPr>
          <p:cNvPr id="4" name="Image 0" descr="preencoded.png"/>
          <p:cNvPicPr>
            <a:picLocks noChangeAspect="1"/>
          </p:cNvPicPr>
          <p:nvPr/>
        </p:nvPicPr>
        <p:blipFill>
          <a:blip r:embed="rId3"/>
          <a:stretch>
            <a:fillRect/>
          </a:stretch>
        </p:blipFill>
        <p:spPr>
          <a:xfrm>
            <a:off x="7818120" y="502920"/>
            <a:ext cx="4114800" cy="3820886"/>
          </a:xfrm>
          <a:prstGeom prst="rect">
            <a:avLst/>
          </a:prstGeom>
        </p:spPr>
      </p:pic>
      <p:pic>
        <p:nvPicPr>
          <p:cNvPr id="5" name="Image 1" descr="/sessions/inspiring-busy-dijkstra/mnt/outputs/build/assets/logo_white_trim.png"/>
          <p:cNvPicPr>
            <a:picLocks noChangeAspect="1"/>
          </p:cNvPicPr>
          <p:nvPr/>
        </p:nvPicPr>
        <p:blipFill>
          <a:blip r:embed="rId4"/>
          <a:stretch>
            <a:fillRect/>
          </a:stretch>
        </p:blipFill>
        <p:spPr>
          <a:xfrm>
            <a:off x="640080" y="502920"/>
            <a:ext cx="2331720" cy="1059423"/>
          </a:xfrm>
          <a:prstGeom prst="rect">
            <a:avLst/>
          </a:prstGeom>
        </p:spPr>
      </p:pic>
      <p:sp>
        <p:nvSpPr>
          <p:cNvPr id="6" name="Shape 2"/>
          <p:cNvSpPr/>
          <p:nvPr/>
        </p:nvSpPr>
        <p:spPr>
          <a:xfrm>
            <a:off x="640080" y="2788920"/>
            <a:ext cx="3063240" cy="457200"/>
          </a:xfrm>
          <a:prstGeom prst="roundRect">
            <a:avLst>
              <a:gd name="adj" fmla="val 16000"/>
            </a:avLst>
          </a:prstGeom>
          <a:solidFill>
            <a:srgbClr val="FABA32"/>
          </a:solidFill>
          <a:ln/>
        </p:spPr>
        <p:txBody>
          <a:bodyPr/>
          <a:lstStyle/>
          <a:p>
            <a:endParaRPr lang="en-MY"/>
          </a:p>
        </p:txBody>
      </p:sp>
      <p:sp>
        <p:nvSpPr>
          <p:cNvPr id="7" name="Text 3"/>
          <p:cNvSpPr/>
          <p:nvPr/>
        </p:nvSpPr>
        <p:spPr>
          <a:xfrm>
            <a:off x="640080" y="2788920"/>
            <a:ext cx="3063240" cy="457200"/>
          </a:xfrm>
          <a:prstGeom prst="rect">
            <a:avLst/>
          </a:prstGeom>
          <a:noFill/>
          <a:ln/>
        </p:spPr>
        <p:txBody>
          <a:bodyPr wrap="square" lIns="0" tIns="0" rIns="0" bIns="0" rtlCol="0" anchor="ctr"/>
          <a:lstStyle/>
          <a:p>
            <a:pPr marL="0" indent="0" algn="ctr">
              <a:buNone/>
            </a:pPr>
            <a:r>
              <a:rPr lang="en-US" sz="1200" b="1" dirty="0">
                <a:solidFill>
                  <a:srgbClr val="262F65"/>
                </a:solidFill>
                <a:latin typeface="Calibri" pitchFamily="34" charset="0"/>
                <a:ea typeface="Calibri" pitchFamily="34" charset="-122"/>
                <a:cs typeface="Calibri" pitchFamily="34" charset="-120"/>
              </a:rPr>
              <a:t>IKB42603  •  Cloud Security</a:t>
            </a:r>
            <a:endParaRPr lang="en-US" sz="1200" dirty="0"/>
          </a:p>
        </p:txBody>
      </p:sp>
      <p:sp>
        <p:nvSpPr>
          <p:cNvPr id="8" name="Text 4"/>
          <p:cNvSpPr/>
          <p:nvPr/>
        </p:nvSpPr>
        <p:spPr>
          <a:xfrm>
            <a:off x="640080" y="3566160"/>
            <a:ext cx="10058400" cy="365760"/>
          </a:xfrm>
          <a:prstGeom prst="rect">
            <a:avLst/>
          </a:prstGeom>
          <a:noFill/>
          <a:ln/>
        </p:spPr>
        <p:txBody>
          <a:bodyPr wrap="square" lIns="0" tIns="0" rIns="0" bIns="0" rtlCol="0" anchor="ctr"/>
          <a:lstStyle/>
          <a:p>
            <a:pPr marL="0" indent="0">
              <a:buNone/>
            </a:pPr>
            <a:r>
              <a:rPr lang="en-US" sz="1500" b="1" kern="0" spc="300" dirty="0">
                <a:solidFill>
                  <a:srgbClr val="FABA32"/>
                </a:solidFill>
                <a:latin typeface="Calibri" pitchFamily="34" charset="0"/>
                <a:ea typeface="Calibri" pitchFamily="34" charset="-122"/>
                <a:cs typeface="Calibri" pitchFamily="34" charset="-120"/>
              </a:rPr>
              <a:t>WEEK 5 · LESSON 5</a:t>
            </a:r>
            <a:endParaRPr lang="en-US" sz="1500" dirty="0"/>
          </a:p>
        </p:txBody>
      </p:sp>
      <p:sp>
        <p:nvSpPr>
          <p:cNvPr id="9" name="Text 5"/>
          <p:cNvSpPr/>
          <p:nvPr/>
        </p:nvSpPr>
        <p:spPr>
          <a:xfrm>
            <a:off x="640080" y="3931920"/>
            <a:ext cx="7040880" cy="1691640"/>
          </a:xfrm>
          <a:prstGeom prst="rect">
            <a:avLst/>
          </a:prstGeom>
          <a:noFill/>
          <a:ln/>
        </p:spPr>
        <p:txBody>
          <a:bodyPr wrap="square" lIns="0" tIns="0" rIns="0" bIns="0" rtlCol="0" anchor="t"/>
          <a:lstStyle/>
          <a:p>
            <a:pPr marL="0" indent="0">
              <a:lnSpc>
                <a:spcPct val="102000"/>
              </a:lnSpc>
              <a:buNone/>
            </a:pPr>
            <a:r>
              <a:rPr lang="en-US" sz="3700" b="1" dirty="0">
                <a:solidFill>
                  <a:srgbClr val="FFFFFF"/>
                </a:solidFill>
                <a:latin typeface="Cambria" pitchFamily="34" charset="0"/>
                <a:ea typeface="Cambria" pitchFamily="34" charset="-122"/>
                <a:cs typeface="Cambria" pitchFamily="34" charset="-120"/>
              </a:rPr>
              <a:t>Enforcing Access Control for Cloud Infrastructure</a:t>
            </a:r>
            <a:endParaRPr lang="en-US" sz="3700" dirty="0"/>
          </a:p>
        </p:txBody>
      </p:sp>
      <p:sp>
        <p:nvSpPr>
          <p:cNvPr id="10" name="Text 6"/>
          <p:cNvSpPr/>
          <p:nvPr/>
        </p:nvSpPr>
        <p:spPr>
          <a:xfrm>
            <a:off x="640080" y="5623560"/>
            <a:ext cx="10424160" cy="640080"/>
          </a:xfrm>
          <a:prstGeom prst="rect">
            <a:avLst/>
          </a:prstGeom>
          <a:noFill/>
          <a:ln/>
        </p:spPr>
        <p:txBody>
          <a:bodyPr wrap="square" lIns="0" tIns="0" rIns="0" bIns="0" rtlCol="0" anchor="ctr"/>
          <a:lstStyle/>
          <a:p>
            <a:pPr marL="0" indent="0">
              <a:buNone/>
            </a:pPr>
            <a:r>
              <a:rPr lang="en-US" sz="1550" i="1" dirty="0">
                <a:solidFill>
                  <a:srgbClr val="B6E0F2"/>
                </a:solidFill>
                <a:latin typeface="Calibri" pitchFamily="34" charset="0"/>
                <a:ea typeface="Calibri" pitchFamily="34" charset="-122"/>
                <a:cs typeface="Calibri" pitchFamily="34" charset="-120"/>
              </a:rPr>
              <a:t>AuthN vs AuthZ · RBAC · MFA · Host / network / storage control · Hardening</a:t>
            </a:r>
            <a:endParaRPr lang="en-US" sz="1550" dirty="0"/>
          </a:p>
        </p:txBody>
      </p:sp>
      <p:sp>
        <p:nvSpPr>
          <p:cNvPr id="11" name="Text 7"/>
          <p:cNvSpPr/>
          <p:nvPr/>
        </p:nvSpPr>
        <p:spPr>
          <a:xfrm>
            <a:off x="640080" y="6355080"/>
            <a:ext cx="10972800" cy="320040"/>
          </a:xfrm>
          <a:prstGeom prst="rect">
            <a:avLst/>
          </a:prstGeom>
          <a:noFill/>
          <a:ln/>
        </p:spPr>
        <p:txBody>
          <a:bodyPr wrap="square" lIns="0" tIns="0" rIns="0" bIns="0" rtlCol="0" anchor="ctr"/>
          <a:lstStyle/>
          <a:p>
            <a:pPr marL="0" indent="0">
              <a:buNone/>
            </a:pPr>
            <a:r>
              <a:rPr lang="en-US" sz="1100" dirty="0">
                <a:solidFill>
                  <a:srgbClr val="9AA6C9"/>
                </a:solidFill>
                <a:latin typeface="Calibri" pitchFamily="34" charset="0"/>
                <a:ea typeface="Calibri" pitchFamily="34" charset="-122"/>
                <a:cs typeface="Calibri" pitchFamily="34" charset="-120"/>
              </a:rPr>
              <a:t>Universiti Kuala Lumpur  ·  UniKL MIIT   |   Prof. Dr. Shahrulniza Musa</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marL="0" indent="0">
              <a:buNone/>
            </a:pPr>
            <a:r>
              <a:rPr lang="en-US" sz="1150" b="1" kern="0" spc="200" dirty="0">
                <a:solidFill>
                  <a:srgbClr val="F2931F"/>
                </a:solidFill>
                <a:latin typeface="Calibri" pitchFamily="34" charset="0"/>
                <a:ea typeface="Calibri" pitchFamily="34" charset="-122"/>
                <a:cs typeface="Calibri" pitchFamily="34" charset="-120"/>
              </a:rPr>
              <a:t>LEARNING OUTCOMES</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marL="0" indent="0">
              <a:buNone/>
            </a:pPr>
            <a:r>
              <a:rPr lang="en-US" sz="2600" b="1" dirty="0">
                <a:solidFill>
                  <a:srgbClr val="262F65"/>
                </a:solidFill>
                <a:latin typeface="Cambria" pitchFamily="34" charset="0"/>
                <a:ea typeface="Cambria" pitchFamily="34" charset="-122"/>
                <a:cs typeface="Cambria" pitchFamily="34" charset="-120"/>
              </a:rPr>
              <a:t>What you will be able to do</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marL="0" indent="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1</a:t>
            </a:r>
            <a:endParaRPr lang="en-US" sz="900" dirty="0"/>
          </a:p>
        </p:txBody>
      </p:sp>
      <p:sp>
        <p:nvSpPr>
          <p:cNvPr id="7" name="Shape 4"/>
          <p:cNvSpPr/>
          <p:nvPr/>
        </p:nvSpPr>
        <p:spPr>
          <a:xfrm>
            <a:off x="640080" y="1783080"/>
            <a:ext cx="868680" cy="868680"/>
          </a:xfrm>
          <a:prstGeom prst="ellipse">
            <a:avLst/>
          </a:prstGeom>
          <a:solidFill>
            <a:srgbClr val="FABA32"/>
          </a:solidFill>
          <a:ln/>
        </p:spPr>
        <p:txBody>
          <a:bodyPr/>
          <a:lstStyle/>
          <a:p>
            <a:endParaRPr lang="en-MY"/>
          </a:p>
        </p:txBody>
      </p:sp>
      <p:pic>
        <p:nvPicPr>
          <p:cNvPr id="8" name="Image 0" descr="preencoded.png"/>
          <p:cNvPicPr>
            <a:picLocks noChangeAspect="1"/>
          </p:cNvPicPr>
          <p:nvPr/>
        </p:nvPicPr>
        <p:blipFill>
          <a:blip r:embed="rId3"/>
          <a:stretch>
            <a:fillRect/>
          </a:stretch>
        </p:blipFill>
        <p:spPr>
          <a:xfrm>
            <a:off x="848563" y="1991563"/>
            <a:ext cx="451714" cy="451714"/>
          </a:xfrm>
          <a:prstGeom prst="rect">
            <a:avLst/>
          </a:prstGeom>
        </p:spPr>
      </p:pic>
      <p:sp>
        <p:nvSpPr>
          <p:cNvPr id="9" name="Shape 5"/>
          <p:cNvSpPr/>
          <p:nvPr/>
        </p:nvSpPr>
        <p:spPr>
          <a:xfrm>
            <a:off x="1737360" y="1645920"/>
            <a:ext cx="5257800" cy="1417320"/>
          </a:xfrm>
          <a:prstGeom prst="roundRect">
            <a:avLst>
              <a:gd name="adj" fmla="val 5806"/>
            </a:avLst>
          </a:prstGeom>
          <a:solidFill>
            <a:srgbClr val="F4F6FB"/>
          </a:solidFill>
          <a:ln/>
          <a:effectLst>
            <a:outerShdw blurRad="88900" dist="38100" dir="5400000" algn="bl" rotWithShape="0">
              <a:srgbClr val="8894AD">
                <a:alpha val="28000"/>
              </a:srgbClr>
            </a:outerShdw>
          </a:effectLst>
        </p:spPr>
        <p:txBody>
          <a:bodyPr/>
          <a:lstStyle/>
          <a:p>
            <a:endParaRPr lang="en-MY"/>
          </a:p>
        </p:txBody>
      </p:sp>
      <p:sp>
        <p:nvSpPr>
          <p:cNvPr id="10" name="Text 6"/>
          <p:cNvSpPr/>
          <p:nvPr/>
        </p:nvSpPr>
        <p:spPr>
          <a:xfrm>
            <a:off x="1965960" y="1810512"/>
            <a:ext cx="4800600" cy="457200"/>
          </a:xfrm>
          <a:prstGeom prst="rect">
            <a:avLst/>
          </a:prstGeom>
          <a:noFill/>
          <a:ln/>
        </p:spPr>
        <p:txBody>
          <a:bodyPr wrap="square" lIns="0" tIns="0" rIns="0" bIns="0" rtlCol="0" anchor="t"/>
          <a:lstStyle/>
          <a:p>
            <a:pPr marL="0" indent="0">
              <a:buNone/>
            </a:pPr>
            <a:r>
              <a:rPr lang="en-US" sz="1450" b="1" dirty="0">
                <a:solidFill>
                  <a:srgbClr val="F2931F"/>
                </a:solidFill>
                <a:latin typeface="Calibri" pitchFamily="34" charset="0"/>
                <a:ea typeface="Calibri" pitchFamily="34" charset="-122"/>
                <a:cs typeface="Calibri" pitchFamily="34" charset="-120"/>
              </a:rPr>
              <a:t>1.  </a:t>
            </a:r>
            <a:r>
              <a:rPr lang="en-US" sz="1450" b="1" dirty="0">
                <a:solidFill>
                  <a:srgbClr val="262F65"/>
                </a:solidFill>
                <a:latin typeface="Calibri" pitchFamily="34" charset="0"/>
                <a:ea typeface="Calibri" pitchFamily="34" charset="-122"/>
                <a:cs typeface="Calibri" pitchFamily="34" charset="-120"/>
              </a:rPr>
              <a:t>Understand access-control requirements</a:t>
            </a:r>
            <a:endParaRPr lang="en-US" sz="1450" dirty="0"/>
          </a:p>
        </p:txBody>
      </p:sp>
      <p:sp>
        <p:nvSpPr>
          <p:cNvPr id="11" name="Text 7"/>
          <p:cNvSpPr/>
          <p:nvPr/>
        </p:nvSpPr>
        <p:spPr>
          <a:xfrm>
            <a:off x="1965960" y="2304288"/>
            <a:ext cx="4800600" cy="658368"/>
          </a:xfrm>
          <a:prstGeom prst="rect">
            <a:avLst/>
          </a:prstGeom>
          <a:noFill/>
          <a:ln/>
        </p:spPr>
        <p:txBody>
          <a:bodyPr wrap="square" lIns="0" tIns="0" rIns="0" bIns="0" rtlCol="0" anchor="t"/>
          <a:lstStyle/>
          <a:p>
            <a:pPr marL="0" indent="0">
              <a:buNone/>
            </a:pPr>
            <a:r>
              <a:rPr lang="en-US" sz="1200" dirty="0">
                <a:solidFill>
                  <a:srgbClr val="5B6472"/>
                </a:solidFill>
                <a:latin typeface="Calibri" pitchFamily="34" charset="0"/>
                <a:ea typeface="Calibri" pitchFamily="34" charset="-122"/>
                <a:cs typeface="Calibri" pitchFamily="34" charset="-120"/>
              </a:rPr>
              <a:t>What the cloud demands of identity and access.</a:t>
            </a:r>
            <a:endParaRPr lang="en-US" sz="1200" dirty="0"/>
          </a:p>
        </p:txBody>
      </p:sp>
      <p:sp>
        <p:nvSpPr>
          <p:cNvPr id="12" name="Shape 8"/>
          <p:cNvSpPr/>
          <p:nvPr/>
        </p:nvSpPr>
        <p:spPr>
          <a:xfrm>
            <a:off x="7315200" y="1645920"/>
            <a:ext cx="5257800" cy="1417320"/>
          </a:xfrm>
          <a:prstGeom prst="roundRect">
            <a:avLst>
              <a:gd name="adj" fmla="val 5806"/>
            </a:avLst>
          </a:prstGeom>
          <a:solidFill>
            <a:srgbClr val="F4F6FB"/>
          </a:solidFill>
          <a:ln/>
          <a:effectLst>
            <a:outerShdw blurRad="88900" dist="38100" dir="5400000" algn="bl" rotWithShape="0">
              <a:srgbClr val="8894AD">
                <a:alpha val="28000"/>
              </a:srgbClr>
            </a:outerShdw>
          </a:effectLst>
        </p:spPr>
        <p:txBody>
          <a:bodyPr/>
          <a:lstStyle/>
          <a:p>
            <a:endParaRPr lang="en-MY"/>
          </a:p>
        </p:txBody>
      </p:sp>
      <p:sp>
        <p:nvSpPr>
          <p:cNvPr id="13" name="Text 9"/>
          <p:cNvSpPr/>
          <p:nvPr/>
        </p:nvSpPr>
        <p:spPr>
          <a:xfrm>
            <a:off x="7543800" y="1810512"/>
            <a:ext cx="4800600" cy="457200"/>
          </a:xfrm>
          <a:prstGeom prst="rect">
            <a:avLst/>
          </a:prstGeom>
          <a:noFill/>
          <a:ln/>
        </p:spPr>
        <p:txBody>
          <a:bodyPr wrap="square" lIns="0" tIns="0" rIns="0" bIns="0" rtlCol="0" anchor="t"/>
          <a:lstStyle/>
          <a:p>
            <a:pPr marL="0" indent="0">
              <a:buNone/>
            </a:pPr>
            <a:r>
              <a:rPr lang="en-US" sz="1450" b="1" dirty="0">
                <a:solidFill>
                  <a:srgbClr val="F2931F"/>
                </a:solidFill>
                <a:latin typeface="Calibri" pitchFamily="34" charset="0"/>
                <a:ea typeface="Calibri" pitchFamily="34" charset="-122"/>
                <a:cs typeface="Calibri" pitchFamily="34" charset="-120"/>
              </a:rPr>
              <a:t>2.  </a:t>
            </a:r>
            <a:r>
              <a:rPr lang="en-US" sz="1450" b="1" dirty="0">
                <a:solidFill>
                  <a:srgbClr val="262F65"/>
                </a:solidFill>
                <a:latin typeface="Calibri" pitchFamily="34" charset="0"/>
                <a:ea typeface="Calibri" pitchFamily="34" charset="-122"/>
                <a:cs typeface="Calibri" pitchFamily="34" charset="-120"/>
              </a:rPr>
              <a:t>Differentiate authN and authZ</a:t>
            </a:r>
            <a:endParaRPr lang="en-US" sz="1450" dirty="0"/>
          </a:p>
        </p:txBody>
      </p:sp>
      <p:sp>
        <p:nvSpPr>
          <p:cNvPr id="14" name="Text 10"/>
          <p:cNvSpPr/>
          <p:nvPr/>
        </p:nvSpPr>
        <p:spPr>
          <a:xfrm>
            <a:off x="7543800" y="2304288"/>
            <a:ext cx="4800600" cy="658368"/>
          </a:xfrm>
          <a:prstGeom prst="rect">
            <a:avLst/>
          </a:prstGeom>
          <a:noFill/>
          <a:ln/>
        </p:spPr>
        <p:txBody>
          <a:bodyPr wrap="square" lIns="0" tIns="0" rIns="0" bIns="0" rtlCol="0" anchor="t"/>
          <a:lstStyle/>
          <a:p>
            <a:pPr marL="0" indent="0">
              <a:buNone/>
            </a:pPr>
            <a:r>
              <a:rPr lang="en-US" sz="1200" dirty="0">
                <a:solidFill>
                  <a:srgbClr val="5B6472"/>
                </a:solidFill>
                <a:latin typeface="Calibri" pitchFamily="34" charset="0"/>
                <a:ea typeface="Calibri" pitchFamily="34" charset="-122"/>
                <a:cs typeface="Calibri" pitchFamily="34" charset="-120"/>
              </a:rPr>
              <a:t>Verifying identity vs granting rights.</a:t>
            </a:r>
            <a:endParaRPr lang="en-US" sz="1200" dirty="0"/>
          </a:p>
        </p:txBody>
      </p:sp>
      <p:sp>
        <p:nvSpPr>
          <p:cNvPr id="15" name="Shape 11"/>
          <p:cNvSpPr/>
          <p:nvPr/>
        </p:nvSpPr>
        <p:spPr>
          <a:xfrm>
            <a:off x="1737360" y="3182112"/>
            <a:ext cx="5257800" cy="1417320"/>
          </a:xfrm>
          <a:prstGeom prst="roundRect">
            <a:avLst>
              <a:gd name="adj" fmla="val 5806"/>
            </a:avLst>
          </a:prstGeom>
          <a:solidFill>
            <a:srgbClr val="F4F6FB"/>
          </a:solidFill>
          <a:ln/>
          <a:effectLst>
            <a:outerShdw blurRad="88900" dist="38100" dir="5400000" algn="bl" rotWithShape="0">
              <a:srgbClr val="8894AD">
                <a:alpha val="28000"/>
              </a:srgbClr>
            </a:outerShdw>
          </a:effectLst>
        </p:spPr>
        <p:txBody>
          <a:bodyPr/>
          <a:lstStyle/>
          <a:p>
            <a:endParaRPr lang="en-MY"/>
          </a:p>
        </p:txBody>
      </p:sp>
      <p:sp>
        <p:nvSpPr>
          <p:cNvPr id="16" name="Text 12"/>
          <p:cNvSpPr/>
          <p:nvPr/>
        </p:nvSpPr>
        <p:spPr>
          <a:xfrm>
            <a:off x="1965960" y="3346704"/>
            <a:ext cx="4800600" cy="457200"/>
          </a:xfrm>
          <a:prstGeom prst="rect">
            <a:avLst/>
          </a:prstGeom>
          <a:noFill/>
          <a:ln/>
        </p:spPr>
        <p:txBody>
          <a:bodyPr wrap="square" lIns="0" tIns="0" rIns="0" bIns="0" rtlCol="0" anchor="t"/>
          <a:lstStyle/>
          <a:p>
            <a:pPr marL="0" indent="0">
              <a:buNone/>
            </a:pPr>
            <a:r>
              <a:rPr lang="en-US" sz="1450" b="1" dirty="0">
                <a:solidFill>
                  <a:srgbClr val="F2931F"/>
                </a:solidFill>
                <a:latin typeface="Calibri" pitchFamily="34" charset="0"/>
                <a:ea typeface="Calibri" pitchFamily="34" charset="-122"/>
                <a:cs typeface="Calibri" pitchFamily="34" charset="-120"/>
              </a:rPr>
              <a:t>3.  </a:t>
            </a:r>
            <a:r>
              <a:rPr lang="en-US" sz="1450" b="1" dirty="0">
                <a:solidFill>
                  <a:srgbClr val="262F65"/>
                </a:solidFill>
                <a:latin typeface="Calibri" pitchFamily="34" charset="0"/>
                <a:ea typeface="Calibri" pitchFamily="34" charset="-122"/>
                <a:cs typeface="Calibri" pitchFamily="34" charset="-120"/>
              </a:rPr>
              <a:t>Implement RBAC and MFA</a:t>
            </a:r>
            <a:endParaRPr lang="en-US" sz="1450" dirty="0"/>
          </a:p>
        </p:txBody>
      </p:sp>
      <p:sp>
        <p:nvSpPr>
          <p:cNvPr id="17" name="Text 13"/>
          <p:cNvSpPr/>
          <p:nvPr/>
        </p:nvSpPr>
        <p:spPr>
          <a:xfrm>
            <a:off x="1965960" y="3840480"/>
            <a:ext cx="4800600" cy="658368"/>
          </a:xfrm>
          <a:prstGeom prst="rect">
            <a:avLst/>
          </a:prstGeom>
          <a:noFill/>
          <a:ln/>
        </p:spPr>
        <p:txBody>
          <a:bodyPr wrap="square" lIns="0" tIns="0" rIns="0" bIns="0" rtlCol="0" anchor="t"/>
          <a:lstStyle/>
          <a:p>
            <a:pPr marL="0" indent="0">
              <a:buNone/>
            </a:pPr>
            <a:r>
              <a:rPr lang="en-US" sz="1200" dirty="0">
                <a:solidFill>
                  <a:srgbClr val="5B6472"/>
                </a:solidFill>
                <a:latin typeface="Calibri" pitchFamily="34" charset="0"/>
                <a:ea typeface="Calibri" pitchFamily="34" charset="-122"/>
                <a:cs typeface="Calibri" pitchFamily="34" charset="-120"/>
              </a:rPr>
              <a:t>Role-based access and multi-factor authentication.</a:t>
            </a:r>
            <a:endParaRPr lang="en-US" sz="1200" dirty="0"/>
          </a:p>
        </p:txBody>
      </p:sp>
      <p:sp>
        <p:nvSpPr>
          <p:cNvPr id="18" name="Shape 14"/>
          <p:cNvSpPr/>
          <p:nvPr/>
        </p:nvSpPr>
        <p:spPr>
          <a:xfrm>
            <a:off x="7315200" y="3182112"/>
            <a:ext cx="5257800" cy="1417320"/>
          </a:xfrm>
          <a:prstGeom prst="roundRect">
            <a:avLst>
              <a:gd name="adj" fmla="val 5806"/>
            </a:avLst>
          </a:prstGeom>
          <a:solidFill>
            <a:srgbClr val="F4F6FB"/>
          </a:solidFill>
          <a:ln/>
          <a:effectLst>
            <a:outerShdw blurRad="88900" dist="38100" dir="5400000" algn="bl" rotWithShape="0">
              <a:srgbClr val="8894AD">
                <a:alpha val="28000"/>
              </a:srgbClr>
            </a:outerShdw>
          </a:effectLst>
        </p:spPr>
        <p:txBody>
          <a:bodyPr/>
          <a:lstStyle/>
          <a:p>
            <a:endParaRPr lang="en-MY"/>
          </a:p>
        </p:txBody>
      </p:sp>
      <p:sp>
        <p:nvSpPr>
          <p:cNvPr id="19" name="Text 15"/>
          <p:cNvSpPr/>
          <p:nvPr/>
        </p:nvSpPr>
        <p:spPr>
          <a:xfrm>
            <a:off x="7543800" y="3346704"/>
            <a:ext cx="4800600" cy="457200"/>
          </a:xfrm>
          <a:prstGeom prst="rect">
            <a:avLst/>
          </a:prstGeom>
          <a:noFill/>
          <a:ln/>
        </p:spPr>
        <p:txBody>
          <a:bodyPr wrap="square" lIns="0" tIns="0" rIns="0" bIns="0" rtlCol="0" anchor="t"/>
          <a:lstStyle/>
          <a:p>
            <a:pPr marL="0" indent="0">
              <a:buNone/>
            </a:pPr>
            <a:r>
              <a:rPr lang="en-US" sz="1450" b="1" dirty="0">
                <a:solidFill>
                  <a:srgbClr val="F2931F"/>
                </a:solidFill>
                <a:latin typeface="Calibri" pitchFamily="34" charset="0"/>
                <a:ea typeface="Calibri" pitchFamily="34" charset="-122"/>
                <a:cs typeface="Calibri" pitchFamily="34" charset="-120"/>
              </a:rPr>
              <a:t>4.  </a:t>
            </a:r>
            <a:r>
              <a:rPr lang="en-US" sz="1450" b="1" dirty="0">
                <a:solidFill>
                  <a:srgbClr val="262F65"/>
                </a:solidFill>
                <a:latin typeface="Calibri" pitchFamily="34" charset="0"/>
                <a:ea typeface="Calibri" pitchFamily="34" charset="-122"/>
                <a:cs typeface="Calibri" pitchFamily="34" charset="-120"/>
              </a:rPr>
              <a:t>Apply the three access domains</a:t>
            </a:r>
            <a:endParaRPr lang="en-US" sz="1450" dirty="0"/>
          </a:p>
        </p:txBody>
      </p:sp>
      <p:sp>
        <p:nvSpPr>
          <p:cNvPr id="20" name="Text 16"/>
          <p:cNvSpPr/>
          <p:nvPr/>
        </p:nvSpPr>
        <p:spPr>
          <a:xfrm>
            <a:off x="7543800" y="3840480"/>
            <a:ext cx="4800600" cy="658368"/>
          </a:xfrm>
          <a:prstGeom prst="rect">
            <a:avLst/>
          </a:prstGeom>
          <a:noFill/>
          <a:ln/>
        </p:spPr>
        <p:txBody>
          <a:bodyPr wrap="square" lIns="0" tIns="0" rIns="0" bIns="0" rtlCol="0" anchor="t"/>
          <a:lstStyle/>
          <a:p>
            <a:pPr marL="0" indent="0">
              <a:buNone/>
            </a:pPr>
            <a:r>
              <a:rPr lang="en-US" sz="1200" dirty="0">
                <a:solidFill>
                  <a:srgbClr val="5B6472"/>
                </a:solidFill>
                <a:latin typeface="Calibri" pitchFamily="34" charset="0"/>
                <a:ea typeface="Calibri" pitchFamily="34" charset="-122"/>
                <a:cs typeface="Calibri" pitchFamily="34" charset="-120"/>
              </a:rPr>
              <a:t>Compute, network and storage controls.</a:t>
            </a:r>
            <a:endParaRPr lang="en-US" sz="1200" dirty="0"/>
          </a:p>
        </p:txBody>
      </p:sp>
      <p:sp>
        <p:nvSpPr>
          <p:cNvPr id="21" name="Shape 17"/>
          <p:cNvSpPr/>
          <p:nvPr/>
        </p:nvSpPr>
        <p:spPr>
          <a:xfrm>
            <a:off x="1737360" y="4718304"/>
            <a:ext cx="5257800" cy="1417320"/>
          </a:xfrm>
          <a:prstGeom prst="roundRect">
            <a:avLst>
              <a:gd name="adj" fmla="val 5806"/>
            </a:avLst>
          </a:prstGeom>
          <a:solidFill>
            <a:srgbClr val="F4F6FB"/>
          </a:solidFill>
          <a:ln/>
          <a:effectLst>
            <a:outerShdw blurRad="88900" dist="38100" dir="5400000" algn="bl" rotWithShape="0">
              <a:srgbClr val="8894AD">
                <a:alpha val="28000"/>
              </a:srgbClr>
            </a:outerShdw>
          </a:effectLst>
        </p:spPr>
        <p:txBody>
          <a:bodyPr/>
          <a:lstStyle/>
          <a:p>
            <a:endParaRPr lang="en-MY"/>
          </a:p>
        </p:txBody>
      </p:sp>
      <p:sp>
        <p:nvSpPr>
          <p:cNvPr id="22" name="Text 18"/>
          <p:cNvSpPr/>
          <p:nvPr/>
        </p:nvSpPr>
        <p:spPr>
          <a:xfrm>
            <a:off x="1965960" y="4882896"/>
            <a:ext cx="4800600" cy="457200"/>
          </a:xfrm>
          <a:prstGeom prst="rect">
            <a:avLst/>
          </a:prstGeom>
          <a:noFill/>
          <a:ln/>
        </p:spPr>
        <p:txBody>
          <a:bodyPr wrap="square" lIns="0" tIns="0" rIns="0" bIns="0" rtlCol="0" anchor="t"/>
          <a:lstStyle/>
          <a:p>
            <a:pPr marL="0" indent="0">
              <a:buNone/>
            </a:pPr>
            <a:r>
              <a:rPr lang="en-US" sz="1450" b="1" dirty="0">
                <a:solidFill>
                  <a:srgbClr val="F2931F"/>
                </a:solidFill>
                <a:latin typeface="Calibri" pitchFamily="34" charset="0"/>
                <a:ea typeface="Calibri" pitchFamily="34" charset="-122"/>
                <a:cs typeface="Calibri" pitchFamily="34" charset="-120"/>
              </a:rPr>
              <a:t>5.  </a:t>
            </a:r>
            <a:r>
              <a:rPr lang="en-US" sz="1450" b="1" dirty="0">
                <a:solidFill>
                  <a:srgbClr val="262F65"/>
                </a:solidFill>
                <a:latin typeface="Calibri" pitchFamily="34" charset="0"/>
                <a:ea typeface="Calibri" pitchFamily="34" charset="-122"/>
                <a:cs typeface="Calibri" pitchFamily="34" charset="-120"/>
              </a:rPr>
              <a:t>Apply system hardening</a:t>
            </a:r>
            <a:endParaRPr lang="en-US" sz="1450" dirty="0"/>
          </a:p>
        </p:txBody>
      </p:sp>
      <p:sp>
        <p:nvSpPr>
          <p:cNvPr id="23" name="Text 19"/>
          <p:cNvSpPr/>
          <p:nvPr/>
        </p:nvSpPr>
        <p:spPr>
          <a:xfrm>
            <a:off x="1965960" y="5376672"/>
            <a:ext cx="4800600" cy="658368"/>
          </a:xfrm>
          <a:prstGeom prst="rect">
            <a:avLst/>
          </a:prstGeom>
          <a:noFill/>
          <a:ln/>
        </p:spPr>
        <p:txBody>
          <a:bodyPr wrap="square" lIns="0" tIns="0" rIns="0" bIns="0" rtlCol="0" anchor="t"/>
          <a:lstStyle/>
          <a:p>
            <a:pPr marL="0" indent="0">
              <a:buNone/>
            </a:pPr>
            <a:r>
              <a:rPr lang="en-US" sz="1200" dirty="0">
                <a:solidFill>
                  <a:srgbClr val="5B6472"/>
                </a:solidFill>
                <a:latin typeface="Calibri" pitchFamily="34" charset="0"/>
                <a:ea typeface="Calibri" pitchFamily="34" charset="-122"/>
                <a:cs typeface="Calibri" pitchFamily="34" charset="-120"/>
              </a:rPr>
              <a:t>OS hardening, minimization, secure boot.</a:t>
            </a:r>
            <a:endParaRPr lang="en-US" sz="1200" dirty="0"/>
          </a:p>
        </p:txBody>
      </p:sp>
      <p:sp>
        <p:nvSpPr>
          <p:cNvPr id="24" name="Shape 20"/>
          <p:cNvSpPr/>
          <p:nvPr/>
        </p:nvSpPr>
        <p:spPr>
          <a:xfrm>
            <a:off x="7315200" y="4718304"/>
            <a:ext cx="5257800" cy="1417320"/>
          </a:xfrm>
          <a:prstGeom prst="roundRect">
            <a:avLst>
              <a:gd name="adj" fmla="val 5806"/>
            </a:avLst>
          </a:prstGeom>
          <a:solidFill>
            <a:srgbClr val="F4F6FB"/>
          </a:solidFill>
          <a:ln/>
          <a:effectLst>
            <a:outerShdw blurRad="88900" dist="38100" dir="5400000" algn="bl" rotWithShape="0">
              <a:srgbClr val="8894AD">
                <a:alpha val="28000"/>
              </a:srgbClr>
            </a:outerShdw>
          </a:effectLst>
        </p:spPr>
        <p:txBody>
          <a:bodyPr/>
          <a:lstStyle/>
          <a:p>
            <a:endParaRPr lang="en-MY"/>
          </a:p>
        </p:txBody>
      </p:sp>
      <p:sp>
        <p:nvSpPr>
          <p:cNvPr id="25" name="Text 21"/>
          <p:cNvSpPr/>
          <p:nvPr/>
        </p:nvSpPr>
        <p:spPr>
          <a:xfrm>
            <a:off x="7543800" y="4882896"/>
            <a:ext cx="4800600" cy="457200"/>
          </a:xfrm>
          <a:prstGeom prst="rect">
            <a:avLst/>
          </a:prstGeom>
          <a:noFill/>
          <a:ln/>
        </p:spPr>
        <p:txBody>
          <a:bodyPr wrap="square" lIns="0" tIns="0" rIns="0" bIns="0" rtlCol="0" anchor="t"/>
          <a:lstStyle/>
          <a:p>
            <a:pPr marL="0" indent="0">
              <a:buNone/>
            </a:pPr>
            <a:r>
              <a:rPr lang="en-US" sz="1450" b="1" dirty="0">
                <a:solidFill>
                  <a:srgbClr val="F2931F"/>
                </a:solidFill>
                <a:latin typeface="Calibri" pitchFamily="34" charset="0"/>
                <a:ea typeface="Calibri" pitchFamily="34" charset="-122"/>
                <a:cs typeface="Calibri" pitchFamily="34" charset="-120"/>
              </a:rPr>
              <a:t>6.  </a:t>
            </a:r>
            <a:r>
              <a:rPr lang="en-US" sz="1450" b="1" dirty="0">
                <a:solidFill>
                  <a:srgbClr val="262F65"/>
                </a:solidFill>
                <a:latin typeface="Calibri" pitchFamily="34" charset="0"/>
                <a:ea typeface="Calibri" pitchFamily="34" charset="-122"/>
                <a:cs typeface="Calibri" pitchFamily="34" charset="-120"/>
              </a:rPr>
              <a:t>Recognise access threats &amp; detection</a:t>
            </a:r>
            <a:endParaRPr lang="en-US" sz="1450" dirty="0"/>
          </a:p>
        </p:txBody>
      </p:sp>
      <p:sp>
        <p:nvSpPr>
          <p:cNvPr id="26" name="Text 22"/>
          <p:cNvSpPr/>
          <p:nvPr/>
        </p:nvSpPr>
        <p:spPr>
          <a:xfrm>
            <a:off x="7543800" y="5376672"/>
            <a:ext cx="4800600" cy="658368"/>
          </a:xfrm>
          <a:prstGeom prst="rect">
            <a:avLst/>
          </a:prstGeom>
          <a:noFill/>
          <a:ln/>
        </p:spPr>
        <p:txBody>
          <a:bodyPr wrap="square" lIns="0" tIns="0" rIns="0" bIns="0" rtlCol="0" anchor="t"/>
          <a:lstStyle/>
          <a:p>
            <a:pPr marL="0" indent="0">
              <a:buNone/>
            </a:pPr>
            <a:r>
              <a:rPr lang="en-US" sz="1200" dirty="0">
                <a:solidFill>
                  <a:srgbClr val="5B6472"/>
                </a:solidFill>
                <a:latin typeface="Calibri" pitchFamily="34" charset="0"/>
                <a:ea typeface="Calibri" pitchFamily="34" charset="-122"/>
                <a:cs typeface="Calibri" pitchFamily="34" charset="-120"/>
              </a:rPr>
              <a:t>Credential attacks; firewalls, IDS/IPS.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marL="0" indent="0">
              <a:buNone/>
            </a:pPr>
            <a:r>
              <a:rPr lang="en-US" sz="1150" b="1" kern="0" spc="200" dirty="0">
                <a:solidFill>
                  <a:srgbClr val="F2931F"/>
                </a:solidFill>
                <a:latin typeface="Calibri" pitchFamily="34" charset="0"/>
                <a:ea typeface="Calibri" pitchFamily="34" charset="-122"/>
                <a:cs typeface="Calibri" pitchFamily="34" charset="-120"/>
              </a:rPr>
              <a:t>CONSTRUCTIVE ALIGNMENT</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marL="0" indent="0">
              <a:buNone/>
            </a:pPr>
            <a:r>
              <a:rPr lang="en-US" sz="2600" b="1" dirty="0">
                <a:solidFill>
                  <a:srgbClr val="262F65"/>
                </a:solidFill>
                <a:latin typeface="Cambria" pitchFamily="34" charset="0"/>
                <a:ea typeface="Cambria" pitchFamily="34" charset="-122"/>
                <a:cs typeface="Cambria" pitchFamily="34" charset="-120"/>
              </a:rPr>
              <a:t>Curriculum alignment — CLO · PLO · MQF · clusters</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marL="0" indent="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2</a:t>
            </a:r>
            <a:endParaRPr lang="en-US" sz="900" dirty="0"/>
          </a:p>
        </p:txBody>
      </p:sp>
      <p:sp>
        <p:nvSpPr>
          <p:cNvPr id="7" name="Shape 4"/>
          <p:cNvSpPr/>
          <p:nvPr/>
        </p:nvSpPr>
        <p:spPr>
          <a:xfrm>
            <a:off x="640080" y="1508760"/>
            <a:ext cx="10881360" cy="1325880"/>
          </a:xfrm>
          <a:prstGeom prst="roundRect">
            <a:avLst>
              <a:gd name="adj" fmla="val 6207"/>
            </a:avLst>
          </a:prstGeom>
          <a:solidFill>
            <a:srgbClr val="262F65"/>
          </a:solidFill>
          <a:ln/>
          <a:effectLst>
            <a:outerShdw blurRad="88900" dist="38100" dir="5400000" algn="bl" rotWithShape="0">
              <a:srgbClr val="8894AD">
                <a:alpha val="28000"/>
              </a:srgbClr>
            </a:outerShdw>
          </a:effectLst>
        </p:spPr>
        <p:txBody>
          <a:bodyPr/>
          <a:lstStyle/>
          <a:p>
            <a:endParaRPr lang="en-MY"/>
          </a:p>
        </p:txBody>
      </p:sp>
      <p:sp>
        <p:nvSpPr>
          <p:cNvPr id="8" name="Shape 5"/>
          <p:cNvSpPr/>
          <p:nvPr/>
        </p:nvSpPr>
        <p:spPr>
          <a:xfrm>
            <a:off x="960120" y="1847088"/>
            <a:ext cx="1600200" cy="658368"/>
          </a:xfrm>
          <a:prstGeom prst="roundRect">
            <a:avLst>
              <a:gd name="adj" fmla="val 13889"/>
            </a:avLst>
          </a:prstGeom>
          <a:solidFill>
            <a:srgbClr val="FABA32"/>
          </a:solidFill>
          <a:ln/>
        </p:spPr>
        <p:txBody>
          <a:bodyPr/>
          <a:lstStyle/>
          <a:p>
            <a:endParaRPr lang="en-MY"/>
          </a:p>
        </p:txBody>
      </p:sp>
      <p:sp>
        <p:nvSpPr>
          <p:cNvPr id="9" name="Text 6"/>
          <p:cNvSpPr/>
          <p:nvPr/>
        </p:nvSpPr>
        <p:spPr>
          <a:xfrm>
            <a:off x="960120" y="1847088"/>
            <a:ext cx="1600200" cy="658368"/>
          </a:xfrm>
          <a:prstGeom prst="rect">
            <a:avLst/>
          </a:prstGeom>
          <a:noFill/>
          <a:ln/>
        </p:spPr>
        <p:txBody>
          <a:bodyPr wrap="square" lIns="0" tIns="0" rIns="0" bIns="0" rtlCol="0" anchor="ctr"/>
          <a:lstStyle/>
          <a:p>
            <a:pPr marL="0" indent="0" algn="ctr">
              <a:buNone/>
            </a:pPr>
            <a:r>
              <a:rPr lang="en-US" sz="2100" b="1" dirty="0">
                <a:solidFill>
                  <a:srgbClr val="262F65"/>
                </a:solidFill>
                <a:latin typeface="Cambria" pitchFamily="34" charset="0"/>
                <a:ea typeface="Cambria" pitchFamily="34" charset="-122"/>
                <a:cs typeface="Cambria" pitchFamily="34" charset="-120"/>
              </a:rPr>
              <a:t>CLO 2</a:t>
            </a:r>
            <a:endParaRPr lang="en-US" sz="2100" dirty="0"/>
          </a:p>
        </p:txBody>
      </p:sp>
      <p:sp>
        <p:nvSpPr>
          <p:cNvPr id="10" name="Text 7"/>
          <p:cNvSpPr/>
          <p:nvPr/>
        </p:nvSpPr>
        <p:spPr>
          <a:xfrm>
            <a:off x="2788920" y="1691640"/>
            <a:ext cx="8366760" cy="960120"/>
          </a:xfrm>
          <a:prstGeom prst="rect">
            <a:avLst/>
          </a:prstGeom>
          <a:noFill/>
          <a:ln/>
        </p:spPr>
        <p:txBody>
          <a:bodyPr wrap="square" lIns="0" tIns="0" rIns="0" bIns="0" rtlCol="0" anchor="ctr"/>
          <a:lstStyle/>
          <a:p>
            <a:pPr marL="0" indent="0">
              <a:buNone/>
            </a:pPr>
            <a:r>
              <a:rPr lang="en-US" sz="1550" dirty="0">
                <a:solidFill>
                  <a:srgbClr val="FFFFFF"/>
                </a:solidFill>
                <a:latin typeface="Calibri" pitchFamily="34" charset="0"/>
                <a:ea typeface="Calibri" pitchFamily="34" charset="-122"/>
                <a:cs typeface="Calibri" pitchFamily="34" charset="-120"/>
              </a:rPr>
              <a:t>Construct secure cloud computing operations that safeguard data integrity.</a:t>
            </a:r>
            <a:endParaRPr lang="en-US" sz="1550" dirty="0"/>
          </a:p>
        </p:txBody>
      </p:sp>
      <p:sp>
        <p:nvSpPr>
          <p:cNvPr id="11" name="Shape 8"/>
          <p:cNvSpPr/>
          <p:nvPr/>
        </p:nvSpPr>
        <p:spPr>
          <a:xfrm>
            <a:off x="640080" y="3108960"/>
            <a:ext cx="3456432" cy="2514600"/>
          </a:xfrm>
          <a:prstGeom prst="roundRect">
            <a:avLst>
              <a:gd name="adj" fmla="val 3273"/>
            </a:avLst>
          </a:prstGeom>
          <a:solidFill>
            <a:srgbClr val="F4F6FB"/>
          </a:solidFill>
          <a:ln/>
          <a:effectLst>
            <a:outerShdw blurRad="88900" dist="38100" dir="5400000" algn="bl" rotWithShape="0">
              <a:srgbClr val="8894AD">
                <a:alpha val="28000"/>
              </a:srgbClr>
            </a:outerShdw>
          </a:effectLst>
        </p:spPr>
        <p:txBody>
          <a:bodyPr/>
          <a:lstStyle/>
          <a:p>
            <a:endParaRPr lang="en-MY"/>
          </a:p>
        </p:txBody>
      </p:sp>
      <p:sp>
        <p:nvSpPr>
          <p:cNvPr id="12" name="Shape 9"/>
          <p:cNvSpPr/>
          <p:nvPr/>
        </p:nvSpPr>
        <p:spPr>
          <a:xfrm>
            <a:off x="2002536" y="3383280"/>
            <a:ext cx="731520" cy="731520"/>
          </a:xfrm>
          <a:prstGeom prst="ellipse">
            <a:avLst/>
          </a:prstGeom>
          <a:solidFill>
            <a:srgbClr val="262F65"/>
          </a:solidFill>
          <a:ln/>
        </p:spPr>
        <p:txBody>
          <a:bodyPr/>
          <a:lstStyle/>
          <a:p>
            <a:endParaRPr lang="en-MY"/>
          </a:p>
        </p:txBody>
      </p:sp>
      <p:pic>
        <p:nvPicPr>
          <p:cNvPr id="13" name="Image 0" descr="preencoded.png"/>
          <p:cNvPicPr>
            <a:picLocks noChangeAspect="1"/>
          </p:cNvPicPr>
          <p:nvPr/>
        </p:nvPicPr>
        <p:blipFill>
          <a:blip r:embed="rId3"/>
          <a:stretch>
            <a:fillRect/>
          </a:stretch>
        </p:blipFill>
        <p:spPr>
          <a:xfrm>
            <a:off x="2178101" y="3558845"/>
            <a:ext cx="380390" cy="380390"/>
          </a:xfrm>
          <a:prstGeom prst="rect">
            <a:avLst/>
          </a:prstGeom>
        </p:spPr>
      </p:pic>
      <p:sp>
        <p:nvSpPr>
          <p:cNvPr id="14" name="Text 10"/>
          <p:cNvSpPr/>
          <p:nvPr/>
        </p:nvSpPr>
        <p:spPr>
          <a:xfrm>
            <a:off x="731520" y="4206240"/>
            <a:ext cx="3273552" cy="457200"/>
          </a:xfrm>
          <a:prstGeom prst="rect">
            <a:avLst/>
          </a:prstGeom>
          <a:noFill/>
          <a:ln/>
        </p:spPr>
        <p:txBody>
          <a:bodyPr wrap="square" lIns="0" tIns="0" rIns="0" bIns="0" rtlCol="0" anchor="t"/>
          <a:lstStyle/>
          <a:p>
            <a:pPr marL="0" indent="0" algn="ctr">
              <a:buNone/>
            </a:pPr>
            <a:r>
              <a:rPr lang="en-US" sz="1300" b="1" dirty="0">
                <a:solidFill>
                  <a:srgbClr val="262F65"/>
                </a:solidFill>
                <a:latin typeface="Calibri" pitchFamily="34" charset="0"/>
                <a:ea typeface="Calibri" pitchFamily="34" charset="-122"/>
                <a:cs typeface="Calibri" pitchFamily="34" charset="-120"/>
              </a:rPr>
              <a:t>Programme outcome</a:t>
            </a:r>
            <a:endParaRPr lang="en-US" sz="1300" dirty="0"/>
          </a:p>
        </p:txBody>
      </p:sp>
      <p:sp>
        <p:nvSpPr>
          <p:cNvPr id="15" name="Text 11"/>
          <p:cNvSpPr/>
          <p:nvPr/>
        </p:nvSpPr>
        <p:spPr>
          <a:xfrm>
            <a:off x="749808" y="4681728"/>
            <a:ext cx="3236976" cy="822960"/>
          </a:xfrm>
          <a:prstGeom prst="rect">
            <a:avLst/>
          </a:prstGeom>
          <a:noFill/>
          <a:ln/>
        </p:spPr>
        <p:txBody>
          <a:bodyPr wrap="square" lIns="0" tIns="0" rIns="0" bIns="0" rtlCol="0" anchor="t"/>
          <a:lstStyle/>
          <a:p>
            <a:pPr marL="0" indent="0" algn="ctr">
              <a:lnSpc>
                <a:spcPct val="115000"/>
              </a:lnSpc>
              <a:buNone/>
            </a:pPr>
            <a:r>
              <a:rPr lang="en-US" sz="1100" dirty="0">
                <a:solidFill>
                  <a:srgbClr val="23283A"/>
                </a:solidFill>
                <a:latin typeface="Calibri" pitchFamily="34" charset="0"/>
                <a:ea typeface="Calibri" pitchFamily="34" charset="-122"/>
                <a:cs typeface="Calibri" pitchFamily="34" charset="-120"/>
              </a:rPr>
              <a:t>PLO2 · Cognitive Skills</a:t>
            </a:r>
            <a:endParaRPr lang="en-US" sz="1100" dirty="0"/>
          </a:p>
          <a:p>
            <a:pPr marL="0" indent="0" algn="ctr">
              <a:lnSpc>
                <a:spcPct val="115000"/>
              </a:lnSpc>
              <a:buNone/>
            </a:pPr>
            <a:r>
              <a:rPr lang="en-US" sz="1100" dirty="0">
                <a:solidFill>
                  <a:srgbClr val="23283A"/>
                </a:solidFill>
                <a:latin typeface="Calibri" pitchFamily="34" charset="0"/>
                <a:ea typeface="Calibri" pitchFamily="34" charset="-122"/>
                <a:cs typeface="Calibri" pitchFamily="34" charset="-120"/>
              </a:rPr>
              <a:t>MQF Level iii(a)</a:t>
            </a:r>
            <a:endParaRPr lang="en-US" sz="1100" dirty="0"/>
          </a:p>
          <a:p>
            <a:pPr marL="0" indent="0" algn="ctr">
              <a:lnSpc>
                <a:spcPct val="115000"/>
              </a:lnSpc>
              <a:buNone/>
            </a:pPr>
            <a:r>
              <a:rPr lang="en-US" sz="1100" dirty="0">
                <a:solidFill>
                  <a:srgbClr val="23283A"/>
                </a:solidFill>
                <a:latin typeface="Calibri" pitchFamily="34" charset="0"/>
                <a:ea typeface="Calibri" pitchFamily="34" charset="-122"/>
                <a:cs typeface="Calibri" pitchFamily="34" charset="-120"/>
              </a:rPr>
              <a:t>Bloom P3 (Precision)</a:t>
            </a:r>
            <a:endParaRPr lang="en-US" sz="1100" dirty="0"/>
          </a:p>
        </p:txBody>
      </p:sp>
      <p:sp>
        <p:nvSpPr>
          <p:cNvPr id="16" name="Shape 12"/>
          <p:cNvSpPr/>
          <p:nvPr/>
        </p:nvSpPr>
        <p:spPr>
          <a:xfrm>
            <a:off x="4352544" y="3108960"/>
            <a:ext cx="3456432" cy="2514600"/>
          </a:xfrm>
          <a:prstGeom prst="roundRect">
            <a:avLst>
              <a:gd name="adj" fmla="val 3273"/>
            </a:avLst>
          </a:prstGeom>
          <a:solidFill>
            <a:srgbClr val="F4F6FB"/>
          </a:solidFill>
          <a:ln/>
          <a:effectLst>
            <a:outerShdw blurRad="88900" dist="38100" dir="5400000" algn="bl" rotWithShape="0">
              <a:srgbClr val="8894AD">
                <a:alpha val="28000"/>
              </a:srgbClr>
            </a:outerShdw>
          </a:effectLst>
        </p:spPr>
        <p:txBody>
          <a:bodyPr/>
          <a:lstStyle/>
          <a:p>
            <a:endParaRPr lang="en-MY"/>
          </a:p>
        </p:txBody>
      </p:sp>
      <p:sp>
        <p:nvSpPr>
          <p:cNvPr id="17" name="Shape 13"/>
          <p:cNvSpPr/>
          <p:nvPr/>
        </p:nvSpPr>
        <p:spPr>
          <a:xfrm>
            <a:off x="5715000" y="3383280"/>
            <a:ext cx="731520" cy="731520"/>
          </a:xfrm>
          <a:prstGeom prst="ellipse">
            <a:avLst/>
          </a:prstGeom>
          <a:solidFill>
            <a:srgbClr val="F2931F"/>
          </a:solidFill>
          <a:ln/>
        </p:spPr>
        <p:txBody>
          <a:bodyPr/>
          <a:lstStyle/>
          <a:p>
            <a:endParaRPr lang="en-MY"/>
          </a:p>
        </p:txBody>
      </p:sp>
      <p:pic>
        <p:nvPicPr>
          <p:cNvPr id="18" name="Image 1" descr="preencoded.png"/>
          <p:cNvPicPr>
            <a:picLocks noChangeAspect="1"/>
          </p:cNvPicPr>
          <p:nvPr/>
        </p:nvPicPr>
        <p:blipFill>
          <a:blip r:embed="rId4"/>
          <a:stretch>
            <a:fillRect/>
          </a:stretch>
        </p:blipFill>
        <p:spPr>
          <a:xfrm>
            <a:off x="5890565" y="3558845"/>
            <a:ext cx="380390" cy="380390"/>
          </a:xfrm>
          <a:prstGeom prst="rect">
            <a:avLst/>
          </a:prstGeom>
        </p:spPr>
      </p:pic>
      <p:sp>
        <p:nvSpPr>
          <p:cNvPr id="19" name="Text 14"/>
          <p:cNvSpPr/>
          <p:nvPr/>
        </p:nvSpPr>
        <p:spPr>
          <a:xfrm>
            <a:off x="4443984" y="4206240"/>
            <a:ext cx="3273552" cy="457200"/>
          </a:xfrm>
          <a:prstGeom prst="rect">
            <a:avLst/>
          </a:prstGeom>
          <a:noFill/>
          <a:ln/>
        </p:spPr>
        <p:txBody>
          <a:bodyPr wrap="square" lIns="0" tIns="0" rIns="0" bIns="0" rtlCol="0" anchor="t"/>
          <a:lstStyle/>
          <a:p>
            <a:pPr marL="0" indent="0" algn="ctr">
              <a:buNone/>
            </a:pPr>
            <a:r>
              <a:rPr lang="en-US" sz="1300" b="1" dirty="0">
                <a:solidFill>
                  <a:srgbClr val="262F65"/>
                </a:solidFill>
                <a:latin typeface="Calibri" pitchFamily="34" charset="0"/>
                <a:ea typeface="Calibri" pitchFamily="34" charset="-122"/>
                <a:cs typeface="Calibri" pitchFamily="34" charset="-120"/>
              </a:rPr>
              <a:t>Values &amp; skills</a:t>
            </a:r>
            <a:endParaRPr lang="en-US" sz="1300" dirty="0"/>
          </a:p>
        </p:txBody>
      </p:sp>
      <p:sp>
        <p:nvSpPr>
          <p:cNvPr id="20" name="Text 15"/>
          <p:cNvSpPr/>
          <p:nvPr/>
        </p:nvSpPr>
        <p:spPr>
          <a:xfrm>
            <a:off x="4462272" y="4681728"/>
            <a:ext cx="3236976" cy="822960"/>
          </a:xfrm>
          <a:prstGeom prst="rect">
            <a:avLst/>
          </a:prstGeom>
          <a:noFill/>
          <a:ln/>
        </p:spPr>
        <p:txBody>
          <a:bodyPr wrap="square" lIns="0" tIns="0" rIns="0" bIns="0" rtlCol="0" anchor="t"/>
          <a:lstStyle/>
          <a:p>
            <a:pPr marL="0" indent="0" algn="ctr">
              <a:lnSpc>
                <a:spcPct val="115000"/>
              </a:lnSpc>
              <a:buNone/>
            </a:pPr>
            <a:r>
              <a:rPr lang="en-US" sz="1100" dirty="0">
                <a:solidFill>
                  <a:srgbClr val="23283A"/>
                </a:solidFill>
                <a:latin typeface="Calibri" pitchFamily="34" charset="0"/>
                <a:ea typeface="Calibri" pitchFamily="34" charset="-122"/>
                <a:cs typeface="Calibri" pitchFamily="34" charset="-120"/>
              </a:rPr>
              <a:t>VBE3 · Integrity</a:t>
            </a:r>
            <a:endParaRPr lang="en-US" sz="1100" dirty="0"/>
          </a:p>
          <a:p>
            <a:pPr marL="0" indent="0" algn="ctr">
              <a:lnSpc>
                <a:spcPct val="115000"/>
              </a:lnSpc>
              <a:buNone/>
            </a:pPr>
            <a:r>
              <a:rPr lang="en-US" sz="1100" dirty="0">
                <a:solidFill>
                  <a:srgbClr val="23283A"/>
                </a:solidFill>
                <a:latin typeface="Calibri" pitchFamily="34" charset="0"/>
                <a:ea typeface="Calibri" pitchFamily="34" charset="-122"/>
                <a:cs typeface="Calibri" pitchFamily="34" charset="-120"/>
              </a:rPr>
              <a:t>SC8 · Problem-Solving</a:t>
            </a:r>
            <a:endParaRPr lang="en-US" sz="1100" dirty="0"/>
          </a:p>
        </p:txBody>
      </p:sp>
      <p:sp>
        <p:nvSpPr>
          <p:cNvPr id="21" name="Shape 16"/>
          <p:cNvSpPr/>
          <p:nvPr/>
        </p:nvSpPr>
        <p:spPr>
          <a:xfrm>
            <a:off x="8065008" y="3108960"/>
            <a:ext cx="3456432" cy="2514600"/>
          </a:xfrm>
          <a:prstGeom prst="roundRect">
            <a:avLst>
              <a:gd name="adj" fmla="val 3273"/>
            </a:avLst>
          </a:prstGeom>
          <a:solidFill>
            <a:srgbClr val="F4F6FB"/>
          </a:solidFill>
          <a:ln/>
          <a:effectLst>
            <a:outerShdw blurRad="88900" dist="38100" dir="5400000" algn="bl" rotWithShape="0">
              <a:srgbClr val="8894AD">
                <a:alpha val="28000"/>
              </a:srgbClr>
            </a:outerShdw>
          </a:effectLst>
        </p:spPr>
        <p:txBody>
          <a:bodyPr/>
          <a:lstStyle/>
          <a:p>
            <a:endParaRPr lang="en-MY"/>
          </a:p>
        </p:txBody>
      </p:sp>
      <p:sp>
        <p:nvSpPr>
          <p:cNvPr id="22" name="Shape 17"/>
          <p:cNvSpPr/>
          <p:nvPr/>
        </p:nvSpPr>
        <p:spPr>
          <a:xfrm>
            <a:off x="9427464" y="3383280"/>
            <a:ext cx="731520" cy="731520"/>
          </a:xfrm>
          <a:prstGeom prst="ellipse">
            <a:avLst/>
          </a:prstGeom>
          <a:solidFill>
            <a:srgbClr val="262F65"/>
          </a:solidFill>
          <a:ln/>
        </p:spPr>
        <p:txBody>
          <a:bodyPr/>
          <a:lstStyle/>
          <a:p>
            <a:endParaRPr lang="en-MY"/>
          </a:p>
        </p:txBody>
      </p:sp>
      <p:pic>
        <p:nvPicPr>
          <p:cNvPr id="23" name="Image 2" descr="preencoded.png"/>
          <p:cNvPicPr>
            <a:picLocks noChangeAspect="1"/>
          </p:cNvPicPr>
          <p:nvPr/>
        </p:nvPicPr>
        <p:blipFill>
          <a:blip r:embed="rId5"/>
          <a:stretch>
            <a:fillRect/>
          </a:stretch>
        </p:blipFill>
        <p:spPr>
          <a:xfrm>
            <a:off x="9603029" y="3558845"/>
            <a:ext cx="380390" cy="380390"/>
          </a:xfrm>
          <a:prstGeom prst="rect">
            <a:avLst/>
          </a:prstGeom>
        </p:spPr>
      </p:pic>
      <p:sp>
        <p:nvSpPr>
          <p:cNvPr id="24" name="Text 18"/>
          <p:cNvSpPr/>
          <p:nvPr/>
        </p:nvSpPr>
        <p:spPr>
          <a:xfrm>
            <a:off x="8156448" y="4206240"/>
            <a:ext cx="3273552" cy="457200"/>
          </a:xfrm>
          <a:prstGeom prst="rect">
            <a:avLst/>
          </a:prstGeom>
          <a:noFill/>
          <a:ln/>
        </p:spPr>
        <p:txBody>
          <a:bodyPr wrap="square" lIns="0" tIns="0" rIns="0" bIns="0" rtlCol="0" anchor="t"/>
          <a:lstStyle/>
          <a:p>
            <a:pPr marL="0" indent="0" algn="ctr">
              <a:buNone/>
            </a:pPr>
            <a:r>
              <a:rPr lang="en-US" sz="1300" b="1" dirty="0">
                <a:solidFill>
                  <a:srgbClr val="262F65"/>
                </a:solidFill>
                <a:latin typeface="Calibri" pitchFamily="34" charset="0"/>
                <a:ea typeface="Calibri" pitchFamily="34" charset="-122"/>
                <a:cs typeface="Calibri" pitchFamily="34" charset="-120"/>
              </a:rPr>
              <a:t>Assessment</a:t>
            </a:r>
            <a:endParaRPr lang="en-US" sz="1300" dirty="0"/>
          </a:p>
        </p:txBody>
      </p:sp>
      <p:sp>
        <p:nvSpPr>
          <p:cNvPr id="25" name="Text 19"/>
          <p:cNvSpPr/>
          <p:nvPr/>
        </p:nvSpPr>
        <p:spPr>
          <a:xfrm>
            <a:off x="8174736" y="4681728"/>
            <a:ext cx="3236976" cy="822960"/>
          </a:xfrm>
          <a:prstGeom prst="rect">
            <a:avLst/>
          </a:prstGeom>
          <a:noFill/>
          <a:ln/>
        </p:spPr>
        <p:txBody>
          <a:bodyPr wrap="square" lIns="0" tIns="0" rIns="0" bIns="0" rtlCol="0" anchor="t"/>
          <a:lstStyle/>
          <a:p>
            <a:pPr marL="0" indent="0" algn="ctr">
              <a:lnSpc>
                <a:spcPct val="115000"/>
              </a:lnSpc>
              <a:buNone/>
            </a:pPr>
            <a:r>
              <a:rPr lang="en-US" sz="1100" dirty="0">
                <a:solidFill>
                  <a:srgbClr val="23283A"/>
                </a:solidFill>
                <a:latin typeface="Calibri" pitchFamily="34" charset="0"/>
                <a:ea typeface="Calibri" pitchFamily="34" charset="-122"/>
                <a:cs typeface="Calibri" pitchFamily="34" charset="-120"/>
              </a:rPr>
              <a:t>Lab Assignment (CLO2)</a:t>
            </a:r>
            <a:endParaRPr lang="en-US" sz="1100" dirty="0"/>
          </a:p>
        </p:txBody>
      </p:sp>
      <p:sp>
        <p:nvSpPr>
          <p:cNvPr id="26" name="Text 20"/>
          <p:cNvSpPr/>
          <p:nvPr/>
        </p:nvSpPr>
        <p:spPr>
          <a:xfrm>
            <a:off x="640080" y="5806440"/>
            <a:ext cx="10881360" cy="411480"/>
          </a:xfrm>
          <a:prstGeom prst="rect">
            <a:avLst/>
          </a:prstGeom>
          <a:noFill/>
          <a:ln/>
        </p:spPr>
        <p:txBody>
          <a:bodyPr wrap="square" lIns="0" tIns="0" rIns="0" bIns="0" rtlCol="0" anchor="ctr"/>
          <a:lstStyle/>
          <a:p>
            <a:pPr marL="0" indent="0" algn="ctr">
              <a:buNone/>
            </a:pPr>
            <a:r>
              <a:rPr lang="en-US" sz="1200" i="1" dirty="0">
                <a:solidFill>
                  <a:srgbClr val="5B6472"/>
                </a:solidFill>
                <a:latin typeface="Calibri" pitchFamily="34" charset="0"/>
                <a:ea typeface="Calibri" pitchFamily="34" charset="-122"/>
                <a:cs typeface="Calibri" pitchFamily="34" charset="-120"/>
              </a:rPr>
              <a:t>Constructive alignment: CLO → PLO → MQF, with VBE (values) and SC (skills) clusters, assessed as shown.</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62F65"/>
        </a:solidFill>
        <a:effectLst/>
      </p:bgPr>
    </p:bg>
    <p:spTree>
      <p:nvGrpSpPr>
        <p:cNvPr id="1" name=""/>
        <p:cNvGrpSpPr/>
        <p:nvPr/>
      </p:nvGrpSpPr>
      <p:grpSpPr>
        <a:xfrm>
          <a:off x="0" y="0"/>
          <a:ext cx="0" cy="0"/>
          <a:chOff x="0" y="0"/>
          <a:chExt cx="0" cy="0"/>
        </a:xfrm>
      </p:grpSpPr>
      <p:sp>
        <p:nvSpPr>
          <p:cNvPr id="2" name="Shape 0"/>
          <p:cNvSpPr/>
          <p:nvPr/>
        </p:nvSpPr>
        <p:spPr>
          <a:xfrm>
            <a:off x="-1280160" y="3931920"/>
            <a:ext cx="4023360" cy="4023360"/>
          </a:xfrm>
          <a:prstGeom prst="ellipse">
            <a:avLst/>
          </a:prstGeom>
          <a:solidFill>
            <a:srgbClr val="293E7B">
              <a:alpha val="45000"/>
            </a:srgbClr>
          </a:solidFill>
          <a:ln/>
        </p:spPr>
        <p:txBody>
          <a:bodyPr/>
          <a:lstStyle/>
          <a:p>
            <a:endParaRPr lang="en-MY"/>
          </a:p>
        </p:txBody>
      </p:sp>
      <p:pic>
        <p:nvPicPr>
          <p:cNvPr id="3" name="Image 0" descr="preencoded.png"/>
          <p:cNvPicPr>
            <a:picLocks noChangeAspect="1"/>
          </p:cNvPicPr>
          <p:nvPr/>
        </p:nvPicPr>
        <p:blipFill>
          <a:blip r:embed="rId3"/>
          <a:stretch>
            <a:fillRect/>
          </a:stretch>
        </p:blipFill>
        <p:spPr>
          <a:xfrm>
            <a:off x="7360920" y="1412421"/>
            <a:ext cx="4343400" cy="4033157"/>
          </a:xfrm>
          <a:prstGeom prst="rect">
            <a:avLst/>
          </a:prstGeom>
        </p:spPr>
      </p:pic>
      <p:sp>
        <p:nvSpPr>
          <p:cNvPr id="4" name="Text 1"/>
          <p:cNvSpPr/>
          <p:nvPr/>
        </p:nvSpPr>
        <p:spPr>
          <a:xfrm>
            <a:off x="640080" y="960120"/>
            <a:ext cx="4572000" cy="2194560"/>
          </a:xfrm>
          <a:prstGeom prst="rect">
            <a:avLst/>
          </a:prstGeom>
          <a:noFill/>
          <a:ln/>
        </p:spPr>
        <p:txBody>
          <a:bodyPr wrap="square" lIns="0" tIns="0" rIns="0" bIns="0" rtlCol="0" anchor="ctr"/>
          <a:lstStyle/>
          <a:p>
            <a:pPr marL="0" indent="0">
              <a:buNone/>
            </a:pPr>
            <a:r>
              <a:rPr lang="en-US" sz="14000" b="1" dirty="0">
                <a:solidFill>
                  <a:srgbClr val="FABA32"/>
                </a:solidFill>
                <a:latin typeface="Cambria" pitchFamily="34" charset="0"/>
                <a:ea typeface="Cambria" pitchFamily="34" charset="-122"/>
                <a:cs typeface="Cambria" pitchFamily="34" charset="-120"/>
              </a:rPr>
              <a:t>01</a:t>
            </a:r>
            <a:endParaRPr lang="en-US" sz="14000" dirty="0"/>
          </a:p>
        </p:txBody>
      </p:sp>
      <p:sp>
        <p:nvSpPr>
          <p:cNvPr id="5" name="Text 2"/>
          <p:cNvSpPr/>
          <p:nvPr/>
        </p:nvSpPr>
        <p:spPr>
          <a:xfrm>
            <a:off x="713232" y="3429000"/>
            <a:ext cx="6400800" cy="457200"/>
          </a:xfrm>
          <a:prstGeom prst="rect">
            <a:avLst/>
          </a:prstGeom>
          <a:noFill/>
          <a:ln/>
        </p:spPr>
        <p:txBody>
          <a:bodyPr wrap="square" lIns="0" tIns="0" rIns="0" bIns="0" rtlCol="0" anchor="ctr"/>
          <a:lstStyle/>
          <a:p>
            <a:pPr marL="0" indent="0">
              <a:buNone/>
            </a:pPr>
            <a:r>
              <a:rPr lang="en-US" sz="1500" b="1" kern="0" spc="300" dirty="0">
                <a:solidFill>
                  <a:srgbClr val="FABA32"/>
                </a:solidFill>
                <a:latin typeface="Calibri" pitchFamily="34" charset="0"/>
                <a:ea typeface="Calibri" pitchFamily="34" charset="-122"/>
                <a:cs typeface="Calibri" pitchFamily="34" charset="-120"/>
              </a:rPr>
              <a:t>PART 1</a:t>
            </a:r>
            <a:endParaRPr lang="en-US" sz="1500" dirty="0"/>
          </a:p>
        </p:txBody>
      </p:sp>
      <p:sp>
        <p:nvSpPr>
          <p:cNvPr id="6" name="Text 3"/>
          <p:cNvSpPr/>
          <p:nvPr/>
        </p:nvSpPr>
        <p:spPr>
          <a:xfrm>
            <a:off x="713232" y="3840480"/>
            <a:ext cx="6309360" cy="1828800"/>
          </a:xfrm>
          <a:prstGeom prst="rect">
            <a:avLst/>
          </a:prstGeom>
          <a:noFill/>
          <a:ln/>
        </p:spPr>
        <p:txBody>
          <a:bodyPr wrap="square" lIns="0" tIns="0" rIns="0" bIns="0" rtlCol="0" anchor="t"/>
          <a:lstStyle/>
          <a:p>
            <a:pPr marL="0" indent="0">
              <a:buNone/>
            </a:pPr>
            <a:r>
              <a:rPr lang="en-US" sz="3200" b="1" dirty="0">
                <a:solidFill>
                  <a:srgbClr val="FFFFFF"/>
                </a:solidFill>
                <a:latin typeface="Cambria" pitchFamily="34" charset="0"/>
                <a:ea typeface="Cambria" pitchFamily="34" charset="-122"/>
                <a:cs typeface="Cambria" pitchFamily="34" charset="-120"/>
              </a:rPr>
              <a:t>Access Control Fundamentals</a:t>
            </a:r>
            <a:endParaRPr lang="en-US" sz="3200" dirty="0"/>
          </a:p>
        </p:txBody>
      </p:sp>
      <p:pic>
        <p:nvPicPr>
          <p:cNvPr id="7" name="Image 1" descr="/sessions/inspiring-busy-dijkstra/mnt/outputs/build/assets/logo_white_trim.png"/>
          <p:cNvPicPr>
            <a:picLocks noChangeAspect="1"/>
          </p:cNvPicPr>
          <p:nvPr/>
        </p:nvPicPr>
        <p:blipFill>
          <a:blip r:embed="rId4"/>
          <a:stretch>
            <a:fillRect/>
          </a:stretch>
        </p:blipFill>
        <p:spPr>
          <a:xfrm>
            <a:off x="713232" y="5989320"/>
            <a:ext cx="1417320" cy="64396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marL="0" indent="0">
              <a:buNone/>
            </a:pPr>
            <a:r>
              <a:rPr lang="en-US" sz="1150" b="1" kern="0" spc="200" dirty="0">
                <a:solidFill>
                  <a:srgbClr val="F2931F"/>
                </a:solidFill>
                <a:latin typeface="Calibri" pitchFamily="34" charset="0"/>
                <a:ea typeface="Calibri" pitchFamily="34" charset="-122"/>
                <a:cs typeface="Calibri" pitchFamily="34" charset="-120"/>
              </a:rPr>
              <a:t>DEFINITION</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marL="0" indent="0">
              <a:buNone/>
            </a:pPr>
            <a:r>
              <a:rPr lang="en-US" sz="2600" b="1" dirty="0">
                <a:solidFill>
                  <a:srgbClr val="262F65"/>
                </a:solidFill>
                <a:latin typeface="Cambria" pitchFamily="34" charset="0"/>
                <a:ea typeface="Cambria" pitchFamily="34" charset="-122"/>
                <a:cs typeface="Cambria" pitchFamily="34" charset="-120"/>
              </a:rPr>
              <a:t>What is access control?</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marL="0" indent="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3</a:t>
            </a:r>
            <a:endParaRPr lang="en-US" sz="900" dirty="0"/>
          </a:p>
        </p:txBody>
      </p:sp>
      <p:sp>
        <p:nvSpPr>
          <p:cNvPr id="7" name="Text 4"/>
          <p:cNvSpPr/>
          <p:nvPr/>
        </p:nvSpPr>
        <p:spPr>
          <a:xfrm>
            <a:off x="640080" y="1645920"/>
            <a:ext cx="5760720" cy="1188720"/>
          </a:xfrm>
          <a:prstGeom prst="rect">
            <a:avLst/>
          </a:prstGeom>
          <a:noFill/>
          <a:ln/>
        </p:spPr>
        <p:txBody>
          <a:bodyPr wrap="square" lIns="0" tIns="0" rIns="0" bIns="0" rtlCol="0" anchor="t"/>
          <a:lstStyle/>
          <a:p>
            <a:pPr marL="0" indent="0">
              <a:buNone/>
            </a:pPr>
            <a:r>
              <a:rPr lang="en-US" sz="1700" dirty="0">
                <a:solidFill>
                  <a:srgbClr val="23283A"/>
                </a:solidFill>
                <a:latin typeface="Calibri" pitchFamily="34" charset="0"/>
                <a:ea typeface="Calibri" pitchFamily="34" charset="-122"/>
                <a:cs typeface="Calibri" pitchFamily="34" charset="-120"/>
              </a:rPr>
              <a:t>Restricting access to cloud resources so only authorised users reach systems and data.</a:t>
            </a:r>
            <a:endParaRPr lang="en-US" sz="1700" dirty="0"/>
          </a:p>
        </p:txBody>
      </p:sp>
      <p:sp>
        <p:nvSpPr>
          <p:cNvPr id="8" name="Shape 5"/>
          <p:cNvSpPr/>
          <p:nvPr/>
        </p:nvSpPr>
        <p:spPr>
          <a:xfrm>
            <a:off x="640080" y="3063240"/>
            <a:ext cx="146304" cy="146304"/>
          </a:xfrm>
          <a:prstGeom prst="ellipse">
            <a:avLst/>
          </a:prstGeom>
          <a:solidFill>
            <a:srgbClr val="F2931F"/>
          </a:solidFill>
          <a:ln/>
        </p:spPr>
        <p:txBody>
          <a:bodyPr/>
          <a:lstStyle/>
          <a:p>
            <a:endParaRPr lang="en-MY"/>
          </a:p>
        </p:txBody>
      </p:sp>
      <p:sp>
        <p:nvSpPr>
          <p:cNvPr id="9" name="Text 6"/>
          <p:cNvSpPr/>
          <p:nvPr/>
        </p:nvSpPr>
        <p:spPr>
          <a:xfrm>
            <a:off x="932688" y="3017520"/>
            <a:ext cx="5394960" cy="411480"/>
          </a:xfrm>
          <a:prstGeom prst="rect">
            <a:avLst/>
          </a:prstGeom>
          <a:noFill/>
          <a:ln/>
        </p:spPr>
        <p:txBody>
          <a:bodyPr wrap="square" lIns="0" tIns="0" rIns="0" bIns="0" rtlCol="0" anchor="ctr"/>
          <a:lstStyle/>
          <a:p>
            <a:pPr marL="0" indent="0">
              <a:buNone/>
            </a:pPr>
            <a:r>
              <a:rPr lang="en-US" sz="1400" dirty="0">
                <a:solidFill>
                  <a:srgbClr val="23283A"/>
                </a:solidFill>
                <a:latin typeface="Calibri" pitchFamily="34" charset="0"/>
                <a:ea typeface="Calibri" pitchFamily="34" charset="-122"/>
                <a:cs typeface="Calibri" pitchFamily="34" charset="-120"/>
              </a:rPr>
              <a:t>Right user, right access, right time</a:t>
            </a:r>
            <a:endParaRPr lang="en-US" sz="1400" dirty="0"/>
          </a:p>
        </p:txBody>
      </p:sp>
      <p:sp>
        <p:nvSpPr>
          <p:cNvPr id="10" name="Shape 7"/>
          <p:cNvSpPr/>
          <p:nvPr/>
        </p:nvSpPr>
        <p:spPr>
          <a:xfrm>
            <a:off x="640080" y="3611880"/>
            <a:ext cx="146304" cy="146304"/>
          </a:xfrm>
          <a:prstGeom prst="ellipse">
            <a:avLst/>
          </a:prstGeom>
          <a:solidFill>
            <a:srgbClr val="F2931F"/>
          </a:solidFill>
          <a:ln/>
        </p:spPr>
        <p:txBody>
          <a:bodyPr/>
          <a:lstStyle/>
          <a:p>
            <a:endParaRPr lang="en-MY"/>
          </a:p>
        </p:txBody>
      </p:sp>
      <p:sp>
        <p:nvSpPr>
          <p:cNvPr id="11" name="Text 8"/>
          <p:cNvSpPr/>
          <p:nvPr/>
        </p:nvSpPr>
        <p:spPr>
          <a:xfrm>
            <a:off x="932688" y="3566160"/>
            <a:ext cx="5394960" cy="411480"/>
          </a:xfrm>
          <a:prstGeom prst="rect">
            <a:avLst/>
          </a:prstGeom>
          <a:noFill/>
          <a:ln/>
        </p:spPr>
        <p:txBody>
          <a:bodyPr wrap="square" lIns="0" tIns="0" rIns="0" bIns="0" rtlCol="0" anchor="ctr"/>
          <a:lstStyle/>
          <a:p>
            <a:pPr marL="0" indent="0">
              <a:buNone/>
            </a:pPr>
            <a:r>
              <a:rPr lang="en-US" sz="1400" dirty="0">
                <a:solidFill>
                  <a:srgbClr val="23283A"/>
                </a:solidFill>
                <a:latin typeface="Calibri" pitchFamily="34" charset="0"/>
                <a:ea typeface="Calibri" pitchFamily="34" charset="-122"/>
                <a:cs typeface="Calibri" pitchFamily="34" charset="-120"/>
              </a:rPr>
              <a:t>The last line before an attacker reaches data</a:t>
            </a:r>
            <a:endParaRPr lang="en-US" sz="1400" dirty="0"/>
          </a:p>
        </p:txBody>
      </p:sp>
      <p:sp>
        <p:nvSpPr>
          <p:cNvPr id="12" name="Shape 9"/>
          <p:cNvSpPr/>
          <p:nvPr/>
        </p:nvSpPr>
        <p:spPr>
          <a:xfrm>
            <a:off x="640080" y="4160520"/>
            <a:ext cx="146304" cy="146304"/>
          </a:xfrm>
          <a:prstGeom prst="ellipse">
            <a:avLst/>
          </a:prstGeom>
          <a:solidFill>
            <a:srgbClr val="F2931F"/>
          </a:solidFill>
          <a:ln/>
        </p:spPr>
        <p:txBody>
          <a:bodyPr/>
          <a:lstStyle/>
          <a:p>
            <a:endParaRPr lang="en-MY"/>
          </a:p>
        </p:txBody>
      </p:sp>
      <p:sp>
        <p:nvSpPr>
          <p:cNvPr id="13" name="Text 10"/>
          <p:cNvSpPr/>
          <p:nvPr/>
        </p:nvSpPr>
        <p:spPr>
          <a:xfrm>
            <a:off x="932688" y="4114800"/>
            <a:ext cx="5394960" cy="411480"/>
          </a:xfrm>
          <a:prstGeom prst="rect">
            <a:avLst/>
          </a:prstGeom>
          <a:noFill/>
          <a:ln/>
        </p:spPr>
        <p:txBody>
          <a:bodyPr wrap="square" lIns="0" tIns="0" rIns="0" bIns="0" rtlCol="0" anchor="ctr"/>
          <a:lstStyle/>
          <a:p>
            <a:pPr marL="0" indent="0">
              <a:buNone/>
            </a:pPr>
            <a:r>
              <a:rPr lang="en-US" sz="1400" dirty="0">
                <a:solidFill>
                  <a:srgbClr val="23283A"/>
                </a:solidFill>
                <a:latin typeface="Calibri" pitchFamily="34" charset="0"/>
                <a:ea typeface="Calibri" pitchFamily="34" charset="-122"/>
                <a:cs typeface="Calibri" pitchFamily="34" charset="-120"/>
              </a:rPr>
              <a:t>Answers: who are you? what may you do?</a:t>
            </a:r>
            <a:endParaRPr lang="en-US" sz="1400" dirty="0"/>
          </a:p>
        </p:txBody>
      </p:sp>
      <p:sp>
        <p:nvSpPr>
          <p:cNvPr id="14" name="Shape 11"/>
          <p:cNvSpPr/>
          <p:nvPr/>
        </p:nvSpPr>
        <p:spPr>
          <a:xfrm>
            <a:off x="6720840" y="1600200"/>
            <a:ext cx="4800600" cy="3108960"/>
          </a:xfrm>
          <a:prstGeom prst="roundRect">
            <a:avLst>
              <a:gd name="adj" fmla="val 2647"/>
            </a:avLst>
          </a:prstGeom>
          <a:solidFill>
            <a:srgbClr val="262F65"/>
          </a:solidFill>
          <a:ln/>
          <a:effectLst>
            <a:outerShdw blurRad="88900" dist="38100" dir="5400000" algn="bl" rotWithShape="0">
              <a:srgbClr val="8894AD">
                <a:alpha val="28000"/>
              </a:srgbClr>
            </a:outerShdw>
          </a:effectLst>
        </p:spPr>
        <p:txBody>
          <a:bodyPr/>
          <a:lstStyle/>
          <a:p>
            <a:endParaRPr lang="en-MY"/>
          </a:p>
        </p:txBody>
      </p:sp>
      <p:sp>
        <p:nvSpPr>
          <p:cNvPr id="15" name="Shape 12"/>
          <p:cNvSpPr/>
          <p:nvPr/>
        </p:nvSpPr>
        <p:spPr>
          <a:xfrm>
            <a:off x="7086600" y="1920240"/>
            <a:ext cx="868680" cy="868680"/>
          </a:xfrm>
          <a:prstGeom prst="ellipse">
            <a:avLst/>
          </a:prstGeom>
          <a:solidFill>
            <a:srgbClr val="FABA32"/>
          </a:solidFill>
          <a:ln/>
        </p:spPr>
        <p:txBody>
          <a:bodyPr/>
          <a:lstStyle/>
          <a:p>
            <a:endParaRPr lang="en-MY"/>
          </a:p>
        </p:txBody>
      </p:sp>
      <p:pic>
        <p:nvPicPr>
          <p:cNvPr id="16" name="Image 0" descr="preencoded.png"/>
          <p:cNvPicPr>
            <a:picLocks noChangeAspect="1"/>
          </p:cNvPicPr>
          <p:nvPr/>
        </p:nvPicPr>
        <p:blipFill>
          <a:blip r:embed="rId3"/>
          <a:stretch>
            <a:fillRect/>
          </a:stretch>
        </p:blipFill>
        <p:spPr>
          <a:xfrm>
            <a:off x="7295083" y="2128723"/>
            <a:ext cx="451714" cy="451714"/>
          </a:xfrm>
          <a:prstGeom prst="rect">
            <a:avLst/>
          </a:prstGeom>
        </p:spPr>
      </p:pic>
      <p:sp>
        <p:nvSpPr>
          <p:cNvPr id="17" name="Text 13"/>
          <p:cNvSpPr/>
          <p:nvPr/>
        </p:nvSpPr>
        <p:spPr>
          <a:xfrm>
            <a:off x="7086600" y="2880360"/>
            <a:ext cx="4114800" cy="640080"/>
          </a:xfrm>
          <a:prstGeom prst="rect">
            <a:avLst/>
          </a:prstGeom>
          <a:noFill/>
          <a:ln/>
        </p:spPr>
        <p:txBody>
          <a:bodyPr wrap="square" lIns="0" tIns="0" rIns="0" bIns="0" rtlCol="0" anchor="t"/>
          <a:lstStyle/>
          <a:p>
            <a:pPr marL="0" indent="0">
              <a:buNone/>
            </a:pPr>
            <a:r>
              <a:rPr lang="en-US" sz="2000" b="1" dirty="0">
                <a:solidFill>
                  <a:srgbClr val="FFFFFF"/>
                </a:solidFill>
                <a:latin typeface="Cambria" pitchFamily="34" charset="0"/>
                <a:ea typeface="Cambria" pitchFamily="34" charset="-122"/>
                <a:cs typeface="Cambria" pitchFamily="34" charset="-120"/>
              </a:rPr>
              <a:t>Identity is the new perimeter.</a:t>
            </a:r>
            <a:endParaRPr lang="en-US" sz="2000" dirty="0"/>
          </a:p>
        </p:txBody>
      </p:sp>
      <p:sp>
        <p:nvSpPr>
          <p:cNvPr id="18" name="Text 14"/>
          <p:cNvSpPr/>
          <p:nvPr/>
        </p:nvSpPr>
        <p:spPr>
          <a:xfrm>
            <a:off x="7086600" y="3566160"/>
            <a:ext cx="4114800" cy="1005840"/>
          </a:xfrm>
          <a:prstGeom prst="rect">
            <a:avLst/>
          </a:prstGeom>
          <a:noFill/>
          <a:ln/>
        </p:spPr>
        <p:txBody>
          <a:bodyPr wrap="square" lIns="0" tIns="0" rIns="0" bIns="0" rtlCol="0" anchor="t"/>
          <a:lstStyle/>
          <a:p>
            <a:pPr marL="0" indent="0">
              <a:buNone/>
            </a:pPr>
            <a:r>
              <a:rPr lang="en-US" sz="1300" i="1" dirty="0">
                <a:solidFill>
                  <a:srgbClr val="B6E0F2"/>
                </a:solidFill>
                <a:latin typeface="Calibri" pitchFamily="34" charset="0"/>
                <a:ea typeface="Calibri" pitchFamily="34" charset="-122"/>
                <a:cs typeface="Calibri" pitchFamily="34" charset="-120"/>
              </a:rPr>
              <a:t>Resources are reachable from anywhere — so a stolen credential with broad rights is a full breach.</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marL="0" indent="0">
              <a:buNone/>
            </a:pPr>
            <a:r>
              <a:rPr lang="en-US" sz="1150" b="1" kern="0" spc="200" dirty="0">
                <a:solidFill>
                  <a:srgbClr val="F2931F"/>
                </a:solidFill>
                <a:latin typeface="Calibri" pitchFamily="34" charset="0"/>
                <a:ea typeface="Calibri" pitchFamily="34" charset="-122"/>
                <a:cs typeface="Calibri" pitchFamily="34" charset="-120"/>
              </a:rPr>
              <a:t>WHAT THE CLOUD DEMANDS</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marL="0" indent="0">
              <a:buNone/>
            </a:pPr>
            <a:r>
              <a:rPr lang="en-US" sz="2600" b="1" dirty="0">
                <a:solidFill>
                  <a:srgbClr val="262F65"/>
                </a:solidFill>
                <a:latin typeface="Cambria" pitchFamily="34" charset="0"/>
                <a:ea typeface="Cambria" pitchFamily="34" charset="-122"/>
                <a:cs typeface="Cambria" pitchFamily="34" charset="-120"/>
              </a:rPr>
              <a:t>Access-control requirements</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marL="0" indent="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4</a:t>
            </a:r>
            <a:endParaRPr lang="en-US" sz="900" dirty="0"/>
          </a:p>
        </p:txBody>
      </p:sp>
      <p:sp>
        <p:nvSpPr>
          <p:cNvPr id="7" name="Shape 4"/>
          <p:cNvSpPr/>
          <p:nvPr/>
        </p:nvSpPr>
        <p:spPr>
          <a:xfrm>
            <a:off x="640080" y="1783080"/>
            <a:ext cx="2535860" cy="3108960"/>
          </a:xfrm>
          <a:prstGeom prst="roundRect">
            <a:avLst>
              <a:gd name="adj" fmla="val 3245"/>
            </a:avLst>
          </a:prstGeom>
          <a:solidFill>
            <a:srgbClr val="F4F6FB"/>
          </a:solidFill>
          <a:ln/>
          <a:effectLst>
            <a:outerShdw blurRad="88900" dist="38100" dir="5400000" algn="bl" rotWithShape="0">
              <a:srgbClr val="8894AD">
                <a:alpha val="28000"/>
              </a:srgbClr>
            </a:outerShdw>
          </a:effectLst>
        </p:spPr>
        <p:txBody>
          <a:bodyPr/>
          <a:lstStyle/>
          <a:p>
            <a:endParaRPr lang="en-MY"/>
          </a:p>
        </p:txBody>
      </p:sp>
      <p:sp>
        <p:nvSpPr>
          <p:cNvPr id="8" name="Shape 5"/>
          <p:cNvSpPr/>
          <p:nvPr/>
        </p:nvSpPr>
        <p:spPr>
          <a:xfrm>
            <a:off x="1450810" y="2103120"/>
            <a:ext cx="914400" cy="914400"/>
          </a:xfrm>
          <a:prstGeom prst="ellipse">
            <a:avLst/>
          </a:prstGeom>
          <a:solidFill>
            <a:srgbClr val="262F65"/>
          </a:solidFill>
          <a:ln/>
        </p:spPr>
        <p:txBody>
          <a:bodyPr/>
          <a:lstStyle/>
          <a:p>
            <a:endParaRPr lang="en-MY"/>
          </a:p>
        </p:txBody>
      </p:sp>
      <p:pic>
        <p:nvPicPr>
          <p:cNvPr id="9" name="Image 0" descr="preencoded.png"/>
          <p:cNvPicPr>
            <a:picLocks noChangeAspect="1"/>
          </p:cNvPicPr>
          <p:nvPr/>
        </p:nvPicPr>
        <p:blipFill>
          <a:blip r:embed="rId3"/>
          <a:stretch>
            <a:fillRect/>
          </a:stretch>
        </p:blipFill>
        <p:spPr>
          <a:xfrm>
            <a:off x="1670266" y="2322576"/>
            <a:ext cx="475488" cy="475488"/>
          </a:xfrm>
          <a:prstGeom prst="rect">
            <a:avLst/>
          </a:prstGeom>
        </p:spPr>
      </p:pic>
      <p:sp>
        <p:nvSpPr>
          <p:cNvPr id="10" name="Text 6"/>
          <p:cNvSpPr/>
          <p:nvPr/>
        </p:nvSpPr>
        <p:spPr>
          <a:xfrm>
            <a:off x="749808" y="3154680"/>
            <a:ext cx="2316404" cy="640080"/>
          </a:xfrm>
          <a:prstGeom prst="rect">
            <a:avLst/>
          </a:prstGeom>
          <a:noFill/>
          <a:ln/>
        </p:spPr>
        <p:txBody>
          <a:bodyPr wrap="square" lIns="0" tIns="0" rIns="0" bIns="0" rtlCol="0" anchor="t"/>
          <a:lstStyle/>
          <a:p>
            <a:pPr marL="0" indent="0" algn="ctr">
              <a:buNone/>
            </a:pPr>
            <a:r>
              <a:rPr lang="en-US" sz="1700" b="1" dirty="0">
                <a:solidFill>
                  <a:srgbClr val="262F65"/>
                </a:solidFill>
                <a:latin typeface="Cambria" pitchFamily="34" charset="0"/>
                <a:ea typeface="Cambria" pitchFamily="34" charset="-122"/>
                <a:cs typeface="Cambria" pitchFamily="34" charset="-120"/>
              </a:rPr>
              <a:t>Strong identity mgmt</a:t>
            </a:r>
            <a:endParaRPr lang="en-US" sz="1700" dirty="0"/>
          </a:p>
        </p:txBody>
      </p:sp>
      <p:sp>
        <p:nvSpPr>
          <p:cNvPr id="11" name="Text 7"/>
          <p:cNvSpPr/>
          <p:nvPr/>
        </p:nvSpPr>
        <p:spPr>
          <a:xfrm>
            <a:off x="804672" y="3794760"/>
            <a:ext cx="2206676" cy="1005840"/>
          </a:xfrm>
          <a:prstGeom prst="rect">
            <a:avLst/>
          </a:prstGeom>
          <a:noFill/>
          <a:ln/>
        </p:spPr>
        <p:txBody>
          <a:bodyPr wrap="square" lIns="0" tIns="0" rIns="0" bIns="0" rtlCol="0" anchor="t"/>
          <a:lstStyle/>
          <a:p>
            <a:pPr marL="0" indent="0" algn="ctr">
              <a:buNone/>
            </a:pPr>
            <a:r>
              <a:rPr lang="en-US" sz="1250" dirty="0">
                <a:solidFill>
                  <a:srgbClr val="23283A"/>
                </a:solidFill>
                <a:latin typeface="Calibri" pitchFamily="34" charset="0"/>
                <a:ea typeface="Calibri" pitchFamily="34" charset="-122"/>
                <a:cs typeface="Calibri" pitchFamily="34" charset="-120"/>
              </a:rPr>
              <a:t>A reliable source of truth for identities (Lesson 7).</a:t>
            </a:r>
            <a:endParaRPr lang="en-US" sz="1250" dirty="0"/>
          </a:p>
        </p:txBody>
      </p:sp>
      <p:sp>
        <p:nvSpPr>
          <p:cNvPr id="12" name="Shape 8"/>
          <p:cNvSpPr/>
          <p:nvPr/>
        </p:nvSpPr>
        <p:spPr>
          <a:xfrm>
            <a:off x="3431972" y="1783080"/>
            <a:ext cx="2535860" cy="3108960"/>
          </a:xfrm>
          <a:prstGeom prst="roundRect">
            <a:avLst>
              <a:gd name="adj" fmla="val 3245"/>
            </a:avLst>
          </a:prstGeom>
          <a:solidFill>
            <a:srgbClr val="F4F6FB"/>
          </a:solidFill>
          <a:ln/>
          <a:effectLst>
            <a:outerShdw blurRad="88900" dist="38100" dir="5400000" algn="bl" rotWithShape="0">
              <a:srgbClr val="8894AD">
                <a:alpha val="28000"/>
              </a:srgbClr>
            </a:outerShdw>
          </a:effectLst>
        </p:spPr>
        <p:txBody>
          <a:bodyPr/>
          <a:lstStyle/>
          <a:p>
            <a:endParaRPr lang="en-MY"/>
          </a:p>
        </p:txBody>
      </p:sp>
      <p:sp>
        <p:nvSpPr>
          <p:cNvPr id="13" name="Shape 9"/>
          <p:cNvSpPr/>
          <p:nvPr/>
        </p:nvSpPr>
        <p:spPr>
          <a:xfrm>
            <a:off x="4242702" y="2103120"/>
            <a:ext cx="914400" cy="914400"/>
          </a:xfrm>
          <a:prstGeom prst="ellipse">
            <a:avLst/>
          </a:prstGeom>
          <a:solidFill>
            <a:srgbClr val="F2931F"/>
          </a:solidFill>
          <a:ln/>
        </p:spPr>
        <p:txBody>
          <a:bodyPr/>
          <a:lstStyle/>
          <a:p>
            <a:endParaRPr lang="en-MY"/>
          </a:p>
        </p:txBody>
      </p:sp>
      <p:pic>
        <p:nvPicPr>
          <p:cNvPr id="14" name="Image 1" descr="preencoded.png"/>
          <p:cNvPicPr>
            <a:picLocks noChangeAspect="1"/>
          </p:cNvPicPr>
          <p:nvPr/>
        </p:nvPicPr>
        <p:blipFill>
          <a:blip r:embed="rId4"/>
          <a:stretch>
            <a:fillRect/>
          </a:stretch>
        </p:blipFill>
        <p:spPr>
          <a:xfrm>
            <a:off x="4462158" y="2322576"/>
            <a:ext cx="475488" cy="475488"/>
          </a:xfrm>
          <a:prstGeom prst="rect">
            <a:avLst/>
          </a:prstGeom>
        </p:spPr>
      </p:pic>
      <p:sp>
        <p:nvSpPr>
          <p:cNvPr id="15" name="Text 10"/>
          <p:cNvSpPr/>
          <p:nvPr/>
        </p:nvSpPr>
        <p:spPr>
          <a:xfrm>
            <a:off x="3541700" y="3154680"/>
            <a:ext cx="2316404" cy="640080"/>
          </a:xfrm>
          <a:prstGeom prst="rect">
            <a:avLst/>
          </a:prstGeom>
          <a:noFill/>
          <a:ln/>
        </p:spPr>
        <p:txBody>
          <a:bodyPr wrap="square" lIns="0" tIns="0" rIns="0" bIns="0" rtlCol="0" anchor="t"/>
          <a:lstStyle/>
          <a:p>
            <a:pPr marL="0" indent="0" algn="ctr">
              <a:buNone/>
            </a:pPr>
            <a:r>
              <a:rPr lang="en-US" sz="1700" b="1" dirty="0">
                <a:solidFill>
                  <a:srgbClr val="262F65"/>
                </a:solidFill>
                <a:latin typeface="Cambria" pitchFamily="34" charset="0"/>
                <a:ea typeface="Cambria" pitchFamily="34" charset="-122"/>
                <a:cs typeface="Cambria" pitchFamily="34" charset="-120"/>
              </a:rPr>
              <a:t>Secure authentication</a:t>
            </a:r>
            <a:endParaRPr lang="en-US" sz="1700" dirty="0"/>
          </a:p>
        </p:txBody>
      </p:sp>
      <p:sp>
        <p:nvSpPr>
          <p:cNvPr id="16" name="Text 11"/>
          <p:cNvSpPr/>
          <p:nvPr/>
        </p:nvSpPr>
        <p:spPr>
          <a:xfrm>
            <a:off x="3596564" y="3794760"/>
            <a:ext cx="2206676" cy="1005840"/>
          </a:xfrm>
          <a:prstGeom prst="rect">
            <a:avLst/>
          </a:prstGeom>
          <a:noFill/>
          <a:ln/>
        </p:spPr>
        <p:txBody>
          <a:bodyPr wrap="square" lIns="0" tIns="0" rIns="0" bIns="0" rtlCol="0" anchor="t"/>
          <a:lstStyle/>
          <a:p>
            <a:pPr marL="0" indent="0" algn="ctr">
              <a:buNone/>
            </a:pPr>
            <a:r>
              <a:rPr lang="en-US" sz="1250" dirty="0">
                <a:solidFill>
                  <a:srgbClr val="23283A"/>
                </a:solidFill>
                <a:latin typeface="Calibri" pitchFamily="34" charset="0"/>
                <a:ea typeface="Calibri" pitchFamily="34" charset="-122"/>
                <a:cs typeface="Calibri" pitchFamily="34" charset="-120"/>
              </a:rPr>
              <a:t>Robust proof of identity — MFA as baseline.</a:t>
            </a:r>
            <a:endParaRPr lang="en-US" sz="1250" dirty="0"/>
          </a:p>
        </p:txBody>
      </p:sp>
      <p:sp>
        <p:nvSpPr>
          <p:cNvPr id="17" name="Shape 12"/>
          <p:cNvSpPr/>
          <p:nvPr/>
        </p:nvSpPr>
        <p:spPr>
          <a:xfrm>
            <a:off x="6223864" y="1783080"/>
            <a:ext cx="2535860" cy="3108960"/>
          </a:xfrm>
          <a:prstGeom prst="roundRect">
            <a:avLst>
              <a:gd name="adj" fmla="val 3245"/>
            </a:avLst>
          </a:prstGeom>
          <a:solidFill>
            <a:srgbClr val="F4F6FB"/>
          </a:solidFill>
          <a:ln/>
          <a:effectLst>
            <a:outerShdw blurRad="88900" dist="38100" dir="5400000" algn="bl" rotWithShape="0">
              <a:srgbClr val="8894AD">
                <a:alpha val="28000"/>
              </a:srgbClr>
            </a:outerShdw>
          </a:effectLst>
        </p:spPr>
        <p:txBody>
          <a:bodyPr/>
          <a:lstStyle/>
          <a:p>
            <a:endParaRPr lang="en-MY"/>
          </a:p>
        </p:txBody>
      </p:sp>
      <p:sp>
        <p:nvSpPr>
          <p:cNvPr id="18" name="Shape 13"/>
          <p:cNvSpPr/>
          <p:nvPr/>
        </p:nvSpPr>
        <p:spPr>
          <a:xfrm>
            <a:off x="7034594" y="2103120"/>
            <a:ext cx="914400" cy="914400"/>
          </a:xfrm>
          <a:prstGeom prst="ellipse">
            <a:avLst/>
          </a:prstGeom>
          <a:solidFill>
            <a:srgbClr val="293E7B"/>
          </a:solidFill>
          <a:ln/>
        </p:spPr>
        <p:txBody>
          <a:bodyPr/>
          <a:lstStyle/>
          <a:p>
            <a:endParaRPr lang="en-MY"/>
          </a:p>
        </p:txBody>
      </p:sp>
      <p:pic>
        <p:nvPicPr>
          <p:cNvPr id="19" name="Image 2" descr="preencoded.png"/>
          <p:cNvPicPr>
            <a:picLocks noChangeAspect="1"/>
          </p:cNvPicPr>
          <p:nvPr/>
        </p:nvPicPr>
        <p:blipFill>
          <a:blip r:embed="rId5"/>
          <a:stretch>
            <a:fillRect/>
          </a:stretch>
        </p:blipFill>
        <p:spPr>
          <a:xfrm>
            <a:off x="7254050" y="2322576"/>
            <a:ext cx="475488" cy="475488"/>
          </a:xfrm>
          <a:prstGeom prst="rect">
            <a:avLst/>
          </a:prstGeom>
        </p:spPr>
      </p:pic>
      <p:sp>
        <p:nvSpPr>
          <p:cNvPr id="20" name="Text 14"/>
          <p:cNvSpPr/>
          <p:nvPr/>
        </p:nvSpPr>
        <p:spPr>
          <a:xfrm>
            <a:off x="6333592" y="3154680"/>
            <a:ext cx="2316404" cy="640080"/>
          </a:xfrm>
          <a:prstGeom prst="rect">
            <a:avLst/>
          </a:prstGeom>
          <a:noFill/>
          <a:ln/>
        </p:spPr>
        <p:txBody>
          <a:bodyPr wrap="square" lIns="0" tIns="0" rIns="0" bIns="0" rtlCol="0" anchor="t"/>
          <a:lstStyle/>
          <a:p>
            <a:pPr marL="0" indent="0" algn="ctr">
              <a:buNone/>
            </a:pPr>
            <a:r>
              <a:rPr lang="en-US" sz="1700" b="1" dirty="0">
                <a:solidFill>
                  <a:srgbClr val="262F65"/>
                </a:solidFill>
                <a:latin typeface="Cambria" pitchFamily="34" charset="0"/>
                <a:ea typeface="Cambria" pitchFamily="34" charset="-122"/>
                <a:cs typeface="Cambria" pitchFamily="34" charset="-120"/>
              </a:rPr>
              <a:t>Fine-grained authorization</a:t>
            </a:r>
            <a:endParaRPr lang="en-US" sz="1700" dirty="0"/>
          </a:p>
        </p:txBody>
      </p:sp>
      <p:sp>
        <p:nvSpPr>
          <p:cNvPr id="21" name="Text 15"/>
          <p:cNvSpPr/>
          <p:nvPr/>
        </p:nvSpPr>
        <p:spPr>
          <a:xfrm>
            <a:off x="6388456" y="3794760"/>
            <a:ext cx="2206676" cy="1005840"/>
          </a:xfrm>
          <a:prstGeom prst="rect">
            <a:avLst/>
          </a:prstGeom>
          <a:noFill/>
          <a:ln/>
        </p:spPr>
        <p:txBody>
          <a:bodyPr wrap="square" lIns="0" tIns="0" rIns="0" bIns="0" rtlCol="0" anchor="t"/>
          <a:lstStyle/>
          <a:p>
            <a:pPr marL="0" indent="0" algn="ctr">
              <a:buNone/>
            </a:pPr>
            <a:r>
              <a:rPr lang="en-US" sz="1250" dirty="0">
                <a:solidFill>
                  <a:srgbClr val="23283A"/>
                </a:solidFill>
                <a:latin typeface="Calibri" pitchFamily="34" charset="0"/>
                <a:ea typeface="Calibri" pitchFamily="34" charset="-122"/>
                <a:cs typeface="Calibri" pitchFamily="34" charset="-120"/>
              </a:rPr>
              <a:t>Grant exactly what is needed — least privilege.</a:t>
            </a:r>
            <a:endParaRPr lang="en-US" sz="1250" dirty="0"/>
          </a:p>
        </p:txBody>
      </p:sp>
      <p:sp>
        <p:nvSpPr>
          <p:cNvPr id="22" name="Shape 16"/>
          <p:cNvSpPr/>
          <p:nvPr/>
        </p:nvSpPr>
        <p:spPr>
          <a:xfrm>
            <a:off x="9015755" y="1783080"/>
            <a:ext cx="2535860" cy="3108960"/>
          </a:xfrm>
          <a:prstGeom prst="roundRect">
            <a:avLst>
              <a:gd name="adj" fmla="val 3245"/>
            </a:avLst>
          </a:prstGeom>
          <a:solidFill>
            <a:srgbClr val="F4F6FB"/>
          </a:solidFill>
          <a:ln/>
          <a:effectLst>
            <a:outerShdw blurRad="88900" dist="38100" dir="5400000" algn="bl" rotWithShape="0">
              <a:srgbClr val="8894AD">
                <a:alpha val="28000"/>
              </a:srgbClr>
            </a:outerShdw>
          </a:effectLst>
        </p:spPr>
        <p:txBody>
          <a:bodyPr/>
          <a:lstStyle/>
          <a:p>
            <a:endParaRPr lang="en-MY"/>
          </a:p>
        </p:txBody>
      </p:sp>
      <p:sp>
        <p:nvSpPr>
          <p:cNvPr id="23" name="Shape 17"/>
          <p:cNvSpPr/>
          <p:nvPr/>
        </p:nvSpPr>
        <p:spPr>
          <a:xfrm>
            <a:off x="9826485" y="2103120"/>
            <a:ext cx="914400" cy="914400"/>
          </a:xfrm>
          <a:prstGeom prst="ellipse">
            <a:avLst/>
          </a:prstGeom>
          <a:solidFill>
            <a:srgbClr val="262F65"/>
          </a:solidFill>
          <a:ln/>
        </p:spPr>
        <p:txBody>
          <a:bodyPr/>
          <a:lstStyle/>
          <a:p>
            <a:endParaRPr lang="en-MY"/>
          </a:p>
        </p:txBody>
      </p:sp>
      <p:pic>
        <p:nvPicPr>
          <p:cNvPr id="24" name="Image 3" descr="preencoded.png"/>
          <p:cNvPicPr>
            <a:picLocks noChangeAspect="1"/>
          </p:cNvPicPr>
          <p:nvPr/>
        </p:nvPicPr>
        <p:blipFill>
          <a:blip r:embed="rId6"/>
          <a:stretch>
            <a:fillRect/>
          </a:stretch>
        </p:blipFill>
        <p:spPr>
          <a:xfrm>
            <a:off x="10045941" y="2322576"/>
            <a:ext cx="475488" cy="475488"/>
          </a:xfrm>
          <a:prstGeom prst="rect">
            <a:avLst/>
          </a:prstGeom>
        </p:spPr>
      </p:pic>
      <p:sp>
        <p:nvSpPr>
          <p:cNvPr id="25" name="Text 18"/>
          <p:cNvSpPr/>
          <p:nvPr/>
        </p:nvSpPr>
        <p:spPr>
          <a:xfrm>
            <a:off x="9125483" y="3154680"/>
            <a:ext cx="2316404" cy="640080"/>
          </a:xfrm>
          <a:prstGeom prst="rect">
            <a:avLst/>
          </a:prstGeom>
          <a:noFill/>
          <a:ln/>
        </p:spPr>
        <p:txBody>
          <a:bodyPr wrap="square" lIns="0" tIns="0" rIns="0" bIns="0" rtlCol="0" anchor="t"/>
          <a:lstStyle/>
          <a:p>
            <a:pPr marL="0" indent="0" algn="ctr">
              <a:buNone/>
            </a:pPr>
            <a:r>
              <a:rPr lang="en-US" sz="1700" b="1" dirty="0">
                <a:solidFill>
                  <a:srgbClr val="262F65"/>
                </a:solidFill>
                <a:latin typeface="Cambria" pitchFamily="34" charset="0"/>
                <a:ea typeface="Cambria" pitchFamily="34" charset="-122"/>
                <a:cs typeface="Cambria" pitchFamily="34" charset="-120"/>
              </a:rPr>
              <a:t>Continuous monitoring</a:t>
            </a:r>
            <a:endParaRPr lang="en-US" sz="1700" dirty="0"/>
          </a:p>
        </p:txBody>
      </p:sp>
      <p:sp>
        <p:nvSpPr>
          <p:cNvPr id="26" name="Text 19"/>
          <p:cNvSpPr/>
          <p:nvPr/>
        </p:nvSpPr>
        <p:spPr>
          <a:xfrm>
            <a:off x="9180347" y="3794760"/>
            <a:ext cx="2206676" cy="1005840"/>
          </a:xfrm>
          <a:prstGeom prst="rect">
            <a:avLst/>
          </a:prstGeom>
          <a:noFill/>
          <a:ln/>
        </p:spPr>
        <p:txBody>
          <a:bodyPr wrap="square" lIns="0" tIns="0" rIns="0" bIns="0" rtlCol="0" anchor="t"/>
          <a:lstStyle/>
          <a:p>
            <a:pPr marL="0" indent="0" algn="ctr">
              <a:buNone/>
            </a:pPr>
            <a:r>
              <a:rPr lang="en-US" sz="1250" dirty="0">
                <a:solidFill>
                  <a:srgbClr val="23283A"/>
                </a:solidFill>
                <a:latin typeface="Calibri" pitchFamily="34" charset="0"/>
                <a:ea typeface="Calibri" pitchFamily="34" charset="-122"/>
                <a:cs typeface="Calibri" pitchFamily="34" charset="-120"/>
              </a:rPr>
              <a:t>Watch access in real time to catch misuse.</a:t>
            </a:r>
            <a:endParaRPr lang="en-US" sz="1250" dirty="0"/>
          </a:p>
        </p:txBody>
      </p:sp>
      <p:sp>
        <p:nvSpPr>
          <p:cNvPr id="27" name="Text 20"/>
          <p:cNvSpPr/>
          <p:nvPr/>
        </p:nvSpPr>
        <p:spPr>
          <a:xfrm>
            <a:off x="640080" y="5074920"/>
            <a:ext cx="10881360" cy="457200"/>
          </a:xfrm>
          <a:prstGeom prst="rect">
            <a:avLst/>
          </a:prstGeom>
          <a:noFill/>
          <a:ln/>
        </p:spPr>
        <p:txBody>
          <a:bodyPr wrap="square" lIns="0" tIns="0" rIns="0" bIns="0" rtlCol="0" anchor="ctr"/>
          <a:lstStyle/>
          <a:p>
            <a:pPr marL="0" indent="0" algn="ctr">
              <a:buNone/>
            </a:pPr>
            <a:r>
              <a:rPr lang="en-US" sz="1400" i="1" dirty="0">
                <a:solidFill>
                  <a:srgbClr val="262F65"/>
                </a:solidFill>
                <a:latin typeface="Calibri" pitchFamily="34" charset="0"/>
                <a:ea typeface="Calibri" pitchFamily="34" charset="-122"/>
                <a:cs typeface="Calibri" pitchFamily="34" charset="-120"/>
              </a:rPr>
              <a:t>They work as a set — a weakness in any one undermines the others.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marL="0" indent="0">
              <a:buNone/>
            </a:pPr>
            <a:r>
              <a:rPr lang="en-US" sz="1150" b="1" kern="0" spc="200" dirty="0">
                <a:solidFill>
                  <a:srgbClr val="F2931F"/>
                </a:solidFill>
                <a:latin typeface="Calibri" pitchFamily="34" charset="0"/>
                <a:ea typeface="Calibri" pitchFamily="34" charset="-122"/>
                <a:cs typeface="Calibri" pitchFamily="34" charset="-120"/>
              </a:rPr>
              <a:t>GUIDING PRINCIPLES</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marL="0" indent="0">
              <a:buNone/>
            </a:pPr>
            <a:r>
              <a:rPr lang="en-US" sz="2600" b="1" dirty="0">
                <a:solidFill>
                  <a:srgbClr val="262F65"/>
                </a:solidFill>
                <a:latin typeface="Cambria" pitchFamily="34" charset="0"/>
                <a:ea typeface="Cambria" pitchFamily="34" charset="-122"/>
                <a:cs typeface="Cambria" pitchFamily="34" charset="-120"/>
              </a:rPr>
              <a:t>Principles of access control</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marL="0" indent="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5</a:t>
            </a:r>
            <a:endParaRPr lang="en-US" sz="900" dirty="0"/>
          </a:p>
        </p:txBody>
      </p:sp>
      <p:sp>
        <p:nvSpPr>
          <p:cNvPr id="7" name="Shape 4"/>
          <p:cNvSpPr/>
          <p:nvPr/>
        </p:nvSpPr>
        <p:spPr>
          <a:xfrm>
            <a:off x="640080" y="1783080"/>
            <a:ext cx="3466490" cy="3108960"/>
          </a:xfrm>
          <a:prstGeom prst="roundRect">
            <a:avLst>
              <a:gd name="adj" fmla="val 2647"/>
            </a:avLst>
          </a:prstGeom>
          <a:solidFill>
            <a:srgbClr val="F4F6FB"/>
          </a:solidFill>
          <a:ln/>
          <a:effectLst>
            <a:outerShdw blurRad="88900" dist="38100" dir="5400000" algn="bl" rotWithShape="0">
              <a:srgbClr val="8894AD">
                <a:alpha val="28000"/>
              </a:srgbClr>
            </a:outerShdw>
          </a:effectLst>
        </p:spPr>
        <p:txBody>
          <a:bodyPr/>
          <a:lstStyle/>
          <a:p>
            <a:endParaRPr lang="en-MY"/>
          </a:p>
        </p:txBody>
      </p:sp>
      <p:sp>
        <p:nvSpPr>
          <p:cNvPr id="8" name="Shape 5"/>
          <p:cNvSpPr/>
          <p:nvPr/>
        </p:nvSpPr>
        <p:spPr>
          <a:xfrm>
            <a:off x="1916125" y="2103120"/>
            <a:ext cx="914400" cy="914400"/>
          </a:xfrm>
          <a:prstGeom prst="ellipse">
            <a:avLst/>
          </a:prstGeom>
          <a:solidFill>
            <a:srgbClr val="262F65"/>
          </a:solidFill>
          <a:ln/>
        </p:spPr>
        <p:txBody>
          <a:bodyPr/>
          <a:lstStyle/>
          <a:p>
            <a:endParaRPr lang="en-MY"/>
          </a:p>
        </p:txBody>
      </p:sp>
      <p:pic>
        <p:nvPicPr>
          <p:cNvPr id="9" name="Image 0" descr="preencoded.png"/>
          <p:cNvPicPr>
            <a:picLocks noChangeAspect="1"/>
          </p:cNvPicPr>
          <p:nvPr/>
        </p:nvPicPr>
        <p:blipFill>
          <a:blip r:embed="rId3"/>
          <a:stretch>
            <a:fillRect/>
          </a:stretch>
        </p:blipFill>
        <p:spPr>
          <a:xfrm>
            <a:off x="2135581" y="2322576"/>
            <a:ext cx="475488" cy="475488"/>
          </a:xfrm>
          <a:prstGeom prst="rect">
            <a:avLst/>
          </a:prstGeom>
        </p:spPr>
      </p:pic>
      <p:sp>
        <p:nvSpPr>
          <p:cNvPr id="10" name="Text 6"/>
          <p:cNvSpPr/>
          <p:nvPr/>
        </p:nvSpPr>
        <p:spPr>
          <a:xfrm>
            <a:off x="749808" y="3154680"/>
            <a:ext cx="3247034" cy="640080"/>
          </a:xfrm>
          <a:prstGeom prst="rect">
            <a:avLst/>
          </a:prstGeom>
          <a:noFill/>
          <a:ln/>
        </p:spPr>
        <p:txBody>
          <a:bodyPr wrap="square" lIns="0" tIns="0" rIns="0" bIns="0" rtlCol="0" anchor="t"/>
          <a:lstStyle/>
          <a:p>
            <a:pPr marL="0" indent="0" algn="ctr">
              <a:buNone/>
            </a:pPr>
            <a:r>
              <a:rPr lang="en-US" sz="1700" b="1" dirty="0">
                <a:solidFill>
                  <a:srgbClr val="262F65"/>
                </a:solidFill>
                <a:latin typeface="Cambria" pitchFamily="34" charset="0"/>
                <a:ea typeface="Cambria" pitchFamily="34" charset="-122"/>
                <a:cs typeface="Cambria" pitchFamily="34" charset="-120"/>
              </a:rPr>
              <a:t>Least privilege</a:t>
            </a:r>
            <a:endParaRPr lang="en-US" sz="1700" dirty="0"/>
          </a:p>
        </p:txBody>
      </p:sp>
      <p:sp>
        <p:nvSpPr>
          <p:cNvPr id="11" name="Text 7"/>
          <p:cNvSpPr/>
          <p:nvPr/>
        </p:nvSpPr>
        <p:spPr>
          <a:xfrm>
            <a:off x="804672" y="3794760"/>
            <a:ext cx="3137306" cy="1005840"/>
          </a:xfrm>
          <a:prstGeom prst="rect">
            <a:avLst/>
          </a:prstGeom>
          <a:noFill/>
          <a:ln/>
        </p:spPr>
        <p:txBody>
          <a:bodyPr wrap="square" lIns="0" tIns="0" rIns="0" bIns="0" rtlCol="0" anchor="t"/>
          <a:lstStyle/>
          <a:p>
            <a:pPr marL="0" indent="0" algn="ctr">
              <a:buNone/>
            </a:pPr>
            <a:r>
              <a:rPr lang="en-US" sz="1250" dirty="0">
                <a:solidFill>
                  <a:srgbClr val="23283A"/>
                </a:solidFill>
                <a:latin typeface="Calibri" pitchFamily="34" charset="0"/>
                <a:ea typeface="Calibri" pitchFamily="34" charset="-122"/>
                <a:cs typeface="Calibri" pitchFamily="34" charset="-120"/>
              </a:rPr>
              <a:t>Grant the minimum access required — limits blast radius.</a:t>
            </a:r>
            <a:endParaRPr lang="en-US" sz="1250" dirty="0"/>
          </a:p>
        </p:txBody>
      </p:sp>
      <p:sp>
        <p:nvSpPr>
          <p:cNvPr id="12" name="Shape 8"/>
          <p:cNvSpPr/>
          <p:nvPr/>
        </p:nvSpPr>
        <p:spPr>
          <a:xfrm>
            <a:off x="4362602" y="1783080"/>
            <a:ext cx="3466490" cy="3108960"/>
          </a:xfrm>
          <a:prstGeom prst="roundRect">
            <a:avLst>
              <a:gd name="adj" fmla="val 2647"/>
            </a:avLst>
          </a:prstGeom>
          <a:solidFill>
            <a:srgbClr val="F4F6FB"/>
          </a:solidFill>
          <a:ln/>
          <a:effectLst>
            <a:outerShdw blurRad="88900" dist="38100" dir="5400000" algn="bl" rotWithShape="0">
              <a:srgbClr val="8894AD">
                <a:alpha val="28000"/>
              </a:srgbClr>
            </a:outerShdw>
          </a:effectLst>
        </p:spPr>
        <p:txBody>
          <a:bodyPr/>
          <a:lstStyle/>
          <a:p>
            <a:endParaRPr lang="en-MY"/>
          </a:p>
        </p:txBody>
      </p:sp>
      <p:sp>
        <p:nvSpPr>
          <p:cNvPr id="13" name="Shape 9"/>
          <p:cNvSpPr/>
          <p:nvPr/>
        </p:nvSpPr>
        <p:spPr>
          <a:xfrm>
            <a:off x="5638648" y="2103120"/>
            <a:ext cx="914400" cy="914400"/>
          </a:xfrm>
          <a:prstGeom prst="ellipse">
            <a:avLst/>
          </a:prstGeom>
          <a:solidFill>
            <a:srgbClr val="F2931F"/>
          </a:solidFill>
          <a:ln/>
        </p:spPr>
        <p:txBody>
          <a:bodyPr/>
          <a:lstStyle/>
          <a:p>
            <a:endParaRPr lang="en-MY"/>
          </a:p>
        </p:txBody>
      </p:sp>
      <p:pic>
        <p:nvPicPr>
          <p:cNvPr id="14" name="Image 1" descr="preencoded.png"/>
          <p:cNvPicPr>
            <a:picLocks noChangeAspect="1"/>
          </p:cNvPicPr>
          <p:nvPr/>
        </p:nvPicPr>
        <p:blipFill>
          <a:blip r:embed="rId4"/>
          <a:stretch>
            <a:fillRect/>
          </a:stretch>
        </p:blipFill>
        <p:spPr>
          <a:xfrm>
            <a:off x="5858104" y="2322576"/>
            <a:ext cx="475488" cy="475488"/>
          </a:xfrm>
          <a:prstGeom prst="rect">
            <a:avLst/>
          </a:prstGeom>
        </p:spPr>
      </p:pic>
      <p:sp>
        <p:nvSpPr>
          <p:cNvPr id="15" name="Text 10"/>
          <p:cNvSpPr/>
          <p:nvPr/>
        </p:nvSpPr>
        <p:spPr>
          <a:xfrm>
            <a:off x="4472330" y="3154680"/>
            <a:ext cx="3247034" cy="640080"/>
          </a:xfrm>
          <a:prstGeom prst="rect">
            <a:avLst/>
          </a:prstGeom>
          <a:noFill/>
          <a:ln/>
        </p:spPr>
        <p:txBody>
          <a:bodyPr wrap="square" lIns="0" tIns="0" rIns="0" bIns="0" rtlCol="0" anchor="t"/>
          <a:lstStyle/>
          <a:p>
            <a:pPr marL="0" indent="0" algn="ctr">
              <a:buNone/>
            </a:pPr>
            <a:r>
              <a:rPr lang="en-US" sz="1700" b="1" dirty="0">
                <a:solidFill>
                  <a:srgbClr val="262F65"/>
                </a:solidFill>
                <a:latin typeface="Cambria" pitchFamily="34" charset="0"/>
                <a:ea typeface="Cambria" pitchFamily="34" charset="-122"/>
                <a:cs typeface="Cambria" pitchFamily="34" charset="-120"/>
              </a:rPr>
              <a:t>Need-to-know</a:t>
            </a:r>
            <a:endParaRPr lang="en-US" sz="1700" dirty="0"/>
          </a:p>
        </p:txBody>
      </p:sp>
      <p:sp>
        <p:nvSpPr>
          <p:cNvPr id="16" name="Text 11"/>
          <p:cNvSpPr/>
          <p:nvPr/>
        </p:nvSpPr>
        <p:spPr>
          <a:xfrm>
            <a:off x="4527194" y="3794760"/>
            <a:ext cx="3137306" cy="1005840"/>
          </a:xfrm>
          <a:prstGeom prst="rect">
            <a:avLst/>
          </a:prstGeom>
          <a:noFill/>
          <a:ln/>
        </p:spPr>
        <p:txBody>
          <a:bodyPr wrap="square" lIns="0" tIns="0" rIns="0" bIns="0" rtlCol="0" anchor="t"/>
          <a:lstStyle/>
          <a:p>
            <a:pPr marL="0" indent="0" algn="ctr">
              <a:buNone/>
            </a:pPr>
            <a:r>
              <a:rPr lang="en-US" sz="1250" dirty="0">
                <a:solidFill>
                  <a:srgbClr val="23283A"/>
                </a:solidFill>
                <a:latin typeface="Calibri" pitchFamily="34" charset="0"/>
                <a:ea typeface="Calibri" pitchFamily="34" charset="-122"/>
                <a:cs typeface="Calibri" pitchFamily="34" charset="-120"/>
              </a:rPr>
              <a:t>Access only the specific data a task requires.</a:t>
            </a:r>
            <a:endParaRPr lang="en-US" sz="1250" dirty="0"/>
          </a:p>
        </p:txBody>
      </p:sp>
      <p:sp>
        <p:nvSpPr>
          <p:cNvPr id="17" name="Shape 12"/>
          <p:cNvSpPr/>
          <p:nvPr/>
        </p:nvSpPr>
        <p:spPr>
          <a:xfrm>
            <a:off x="8085125" y="1783080"/>
            <a:ext cx="3466490" cy="3108960"/>
          </a:xfrm>
          <a:prstGeom prst="roundRect">
            <a:avLst>
              <a:gd name="adj" fmla="val 2647"/>
            </a:avLst>
          </a:prstGeom>
          <a:solidFill>
            <a:srgbClr val="F4F6FB"/>
          </a:solidFill>
          <a:ln/>
          <a:effectLst>
            <a:outerShdw blurRad="88900" dist="38100" dir="5400000" algn="bl" rotWithShape="0">
              <a:srgbClr val="8894AD">
                <a:alpha val="28000"/>
              </a:srgbClr>
            </a:outerShdw>
          </a:effectLst>
        </p:spPr>
        <p:txBody>
          <a:bodyPr/>
          <a:lstStyle/>
          <a:p>
            <a:endParaRPr lang="en-MY"/>
          </a:p>
        </p:txBody>
      </p:sp>
      <p:sp>
        <p:nvSpPr>
          <p:cNvPr id="18" name="Shape 13"/>
          <p:cNvSpPr/>
          <p:nvPr/>
        </p:nvSpPr>
        <p:spPr>
          <a:xfrm>
            <a:off x="9361170" y="2103120"/>
            <a:ext cx="914400" cy="914400"/>
          </a:xfrm>
          <a:prstGeom prst="ellipse">
            <a:avLst/>
          </a:prstGeom>
          <a:solidFill>
            <a:srgbClr val="293E7B"/>
          </a:solidFill>
          <a:ln/>
        </p:spPr>
        <p:txBody>
          <a:bodyPr/>
          <a:lstStyle/>
          <a:p>
            <a:endParaRPr lang="en-MY"/>
          </a:p>
        </p:txBody>
      </p:sp>
      <p:pic>
        <p:nvPicPr>
          <p:cNvPr id="19" name="Image 2" descr="preencoded.png"/>
          <p:cNvPicPr>
            <a:picLocks noChangeAspect="1"/>
          </p:cNvPicPr>
          <p:nvPr/>
        </p:nvPicPr>
        <p:blipFill>
          <a:blip r:embed="rId5"/>
          <a:stretch>
            <a:fillRect/>
          </a:stretch>
        </p:blipFill>
        <p:spPr>
          <a:xfrm>
            <a:off x="9580626" y="2322576"/>
            <a:ext cx="475488" cy="475488"/>
          </a:xfrm>
          <a:prstGeom prst="rect">
            <a:avLst/>
          </a:prstGeom>
        </p:spPr>
      </p:pic>
      <p:sp>
        <p:nvSpPr>
          <p:cNvPr id="20" name="Text 14"/>
          <p:cNvSpPr/>
          <p:nvPr/>
        </p:nvSpPr>
        <p:spPr>
          <a:xfrm>
            <a:off x="8194853" y="3154680"/>
            <a:ext cx="3247034" cy="640080"/>
          </a:xfrm>
          <a:prstGeom prst="rect">
            <a:avLst/>
          </a:prstGeom>
          <a:noFill/>
          <a:ln/>
        </p:spPr>
        <p:txBody>
          <a:bodyPr wrap="square" lIns="0" tIns="0" rIns="0" bIns="0" rtlCol="0" anchor="t"/>
          <a:lstStyle/>
          <a:p>
            <a:pPr marL="0" indent="0" algn="ctr">
              <a:buNone/>
            </a:pPr>
            <a:r>
              <a:rPr lang="en-US" sz="1700" b="1" dirty="0">
                <a:solidFill>
                  <a:srgbClr val="262F65"/>
                </a:solidFill>
                <a:latin typeface="Cambria" pitchFamily="34" charset="0"/>
                <a:ea typeface="Cambria" pitchFamily="34" charset="-122"/>
                <a:cs typeface="Cambria" pitchFamily="34" charset="-120"/>
              </a:rPr>
              <a:t>Separation of duties</a:t>
            </a:r>
            <a:endParaRPr lang="en-US" sz="1700" dirty="0"/>
          </a:p>
        </p:txBody>
      </p:sp>
      <p:sp>
        <p:nvSpPr>
          <p:cNvPr id="21" name="Text 15"/>
          <p:cNvSpPr/>
          <p:nvPr/>
        </p:nvSpPr>
        <p:spPr>
          <a:xfrm>
            <a:off x="8249717" y="3794760"/>
            <a:ext cx="3137306" cy="1005840"/>
          </a:xfrm>
          <a:prstGeom prst="rect">
            <a:avLst/>
          </a:prstGeom>
          <a:noFill/>
          <a:ln/>
        </p:spPr>
        <p:txBody>
          <a:bodyPr wrap="square" lIns="0" tIns="0" rIns="0" bIns="0" rtlCol="0" anchor="t"/>
          <a:lstStyle/>
          <a:p>
            <a:pPr marL="0" indent="0" algn="ctr">
              <a:buNone/>
            </a:pPr>
            <a:r>
              <a:rPr lang="en-US" sz="1250" dirty="0">
                <a:solidFill>
                  <a:srgbClr val="23283A"/>
                </a:solidFill>
                <a:latin typeface="Calibri" pitchFamily="34" charset="0"/>
                <a:ea typeface="Calibri" pitchFamily="34" charset="-122"/>
                <a:cs typeface="Calibri" pitchFamily="34" charset="-120"/>
              </a:rPr>
              <a:t>Split critical actions — no one person acts alone.</a:t>
            </a:r>
            <a:endParaRPr lang="en-US" sz="1250" dirty="0"/>
          </a:p>
        </p:txBody>
      </p:sp>
      <p:sp>
        <p:nvSpPr>
          <p:cNvPr id="22" name="Text 16"/>
          <p:cNvSpPr/>
          <p:nvPr/>
        </p:nvSpPr>
        <p:spPr>
          <a:xfrm>
            <a:off x="640080" y="5074920"/>
            <a:ext cx="10881360" cy="457200"/>
          </a:xfrm>
          <a:prstGeom prst="rect">
            <a:avLst/>
          </a:prstGeom>
          <a:noFill/>
          <a:ln/>
        </p:spPr>
        <p:txBody>
          <a:bodyPr wrap="square" lIns="0" tIns="0" rIns="0" bIns="0" rtlCol="0" anchor="ctr"/>
          <a:lstStyle/>
          <a:p>
            <a:pPr marL="0" indent="0" algn="ctr">
              <a:buNone/>
            </a:pPr>
            <a:r>
              <a:rPr lang="en-US" sz="1400" i="1" dirty="0">
                <a:solidFill>
                  <a:srgbClr val="262F65"/>
                </a:solidFill>
                <a:latin typeface="Calibri" pitchFamily="34" charset="0"/>
                <a:ea typeface="Calibri" pitchFamily="34" charset="-122"/>
                <a:cs typeface="Calibri" pitchFamily="34" charset="-120"/>
              </a:rPr>
              <a:t>Together they minimise misuse — malicious or accidental.</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marL="0" indent="0">
              <a:buNone/>
            </a:pPr>
            <a:r>
              <a:rPr lang="en-US" sz="1150" b="1" kern="0" spc="200" dirty="0">
                <a:solidFill>
                  <a:srgbClr val="F2931F"/>
                </a:solidFill>
                <a:latin typeface="Calibri" pitchFamily="34" charset="0"/>
                <a:ea typeface="Calibri" pitchFamily="34" charset="-122"/>
                <a:cs typeface="Calibri" pitchFamily="34" charset="-120"/>
              </a:rPr>
              <a:t>THREAT LANDSCAPE</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marL="0" indent="0">
              <a:buNone/>
            </a:pPr>
            <a:r>
              <a:rPr lang="en-US" sz="2600" b="1" dirty="0">
                <a:solidFill>
                  <a:srgbClr val="262F65"/>
                </a:solidFill>
                <a:latin typeface="Cambria" pitchFamily="34" charset="0"/>
                <a:ea typeface="Cambria" pitchFamily="34" charset="-122"/>
                <a:cs typeface="Cambria" pitchFamily="34" charset="-120"/>
              </a:rPr>
              <a:t>Access threats &amp; attack vectors</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marL="0" indent="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6</a:t>
            </a:r>
            <a:endParaRPr lang="en-US" sz="900" dirty="0"/>
          </a:p>
        </p:txBody>
      </p:sp>
      <p:sp>
        <p:nvSpPr>
          <p:cNvPr id="7" name="Shape 4"/>
          <p:cNvSpPr/>
          <p:nvPr/>
        </p:nvSpPr>
        <p:spPr>
          <a:xfrm>
            <a:off x="640080" y="1737360"/>
            <a:ext cx="5349240" cy="3931920"/>
          </a:xfrm>
          <a:prstGeom prst="roundRect">
            <a:avLst>
              <a:gd name="adj" fmla="val 2093"/>
            </a:avLst>
          </a:prstGeom>
          <a:solidFill>
            <a:srgbClr val="F4F6FB"/>
          </a:solidFill>
          <a:ln/>
          <a:effectLst>
            <a:outerShdw blurRad="88900" dist="38100" dir="5400000" algn="bl" rotWithShape="0">
              <a:srgbClr val="8894AD">
                <a:alpha val="28000"/>
              </a:srgbClr>
            </a:outerShdw>
          </a:effectLst>
        </p:spPr>
        <p:txBody>
          <a:bodyPr/>
          <a:lstStyle/>
          <a:p>
            <a:endParaRPr lang="en-MY"/>
          </a:p>
        </p:txBody>
      </p:sp>
      <p:sp>
        <p:nvSpPr>
          <p:cNvPr id="8" name="Shape 5"/>
          <p:cNvSpPr/>
          <p:nvPr/>
        </p:nvSpPr>
        <p:spPr>
          <a:xfrm>
            <a:off x="960120" y="2057400"/>
            <a:ext cx="868680" cy="868680"/>
          </a:xfrm>
          <a:prstGeom prst="ellipse">
            <a:avLst/>
          </a:prstGeom>
          <a:solidFill>
            <a:srgbClr val="262F65"/>
          </a:solidFill>
          <a:ln/>
        </p:spPr>
        <p:txBody>
          <a:bodyPr/>
          <a:lstStyle/>
          <a:p>
            <a:endParaRPr lang="en-MY"/>
          </a:p>
        </p:txBody>
      </p:sp>
      <p:pic>
        <p:nvPicPr>
          <p:cNvPr id="9" name="Image 0" descr="preencoded.png"/>
          <p:cNvPicPr>
            <a:picLocks noChangeAspect="1"/>
          </p:cNvPicPr>
          <p:nvPr/>
        </p:nvPicPr>
        <p:blipFill>
          <a:blip r:embed="rId3"/>
          <a:stretch>
            <a:fillRect/>
          </a:stretch>
        </p:blipFill>
        <p:spPr>
          <a:xfrm>
            <a:off x="1168603" y="2265883"/>
            <a:ext cx="451714" cy="451714"/>
          </a:xfrm>
          <a:prstGeom prst="rect">
            <a:avLst/>
          </a:prstGeom>
        </p:spPr>
      </p:pic>
      <p:sp>
        <p:nvSpPr>
          <p:cNvPr id="10" name="Text 6"/>
          <p:cNvSpPr/>
          <p:nvPr/>
        </p:nvSpPr>
        <p:spPr>
          <a:xfrm>
            <a:off x="2011680" y="2121408"/>
            <a:ext cx="3703320" cy="777240"/>
          </a:xfrm>
          <a:prstGeom prst="rect">
            <a:avLst/>
          </a:prstGeom>
          <a:noFill/>
          <a:ln/>
        </p:spPr>
        <p:txBody>
          <a:bodyPr wrap="square" lIns="0" tIns="0" rIns="0" bIns="0" rtlCol="0" anchor="t"/>
          <a:lstStyle/>
          <a:p>
            <a:pPr marL="0" indent="0">
              <a:buNone/>
            </a:pPr>
            <a:r>
              <a:rPr lang="en-US" sz="1550" b="1" dirty="0">
                <a:solidFill>
                  <a:srgbClr val="262F65"/>
                </a:solidFill>
                <a:latin typeface="Calibri" pitchFamily="34" charset="0"/>
                <a:ea typeface="Calibri" pitchFamily="34" charset="-122"/>
                <a:cs typeface="Calibri" pitchFamily="34" charset="-120"/>
              </a:rPr>
              <a:t>Attack vectors</a:t>
            </a:r>
            <a:endParaRPr lang="en-US" sz="1550" dirty="0"/>
          </a:p>
        </p:txBody>
      </p:sp>
      <p:sp>
        <p:nvSpPr>
          <p:cNvPr id="11" name="Shape 7"/>
          <p:cNvSpPr/>
          <p:nvPr/>
        </p:nvSpPr>
        <p:spPr>
          <a:xfrm>
            <a:off x="1005840" y="3127248"/>
            <a:ext cx="128016" cy="128016"/>
          </a:xfrm>
          <a:prstGeom prst="ellipse">
            <a:avLst/>
          </a:prstGeom>
          <a:solidFill>
            <a:srgbClr val="262F65"/>
          </a:solidFill>
          <a:ln/>
        </p:spPr>
        <p:txBody>
          <a:bodyPr/>
          <a:lstStyle/>
          <a:p>
            <a:endParaRPr lang="en-MY"/>
          </a:p>
        </p:txBody>
      </p:sp>
      <p:sp>
        <p:nvSpPr>
          <p:cNvPr id="12" name="Text 8"/>
          <p:cNvSpPr/>
          <p:nvPr/>
        </p:nvSpPr>
        <p:spPr>
          <a:xfrm>
            <a:off x="1280160" y="3063240"/>
            <a:ext cx="4389120" cy="530352"/>
          </a:xfrm>
          <a:prstGeom prst="rect">
            <a:avLst/>
          </a:prstGeom>
          <a:noFill/>
          <a:ln/>
        </p:spPr>
        <p:txBody>
          <a:bodyPr wrap="square" lIns="0" tIns="0" rIns="0" bIns="0" rtlCol="0" anchor="ctr"/>
          <a:lstStyle/>
          <a:p>
            <a:pPr marL="0" indent="0">
              <a:buNone/>
            </a:pPr>
            <a:r>
              <a:rPr lang="en-US" sz="1250" b="1" dirty="0">
                <a:solidFill>
                  <a:srgbClr val="23283A"/>
                </a:solidFill>
                <a:latin typeface="Calibri" pitchFamily="34" charset="0"/>
                <a:ea typeface="Calibri" pitchFamily="34" charset="-122"/>
                <a:cs typeface="Calibri" pitchFamily="34" charset="-120"/>
              </a:rPr>
              <a:t>Credential theft — </a:t>
            </a:r>
            <a:r>
              <a:rPr lang="en-US" sz="1250" dirty="0">
                <a:solidFill>
                  <a:srgbClr val="5B6472"/>
                </a:solidFill>
                <a:latin typeface="Calibri" pitchFamily="34" charset="0"/>
                <a:ea typeface="Calibri" pitchFamily="34" charset="-122"/>
                <a:cs typeface="Calibri" pitchFamily="34" charset="-120"/>
              </a:rPr>
              <a:t>stolen usernames/passwords</a:t>
            </a:r>
            <a:endParaRPr lang="en-US" sz="1250" dirty="0"/>
          </a:p>
        </p:txBody>
      </p:sp>
      <p:sp>
        <p:nvSpPr>
          <p:cNvPr id="13" name="Shape 9"/>
          <p:cNvSpPr/>
          <p:nvPr/>
        </p:nvSpPr>
        <p:spPr>
          <a:xfrm>
            <a:off x="1005840" y="3694176"/>
            <a:ext cx="128016" cy="128016"/>
          </a:xfrm>
          <a:prstGeom prst="ellipse">
            <a:avLst/>
          </a:prstGeom>
          <a:solidFill>
            <a:srgbClr val="262F65"/>
          </a:solidFill>
          <a:ln/>
        </p:spPr>
        <p:txBody>
          <a:bodyPr/>
          <a:lstStyle/>
          <a:p>
            <a:endParaRPr lang="en-MY"/>
          </a:p>
        </p:txBody>
      </p:sp>
      <p:sp>
        <p:nvSpPr>
          <p:cNvPr id="14" name="Text 10"/>
          <p:cNvSpPr/>
          <p:nvPr/>
        </p:nvSpPr>
        <p:spPr>
          <a:xfrm>
            <a:off x="1280160" y="3630168"/>
            <a:ext cx="4389120" cy="530352"/>
          </a:xfrm>
          <a:prstGeom prst="rect">
            <a:avLst/>
          </a:prstGeom>
          <a:noFill/>
          <a:ln/>
        </p:spPr>
        <p:txBody>
          <a:bodyPr wrap="square" lIns="0" tIns="0" rIns="0" bIns="0" rtlCol="0" anchor="ctr"/>
          <a:lstStyle/>
          <a:p>
            <a:pPr marL="0" indent="0">
              <a:buNone/>
            </a:pPr>
            <a:r>
              <a:rPr lang="en-US" sz="1250" b="1" dirty="0">
                <a:solidFill>
                  <a:srgbClr val="23283A"/>
                </a:solidFill>
                <a:latin typeface="Calibri" pitchFamily="34" charset="0"/>
                <a:ea typeface="Calibri" pitchFamily="34" charset="-122"/>
                <a:cs typeface="Calibri" pitchFamily="34" charset="-120"/>
              </a:rPr>
              <a:t>Phishing — </a:t>
            </a:r>
            <a:r>
              <a:rPr lang="en-US" sz="1250" dirty="0">
                <a:solidFill>
                  <a:srgbClr val="5B6472"/>
                </a:solidFill>
                <a:latin typeface="Calibri" pitchFamily="34" charset="0"/>
                <a:ea typeface="Calibri" pitchFamily="34" charset="-122"/>
                <a:cs typeface="Calibri" pitchFamily="34" charset="-120"/>
              </a:rPr>
              <a:t>tricking users to surrender them</a:t>
            </a:r>
            <a:endParaRPr lang="en-US" sz="1250" dirty="0"/>
          </a:p>
        </p:txBody>
      </p:sp>
      <p:sp>
        <p:nvSpPr>
          <p:cNvPr id="15" name="Shape 11"/>
          <p:cNvSpPr/>
          <p:nvPr/>
        </p:nvSpPr>
        <p:spPr>
          <a:xfrm>
            <a:off x="1005840" y="4261104"/>
            <a:ext cx="128016" cy="128016"/>
          </a:xfrm>
          <a:prstGeom prst="ellipse">
            <a:avLst/>
          </a:prstGeom>
          <a:solidFill>
            <a:srgbClr val="262F65"/>
          </a:solidFill>
          <a:ln/>
        </p:spPr>
        <p:txBody>
          <a:bodyPr/>
          <a:lstStyle/>
          <a:p>
            <a:endParaRPr lang="en-MY"/>
          </a:p>
        </p:txBody>
      </p:sp>
      <p:sp>
        <p:nvSpPr>
          <p:cNvPr id="16" name="Text 12"/>
          <p:cNvSpPr/>
          <p:nvPr/>
        </p:nvSpPr>
        <p:spPr>
          <a:xfrm>
            <a:off x="1280160" y="4197096"/>
            <a:ext cx="4389120" cy="530352"/>
          </a:xfrm>
          <a:prstGeom prst="rect">
            <a:avLst/>
          </a:prstGeom>
          <a:noFill/>
          <a:ln/>
        </p:spPr>
        <p:txBody>
          <a:bodyPr wrap="square" lIns="0" tIns="0" rIns="0" bIns="0" rtlCol="0" anchor="ctr"/>
          <a:lstStyle/>
          <a:p>
            <a:pPr marL="0" indent="0">
              <a:buNone/>
            </a:pPr>
            <a:r>
              <a:rPr lang="en-US" sz="1250" b="1" dirty="0">
                <a:solidFill>
                  <a:srgbClr val="23283A"/>
                </a:solidFill>
                <a:latin typeface="Calibri" pitchFamily="34" charset="0"/>
                <a:ea typeface="Calibri" pitchFamily="34" charset="-122"/>
                <a:cs typeface="Calibri" pitchFamily="34" charset="-120"/>
              </a:rPr>
              <a:t>Brute force — </a:t>
            </a:r>
            <a:r>
              <a:rPr lang="en-US" sz="1250" dirty="0">
                <a:solidFill>
                  <a:srgbClr val="5B6472"/>
                </a:solidFill>
                <a:latin typeface="Calibri" pitchFamily="34" charset="0"/>
                <a:ea typeface="Calibri" pitchFamily="34" charset="-122"/>
                <a:cs typeface="Calibri" pitchFamily="34" charset="-120"/>
              </a:rPr>
              <a:t>guessing weak passwords</a:t>
            </a:r>
            <a:endParaRPr lang="en-US" sz="1250" dirty="0"/>
          </a:p>
        </p:txBody>
      </p:sp>
      <p:sp>
        <p:nvSpPr>
          <p:cNvPr id="17" name="Shape 13"/>
          <p:cNvSpPr/>
          <p:nvPr/>
        </p:nvSpPr>
        <p:spPr>
          <a:xfrm>
            <a:off x="1005840" y="4828032"/>
            <a:ext cx="128016" cy="128016"/>
          </a:xfrm>
          <a:prstGeom prst="ellipse">
            <a:avLst/>
          </a:prstGeom>
          <a:solidFill>
            <a:srgbClr val="262F65"/>
          </a:solidFill>
          <a:ln/>
        </p:spPr>
        <p:txBody>
          <a:bodyPr/>
          <a:lstStyle/>
          <a:p>
            <a:endParaRPr lang="en-MY"/>
          </a:p>
        </p:txBody>
      </p:sp>
      <p:sp>
        <p:nvSpPr>
          <p:cNvPr id="18" name="Text 14"/>
          <p:cNvSpPr/>
          <p:nvPr/>
        </p:nvSpPr>
        <p:spPr>
          <a:xfrm>
            <a:off x="1280160" y="4764024"/>
            <a:ext cx="4389120" cy="530352"/>
          </a:xfrm>
          <a:prstGeom prst="rect">
            <a:avLst/>
          </a:prstGeom>
          <a:noFill/>
          <a:ln/>
        </p:spPr>
        <p:txBody>
          <a:bodyPr wrap="square" lIns="0" tIns="0" rIns="0" bIns="0" rtlCol="0" anchor="ctr"/>
          <a:lstStyle/>
          <a:p>
            <a:pPr marL="0" indent="0">
              <a:buNone/>
            </a:pPr>
            <a:r>
              <a:rPr lang="en-US" sz="1250" b="1" dirty="0">
                <a:solidFill>
                  <a:srgbClr val="23283A"/>
                </a:solidFill>
                <a:latin typeface="Calibri" pitchFamily="34" charset="0"/>
                <a:ea typeface="Calibri" pitchFamily="34" charset="-122"/>
                <a:cs typeface="Calibri" pitchFamily="34" charset="-120"/>
              </a:rPr>
              <a:t>Session hijacking — </a:t>
            </a:r>
            <a:r>
              <a:rPr lang="en-US" sz="1250" dirty="0">
                <a:solidFill>
                  <a:srgbClr val="5B6472"/>
                </a:solidFill>
                <a:latin typeface="Calibri" pitchFamily="34" charset="0"/>
                <a:ea typeface="Calibri" pitchFamily="34" charset="-122"/>
                <a:cs typeface="Calibri" pitchFamily="34" charset="-120"/>
              </a:rPr>
              <a:t>stealing an active token</a:t>
            </a:r>
            <a:endParaRPr lang="en-US" sz="1250" dirty="0"/>
          </a:p>
        </p:txBody>
      </p:sp>
      <p:sp>
        <p:nvSpPr>
          <p:cNvPr id="19" name="Shape 15"/>
          <p:cNvSpPr/>
          <p:nvPr/>
        </p:nvSpPr>
        <p:spPr>
          <a:xfrm>
            <a:off x="6355080" y="1737360"/>
            <a:ext cx="5349240" cy="3931920"/>
          </a:xfrm>
          <a:prstGeom prst="roundRect">
            <a:avLst>
              <a:gd name="adj" fmla="val 2093"/>
            </a:avLst>
          </a:prstGeom>
          <a:solidFill>
            <a:srgbClr val="F4F6FB"/>
          </a:solidFill>
          <a:ln/>
          <a:effectLst>
            <a:outerShdw blurRad="88900" dist="38100" dir="5400000" algn="bl" rotWithShape="0">
              <a:srgbClr val="8894AD">
                <a:alpha val="28000"/>
              </a:srgbClr>
            </a:outerShdw>
          </a:effectLst>
        </p:spPr>
        <p:txBody>
          <a:bodyPr/>
          <a:lstStyle/>
          <a:p>
            <a:endParaRPr lang="en-MY"/>
          </a:p>
        </p:txBody>
      </p:sp>
      <p:sp>
        <p:nvSpPr>
          <p:cNvPr id="20" name="Shape 16"/>
          <p:cNvSpPr/>
          <p:nvPr/>
        </p:nvSpPr>
        <p:spPr>
          <a:xfrm>
            <a:off x="6675120" y="2057400"/>
            <a:ext cx="868680" cy="868680"/>
          </a:xfrm>
          <a:prstGeom prst="ellipse">
            <a:avLst/>
          </a:prstGeom>
          <a:solidFill>
            <a:srgbClr val="F2931F"/>
          </a:solidFill>
          <a:ln/>
        </p:spPr>
        <p:txBody>
          <a:bodyPr/>
          <a:lstStyle/>
          <a:p>
            <a:endParaRPr lang="en-MY"/>
          </a:p>
        </p:txBody>
      </p:sp>
      <p:pic>
        <p:nvPicPr>
          <p:cNvPr id="21" name="Image 1" descr="preencoded.png"/>
          <p:cNvPicPr>
            <a:picLocks noChangeAspect="1"/>
          </p:cNvPicPr>
          <p:nvPr/>
        </p:nvPicPr>
        <p:blipFill>
          <a:blip r:embed="rId4"/>
          <a:stretch>
            <a:fillRect/>
          </a:stretch>
        </p:blipFill>
        <p:spPr>
          <a:xfrm>
            <a:off x="6883603" y="2265883"/>
            <a:ext cx="451714" cy="451714"/>
          </a:xfrm>
          <a:prstGeom prst="rect">
            <a:avLst/>
          </a:prstGeom>
        </p:spPr>
      </p:pic>
      <p:sp>
        <p:nvSpPr>
          <p:cNvPr id="22" name="Text 17"/>
          <p:cNvSpPr/>
          <p:nvPr/>
        </p:nvSpPr>
        <p:spPr>
          <a:xfrm>
            <a:off x="7726680" y="2121408"/>
            <a:ext cx="3703320" cy="777240"/>
          </a:xfrm>
          <a:prstGeom prst="rect">
            <a:avLst/>
          </a:prstGeom>
          <a:noFill/>
          <a:ln/>
        </p:spPr>
        <p:txBody>
          <a:bodyPr wrap="square" lIns="0" tIns="0" rIns="0" bIns="0" rtlCol="0" anchor="t"/>
          <a:lstStyle/>
          <a:p>
            <a:pPr marL="0" indent="0">
              <a:buNone/>
            </a:pPr>
            <a:r>
              <a:rPr lang="en-US" sz="1550" b="1" dirty="0">
                <a:solidFill>
                  <a:srgbClr val="262F65"/>
                </a:solidFill>
                <a:latin typeface="Calibri" pitchFamily="34" charset="0"/>
                <a:ea typeface="Calibri" pitchFamily="34" charset="-122"/>
                <a:cs typeface="Calibri" pitchFamily="34" charset="-120"/>
              </a:rPr>
              <a:t>Cloud access threats</a:t>
            </a:r>
            <a:endParaRPr lang="en-US" sz="1550" dirty="0"/>
          </a:p>
        </p:txBody>
      </p:sp>
      <p:sp>
        <p:nvSpPr>
          <p:cNvPr id="23" name="Shape 18"/>
          <p:cNvSpPr/>
          <p:nvPr/>
        </p:nvSpPr>
        <p:spPr>
          <a:xfrm>
            <a:off x="6720840" y="3127248"/>
            <a:ext cx="128016" cy="128016"/>
          </a:xfrm>
          <a:prstGeom prst="ellipse">
            <a:avLst/>
          </a:prstGeom>
          <a:solidFill>
            <a:srgbClr val="F2931F"/>
          </a:solidFill>
          <a:ln/>
        </p:spPr>
        <p:txBody>
          <a:bodyPr/>
          <a:lstStyle/>
          <a:p>
            <a:endParaRPr lang="en-MY"/>
          </a:p>
        </p:txBody>
      </p:sp>
      <p:sp>
        <p:nvSpPr>
          <p:cNvPr id="24" name="Text 19"/>
          <p:cNvSpPr/>
          <p:nvPr/>
        </p:nvSpPr>
        <p:spPr>
          <a:xfrm>
            <a:off x="6995160" y="3063240"/>
            <a:ext cx="4389120" cy="530352"/>
          </a:xfrm>
          <a:prstGeom prst="rect">
            <a:avLst/>
          </a:prstGeom>
          <a:noFill/>
          <a:ln/>
        </p:spPr>
        <p:txBody>
          <a:bodyPr wrap="square" lIns="0" tIns="0" rIns="0" bIns="0" rtlCol="0" anchor="ctr"/>
          <a:lstStyle/>
          <a:p>
            <a:pPr marL="0" indent="0">
              <a:buNone/>
            </a:pPr>
            <a:r>
              <a:rPr lang="en-US" sz="1250" b="1" dirty="0">
                <a:solidFill>
                  <a:srgbClr val="23283A"/>
                </a:solidFill>
                <a:latin typeface="Calibri" pitchFamily="34" charset="0"/>
                <a:ea typeface="Calibri" pitchFamily="34" charset="-122"/>
                <a:cs typeface="Calibri" pitchFamily="34" charset="-120"/>
              </a:rPr>
              <a:t>Account hijacking — </a:t>
            </a:r>
            <a:r>
              <a:rPr lang="en-US" sz="1250" dirty="0">
                <a:solidFill>
                  <a:srgbClr val="5B6472"/>
                </a:solidFill>
                <a:latin typeface="Calibri" pitchFamily="34" charset="0"/>
                <a:ea typeface="Calibri" pitchFamily="34" charset="-122"/>
                <a:cs typeface="Calibri" pitchFamily="34" charset="-120"/>
              </a:rPr>
              <a:t>operating as a real user</a:t>
            </a:r>
            <a:endParaRPr lang="en-US" sz="1250" dirty="0"/>
          </a:p>
        </p:txBody>
      </p:sp>
      <p:sp>
        <p:nvSpPr>
          <p:cNvPr id="25" name="Shape 20"/>
          <p:cNvSpPr/>
          <p:nvPr/>
        </p:nvSpPr>
        <p:spPr>
          <a:xfrm>
            <a:off x="6720840" y="3694176"/>
            <a:ext cx="128016" cy="128016"/>
          </a:xfrm>
          <a:prstGeom prst="ellipse">
            <a:avLst/>
          </a:prstGeom>
          <a:solidFill>
            <a:srgbClr val="F2931F"/>
          </a:solidFill>
          <a:ln/>
        </p:spPr>
        <p:txBody>
          <a:bodyPr/>
          <a:lstStyle/>
          <a:p>
            <a:endParaRPr lang="en-MY"/>
          </a:p>
        </p:txBody>
      </p:sp>
      <p:sp>
        <p:nvSpPr>
          <p:cNvPr id="26" name="Text 21"/>
          <p:cNvSpPr/>
          <p:nvPr/>
        </p:nvSpPr>
        <p:spPr>
          <a:xfrm>
            <a:off x="6995160" y="3630168"/>
            <a:ext cx="4389120" cy="530352"/>
          </a:xfrm>
          <a:prstGeom prst="rect">
            <a:avLst/>
          </a:prstGeom>
          <a:noFill/>
          <a:ln/>
        </p:spPr>
        <p:txBody>
          <a:bodyPr wrap="square" lIns="0" tIns="0" rIns="0" bIns="0" rtlCol="0" anchor="ctr"/>
          <a:lstStyle/>
          <a:p>
            <a:pPr marL="0" indent="0">
              <a:buNone/>
            </a:pPr>
            <a:r>
              <a:rPr lang="en-US" sz="1250" b="1" dirty="0">
                <a:solidFill>
                  <a:srgbClr val="23283A"/>
                </a:solidFill>
                <a:latin typeface="Calibri" pitchFamily="34" charset="0"/>
                <a:ea typeface="Calibri" pitchFamily="34" charset="-122"/>
                <a:cs typeface="Calibri" pitchFamily="34" charset="-120"/>
              </a:rPr>
              <a:t>Insider threats — </a:t>
            </a:r>
            <a:r>
              <a:rPr lang="en-US" sz="1250" dirty="0">
                <a:solidFill>
                  <a:srgbClr val="5B6472"/>
                </a:solidFill>
                <a:latin typeface="Calibri" pitchFamily="34" charset="0"/>
                <a:ea typeface="Calibri" pitchFamily="34" charset="-122"/>
                <a:cs typeface="Calibri" pitchFamily="34" charset="-120"/>
              </a:rPr>
              <a:t>misuse by staff</a:t>
            </a:r>
            <a:endParaRPr lang="en-US" sz="1250" dirty="0"/>
          </a:p>
        </p:txBody>
      </p:sp>
      <p:sp>
        <p:nvSpPr>
          <p:cNvPr id="27" name="Shape 22"/>
          <p:cNvSpPr/>
          <p:nvPr/>
        </p:nvSpPr>
        <p:spPr>
          <a:xfrm>
            <a:off x="6720840" y="4261104"/>
            <a:ext cx="128016" cy="128016"/>
          </a:xfrm>
          <a:prstGeom prst="ellipse">
            <a:avLst/>
          </a:prstGeom>
          <a:solidFill>
            <a:srgbClr val="F2931F"/>
          </a:solidFill>
          <a:ln/>
        </p:spPr>
        <p:txBody>
          <a:bodyPr/>
          <a:lstStyle/>
          <a:p>
            <a:endParaRPr lang="en-MY"/>
          </a:p>
        </p:txBody>
      </p:sp>
      <p:sp>
        <p:nvSpPr>
          <p:cNvPr id="28" name="Text 23"/>
          <p:cNvSpPr/>
          <p:nvPr/>
        </p:nvSpPr>
        <p:spPr>
          <a:xfrm>
            <a:off x="6995160" y="4197096"/>
            <a:ext cx="4389120" cy="530352"/>
          </a:xfrm>
          <a:prstGeom prst="rect">
            <a:avLst/>
          </a:prstGeom>
          <a:noFill/>
          <a:ln/>
        </p:spPr>
        <p:txBody>
          <a:bodyPr wrap="square" lIns="0" tIns="0" rIns="0" bIns="0" rtlCol="0" anchor="ctr"/>
          <a:lstStyle/>
          <a:p>
            <a:pPr marL="0" indent="0">
              <a:buNone/>
            </a:pPr>
            <a:r>
              <a:rPr lang="en-US" sz="1250" b="1" dirty="0">
                <a:solidFill>
                  <a:srgbClr val="23283A"/>
                </a:solidFill>
                <a:latin typeface="Calibri" pitchFamily="34" charset="0"/>
                <a:ea typeface="Calibri" pitchFamily="34" charset="-122"/>
                <a:cs typeface="Calibri" pitchFamily="34" charset="-120"/>
              </a:rPr>
              <a:t>Misconfigured permissions — </a:t>
            </a:r>
            <a:r>
              <a:rPr lang="en-US" sz="1250" dirty="0">
                <a:solidFill>
                  <a:srgbClr val="5B6472"/>
                </a:solidFill>
                <a:latin typeface="Calibri" pitchFamily="34" charset="0"/>
                <a:ea typeface="Calibri" pitchFamily="34" charset="-122"/>
                <a:cs typeface="Calibri" pitchFamily="34" charset="-120"/>
              </a:rPr>
              <a:t>over-broad access</a:t>
            </a:r>
            <a:endParaRPr lang="en-US" sz="1250" dirty="0"/>
          </a:p>
        </p:txBody>
      </p:sp>
      <p:sp>
        <p:nvSpPr>
          <p:cNvPr id="29" name="Shape 24"/>
          <p:cNvSpPr/>
          <p:nvPr/>
        </p:nvSpPr>
        <p:spPr>
          <a:xfrm>
            <a:off x="6720840" y="4828032"/>
            <a:ext cx="128016" cy="128016"/>
          </a:xfrm>
          <a:prstGeom prst="ellipse">
            <a:avLst/>
          </a:prstGeom>
          <a:solidFill>
            <a:srgbClr val="F2931F"/>
          </a:solidFill>
          <a:ln/>
        </p:spPr>
        <p:txBody>
          <a:bodyPr/>
          <a:lstStyle/>
          <a:p>
            <a:endParaRPr lang="en-MY"/>
          </a:p>
        </p:txBody>
      </p:sp>
      <p:sp>
        <p:nvSpPr>
          <p:cNvPr id="30" name="Text 25"/>
          <p:cNvSpPr/>
          <p:nvPr/>
        </p:nvSpPr>
        <p:spPr>
          <a:xfrm>
            <a:off x="6995160" y="4764024"/>
            <a:ext cx="4389120" cy="530352"/>
          </a:xfrm>
          <a:prstGeom prst="rect">
            <a:avLst/>
          </a:prstGeom>
          <a:noFill/>
          <a:ln/>
        </p:spPr>
        <p:txBody>
          <a:bodyPr wrap="square" lIns="0" tIns="0" rIns="0" bIns="0" rtlCol="0" anchor="ctr"/>
          <a:lstStyle/>
          <a:p>
            <a:pPr marL="0" indent="0">
              <a:buNone/>
            </a:pPr>
            <a:r>
              <a:rPr lang="en-US" sz="1250" b="1" dirty="0">
                <a:solidFill>
                  <a:srgbClr val="23283A"/>
                </a:solidFill>
                <a:latin typeface="Calibri" pitchFamily="34" charset="0"/>
                <a:ea typeface="Calibri" pitchFamily="34" charset="-122"/>
                <a:cs typeface="Calibri" pitchFamily="34" charset="-120"/>
              </a:rPr>
              <a:t>Weak authentication — </a:t>
            </a:r>
            <a:r>
              <a:rPr lang="en-US" sz="1250" dirty="0">
                <a:solidFill>
                  <a:srgbClr val="5B6472"/>
                </a:solidFill>
                <a:latin typeface="Calibri" pitchFamily="34" charset="0"/>
                <a:ea typeface="Calibri" pitchFamily="34" charset="-122"/>
                <a:cs typeface="Calibri" pitchFamily="34" charset="-120"/>
              </a:rPr>
              <a:t>no MFA, reused passwords</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62F65"/>
        </a:solidFill>
        <a:effectLst/>
      </p:bgPr>
    </p:bg>
    <p:spTree>
      <p:nvGrpSpPr>
        <p:cNvPr id="1" name=""/>
        <p:cNvGrpSpPr/>
        <p:nvPr/>
      </p:nvGrpSpPr>
      <p:grpSpPr>
        <a:xfrm>
          <a:off x="0" y="0"/>
          <a:ext cx="0" cy="0"/>
          <a:chOff x="0" y="0"/>
          <a:chExt cx="0" cy="0"/>
        </a:xfrm>
      </p:grpSpPr>
      <p:sp>
        <p:nvSpPr>
          <p:cNvPr id="2" name="Shape 0"/>
          <p:cNvSpPr/>
          <p:nvPr/>
        </p:nvSpPr>
        <p:spPr>
          <a:xfrm>
            <a:off x="-1280160" y="3931920"/>
            <a:ext cx="4023360" cy="4023360"/>
          </a:xfrm>
          <a:prstGeom prst="ellipse">
            <a:avLst/>
          </a:prstGeom>
          <a:solidFill>
            <a:srgbClr val="293E7B">
              <a:alpha val="45000"/>
            </a:srgbClr>
          </a:solidFill>
          <a:ln/>
        </p:spPr>
        <p:txBody>
          <a:bodyPr/>
          <a:lstStyle/>
          <a:p>
            <a:endParaRPr lang="en-MY"/>
          </a:p>
        </p:txBody>
      </p:sp>
      <p:pic>
        <p:nvPicPr>
          <p:cNvPr id="3" name="Image 0" descr="preencoded.png"/>
          <p:cNvPicPr>
            <a:picLocks noChangeAspect="1"/>
          </p:cNvPicPr>
          <p:nvPr/>
        </p:nvPicPr>
        <p:blipFill>
          <a:blip r:embed="rId3"/>
          <a:stretch>
            <a:fillRect/>
          </a:stretch>
        </p:blipFill>
        <p:spPr>
          <a:xfrm>
            <a:off x="7360920" y="1412421"/>
            <a:ext cx="4343400" cy="4033157"/>
          </a:xfrm>
          <a:prstGeom prst="rect">
            <a:avLst/>
          </a:prstGeom>
        </p:spPr>
      </p:pic>
      <p:sp>
        <p:nvSpPr>
          <p:cNvPr id="4" name="Text 1"/>
          <p:cNvSpPr/>
          <p:nvPr/>
        </p:nvSpPr>
        <p:spPr>
          <a:xfrm>
            <a:off x="640080" y="960120"/>
            <a:ext cx="4572000" cy="2194560"/>
          </a:xfrm>
          <a:prstGeom prst="rect">
            <a:avLst/>
          </a:prstGeom>
          <a:noFill/>
          <a:ln/>
        </p:spPr>
        <p:txBody>
          <a:bodyPr wrap="square" lIns="0" tIns="0" rIns="0" bIns="0" rtlCol="0" anchor="ctr"/>
          <a:lstStyle/>
          <a:p>
            <a:pPr marL="0" indent="0">
              <a:buNone/>
            </a:pPr>
            <a:r>
              <a:rPr lang="en-US" sz="14000" b="1" dirty="0">
                <a:solidFill>
                  <a:srgbClr val="FABA32"/>
                </a:solidFill>
                <a:latin typeface="Cambria" pitchFamily="34" charset="0"/>
                <a:ea typeface="Cambria" pitchFamily="34" charset="-122"/>
                <a:cs typeface="Cambria" pitchFamily="34" charset="-120"/>
              </a:rPr>
              <a:t>02</a:t>
            </a:r>
            <a:endParaRPr lang="en-US" sz="14000" dirty="0"/>
          </a:p>
        </p:txBody>
      </p:sp>
      <p:sp>
        <p:nvSpPr>
          <p:cNvPr id="5" name="Text 2"/>
          <p:cNvSpPr/>
          <p:nvPr/>
        </p:nvSpPr>
        <p:spPr>
          <a:xfrm>
            <a:off x="713232" y="3429000"/>
            <a:ext cx="6400800" cy="457200"/>
          </a:xfrm>
          <a:prstGeom prst="rect">
            <a:avLst/>
          </a:prstGeom>
          <a:noFill/>
          <a:ln/>
        </p:spPr>
        <p:txBody>
          <a:bodyPr wrap="square" lIns="0" tIns="0" rIns="0" bIns="0" rtlCol="0" anchor="ctr"/>
          <a:lstStyle/>
          <a:p>
            <a:pPr marL="0" indent="0">
              <a:buNone/>
            </a:pPr>
            <a:r>
              <a:rPr lang="en-US" sz="1500" b="1" kern="0" spc="300" dirty="0">
                <a:solidFill>
                  <a:srgbClr val="FABA32"/>
                </a:solidFill>
                <a:latin typeface="Calibri" pitchFamily="34" charset="0"/>
                <a:ea typeface="Calibri" pitchFamily="34" charset="-122"/>
                <a:cs typeface="Calibri" pitchFamily="34" charset="-120"/>
              </a:rPr>
              <a:t>PART 2</a:t>
            </a:r>
            <a:endParaRPr lang="en-US" sz="1500" dirty="0"/>
          </a:p>
        </p:txBody>
      </p:sp>
      <p:sp>
        <p:nvSpPr>
          <p:cNvPr id="6" name="Text 3"/>
          <p:cNvSpPr/>
          <p:nvPr/>
        </p:nvSpPr>
        <p:spPr>
          <a:xfrm>
            <a:off x="713232" y="3840480"/>
            <a:ext cx="6309360" cy="1828800"/>
          </a:xfrm>
          <a:prstGeom prst="rect">
            <a:avLst/>
          </a:prstGeom>
          <a:noFill/>
          <a:ln/>
        </p:spPr>
        <p:txBody>
          <a:bodyPr wrap="square" lIns="0" tIns="0" rIns="0" bIns="0" rtlCol="0" anchor="t"/>
          <a:lstStyle/>
          <a:p>
            <a:pPr marL="0" indent="0">
              <a:buNone/>
            </a:pPr>
            <a:r>
              <a:rPr lang="en-US" sz="3200" b="1" dirty="0">
                <a:solidFill>
                  <a:srgbClr val="FFFFFF"/>
                </a:solidFill>
                <a:latin typeface="Cambria" pitchFamily="34" charset="0"/>
                <a:ea typeface="Cambria" pitchFamily="34" charset="-122"/>
                <a:cs typeface="Cambria" pitchFamily="34" charset="-120"/>
              </a:rPr>
              <a:t>Authentication &amp; Authorization</a:t>
            </a:r>
            <a:endParaRPr lang="en-US" sz="3200" dirty="0"/>
          </a:p>
        </p:txBody>
      </p:sp>
      <p:pic>
        <p:nvPicPr>
          <p:cNvPr id="7" name="Image 1" descr="/sessions/inspiring-busy-dijkstra/mnt/outputs/build/assets/logo_white_trim.png"/>
          <p:cNvPicPr>
            <a:picLocks noChangeAspect="1"/>
          </p:cNvPicPr>
          <p:nvPr/>
        </p:nvPicPr>
        <p:blipFill>
          <a:blip r:embed="rId4"/>
          <a:stretch>
            <a:fillRect/>
          </a:stretch>
        </p:blipFill>
        <p:spPr>
          <a:xfrm>
            <a:off x="713232" y="5989320"/>
            <a:ext cx="1417320" cy="64396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marL="0" indent="0">
              <a:buNone/>
            </a:pPr>
            <a:r>
              <a:rPr lang="en-US" sz="1150" b="1" kern="0" spc="200" dirty="0">
                <a:solidFill>
                  <a:srgbClr val="F2931F"/>
                </a:solidFill>
                <a:latin typeface="Calibri" pitchFamily="34" charset="0"/>
                <a:ea typeface="Calibri" pitchFamily="34" charset="-122"/>
                <a:cs typeface="Calibri" pitchFamily="34" charset="-120"/>
              </a:rPr>
              <a:t>THE DISTINCTION</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marL="0" indent="0">
              <a:buNone/>
            </a:pPr>
            <a:r>
              <a:rPr lang="en-US" sz="2600" b="1" dirty="0">
                <a:solidFill>
                  <a:srgbClr val="262F65"/>
                </a:solidFill>
                <a:latin typeface="Cambria" pitchFamily="34" charset="0"/>
                <a:ea typeface="Cambria" pitchFamily="34" charset="-122"/>
                <a:cs typeface="Cambria" pitchFamily="34" charset="-120"/>
              </a:rPr>
              <a:t>Authentication vs authorization</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marL="0" indent="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7</a:t>
            </a:r>
            <a:endParaRPr lang="en-US" sz="900" dirty="0"/>
          </a:p>
        </p:txBody>
      </p:sp>
      <p:sp>
        <p:nvSpPr>
          <p:cNvPr id="7" name="Shape 4"/>
          <p:cNvSpPr/>
          <p:nvPr/>
        </p:nvSpPr>
        <p:spPr>
          <a:xfrm>
            <a:off x="640080" y="1737360"/>
            <a:ext cx="5349240" cy="3657600"/>
          </a:xfrm>
          <a:prstGeom prst="roundRect">
            <a:avLst>
              <a:gd name="adj" fmla="val 2250"/>
            </a:avLst>
          </a:prstGeom>
          <a:solidFill>
            <a:srgbClr val="F4F6FB"/>
          </a:solidFill>
          <a:ln/>
          <a:effectLst>
            <a:outerShdw blurRad="88900" dist="38100" dir="5400000" algn="bl" rotWithShape="0">
              <a:srgbClr val="8894AD">
                <a:alpha val="28000"/>
              </a:srgbClr>
            </a:outerShdw>
          </a:effectLst>
        </p:spPr>
        <p:txBody>
          <a:bodyPr/>
          <a:lstStyle/>
          <a:p>
            <a:endParaRPr lang="en-MY"/>
          </a:p>
        </p:txBody>
      </p:sp>
      <p:sp>
        <p:nvSpPr>
          <p:cNvPr id="8" name="Shape 5"/>
          <p:cNvSpPr/>
          <p:nvPr/>
        </p:nvSpPr>
        <p:spPr>
          <a:xfrm>
            <a:off x="960120" y="2057400"/>
            <a:ext cx="868680" cy="868680"/>
          </a:xfrm>
          <a:prstGeom prst="ellipse">
            <a:avLst/>
          </a:prstGeom>
          <a:solidFill>
            <a:srgbClr val="262F65"/>
          </a:solidFill>
          <a:ln/>
        </p:spPr>
        <p:txBody>
          <a:bodyPr/>
          <a:lstStyle/>
          <a:p>
            <a:endParaRPr lang="en-MY"/>
          </a:p>
        </p:txBody>
      </p:sp>
      <p:pic>
        <p:nvPicPr>
          <p:cNvPr id="9" name="Image 0" descr="preencoded.png"/>
          <p:cNvPicPr>
            <a:picLocks noChangeAspect="1"/>
          </p:cNvPicPr>
          <p:nvPr/>
        </p:nvPicPr>
        <p:blipFill>
          <a:blip r:embed="rId3"/>
          <a:stretch>
            <a:fillRect/>
          </a:stretch>
        </p:blipFill>
        <p:spPr>
          <a:xfrm>
            <a:off x="1168603" y="2265883"/>
            <a:ext cx="451714" cy="451714"/>
          </a:xfrm>
          <a:prstGeom prst="rect">
            <a:avLst/>
          </a:prstGeom>
        </p:spPr>
      </p:pic>
      <p:sp>
        <p:nvSpPr>
          <p:cNvPr id="10" name="Text 6"/>
          <p:cNvSpPr/>
          <p:nvPr/>
        </p:nvSpPr>
        <p:spPr>
          <a:xfrm>
            <a:off x="2011680" y="2121408"/>
            <a:ext cx="3703320" cy="777240"/>
          </a:xfrm>
          <a:prstGeom prst="rect">
            <a:avLst/>
          </a:prstGeom>
          <a:noFill/>
          <a:ln/>
        </p:spPr>
        <p:txBody>
          <a:bodyPr wrap="square" lIns="0" tIns="0" rIns="0" bIns="0" rtlCol="0" anchor="t"/>
          <a:lstStyle/>
          <a:p>
            <a:pPr marL="0" indent="0">
              <a:buNone/>
            </a:pPr>
            <a:r>
              <a:rPr lang="en-US" sz="1550" b="1" dirty="0">
                <a:solidFill>
                  <a:srgbClr val="262F65"/>
                </a:solidFill>
                <a:latin typeface="Calibri" pitchFamily="34" charset="0"/>
                <a:ea typeface="Calibri" pitchFamily="34" charset="-122"/>
                <a:cs typeface="Calibri" pitchFamily="34" charset="-120"/>
              </a:rPr>
              <a:t>Authentication</a:t>
            </a:r>
            <a:endParaRPr lang="en-US" sz="1550" dirty="0"/>
          </a:p>
        </p:txBody>
      </p:sp>
      <p:sp>
        <p:nvSpPr>
          <p:cNvPr id="11" name="Text 7"/>
          <p:cNvSpPr/>
          <p:nvPr/>
        </p:nvSpPr>
        <p:spPr>
          <a:xfrm>
            <a:off x="960120" y="3017520"/>
            <a:ext cx="4709160" cy="548640"/>
          </a:xfrm>
          <a:prstGeom prst="rect">
            <a:avLst/>
          </a:prstGeom>
          <a:noFill/>
          <a:ln/>
        </p:spPr>
        <p:txBody>
          <a:bodyPr wrap="square" lIns="0" tIns="0" rIns="0" bIns="0" rtlCol="0" anchor="t"/>
          <a:lstStyle/>
          <a:p>
            <a:pPr marL="0" indent="0">
              <a:buNone/>
            </a:pPr>
            <a:r>
              <a:rPr lang="en-US" sz="1250" i="1" dirty="0">
                <a:solidFill>
                  <a:srgbClr val="5B6472"/>
                </a:solidFill>
                <a:latin typeface="Calibri" pitchFamily="34" charset="0"/>
                <a:ea typeface="Calibri" pitchFamily="34" charset="-122"/>
                <a:cs typeface="Calibri" pitchFamily="34" charset="-120"/>
              </a:rPr>
              <a:t>“Who are you?” — verify identity.</a:t>
            </a:r>
            <a:endParaRPr lang="en-US" sz="1250" dirty="0"/>
          </a:p>
        </p:txBody>
      </p:sp>
      <p:sp>
        <p:nvSpPr>
          <p:cNvPr id="12" name="Shape 8"/>
          <p:cNvSpPr/>
          <p:nvPr/>
        </p:nvSpPr>
        <p:spPr>
          <a:xfrm>
            <a:off x="1005840" y="3767328"/>
            <a:ext cx="128016" cy="128016"/>
          </a:xfrm>
          <a:prstGeom prst="ellipse">
            <a:avLst/>
          </a:prstGeom>
          <a:solidFill>
            <a:srgbClr val="262F65"/>
          </a:solidFill>
          <a:ln/>
        </p:spPr>
        <p:txBody>
          <a:bodyPr/>
          <a:lstStyle/>
          <a:p>
            <a:endParaRPr lang="en-MY"/>
          </a:p>
        </p:txBody>
      </p:sp>
      <p:sp>
        <p:nvSpPr>
          <p:cNvPr id="13" name="Text 9"/>
          <p:cNvSpPr/>
          <p:nvPr/>
        </p:nvSpPr>
        <p:spPr>
          <a:xfrm>
            <a:off x="1280160" y="3703320"/>
            <a:ext cx="4389120" cy="530352"/>
          </a:xfrm>
          <a:prstGeom prst="rect">
            <a:avLst/>
          </a:prstGeom>
          <a:noFill/>
          <a:ln/>
        </p:spPr>
        <p:txBody>
          <a:bodyPr wrap="square" lIns="0" tIns="0" rIns="0" bIns="0" rtlCol="0" anchor="ctr"/>
          <a:lstStyle/>
          <a:p>
            <a:pPr marL="0" indent="0">
              <a:buNone/>
            </a:pPr>
            <a:r>
              <a:rPr lang="en-US" sz="1250" b="1" dirty="0">
                <a:solidFill>
                  <a:srgbClr val="23283A"/>
                </a:solidFill>
                <a:latin typeface="Calibri" pitchFamily="34" charset="0"/>
                <a:ea typeface="Calibri" pitchFamily="34" charset="-122"/>
                <a:cs typeface="Calibri" pitchFamily="34" charset="-120"/>
              </a:rPr>
              <a:t>Proves identity — </a:t>
            </a:r>
            <a:r>
              <a:rPr lang="en-US" sz="1250" dirty="0">
                <a:solidFill>
                  <a:srgbClr val="5B6472"/>
                </a:solidFill>
                <a:latin typeface="Calibri" pitchFamily="34" charset="0"/>
                <a:ea typeface="Calibri" pitchFamily="34" charset="-122"/>
                <a:cs typeface="Calibri" pitchFamily="34" charset="-120"/>
              </a:rPr>
              <a:t>password + MFA</a:t>
            </a:r>
            <a:endParaRPr lang="en-US" sz="1250" dirty="0"/>
          </a:p>
        </p:txBody>
      </p:sp>
      <p:sp>
        <p:nvSpPr>
          <p:cNvPr id="14" name="Shape 10"/>
          <p:cNvSpPr/>
          <p:nvPr/>
        </p:nvSpPr>
        <p:spPr>
          <a:xfrm>
            <a:off x="1005840" y="4334256"/>
            <a:ext cx="128016" cy="128016"/>
          </a:xfrm>
          <a:prstGeom prst="ellipse">
            <a:avLst/>
          </a:prstGeom>
          <a:solidFill>
            <a:srgbClr val="262F65"/>
          </a:solidFill>
          <a:ln/>
        </p:spPr>
        <p:txBody>
          <a:bodyPr/>
          <a:lstStyle/>
          <a:p>
            <a:endParaRPr lang="en-MY"/>
          </a:p>
        </p:txBody>
      </p:sp>
      <p:sp>
        <p:nvSpPr>
          <p:cNvPr id="15" name="Text 11"/>
          <p:cNvSpPr/>
          <p:nvPr/>
        </p:nvSpPr>
        <p:spPr>
          <a:xfrm>
            <a:off x="1280160" y="4270248"/>
            <a:ext cx="4389120" cy="530352"/>
          </a:xfrm>
          <a:prstGeom prst="rect">
            <a:avLst/>
          </a:prstGeom>
          <a:noFill/>
          <a:ln/>
        </p:spPr>
        <p:txBody>
          <a:bodyPr wrap="square" lIns="0" tIns="0" rIns="0" bIns="0" rtlCol="0" anchor="ctr"/>
          <a:lstStyle/>
          <a:p>
            <a:pPr marL="0" indent="0">
              <a:buNone/>
            </a:pPr>
            <a:r>
              <a:rPr lang="en-US" sz="1250" b="1" dirty="0">
                <a:solidFill>
                  <a:srgbClr val="23283A"/>
                </a:solidFill>
                <a:latin typeface="Calibri" pitchFamily="34" charset="0"/>
                <a:ea typeface="Calibri" pitchFamily="34" charset="-122"/>
                <a:cs typeface="Calibri" pitchFamily="34" charset="-120"/>
              </a:rPr>
              <a:t>Happens first — </a:t>
            </a:r>
            <a:endParaRPr lang="en-US" sz="1250" dirty="0"/>
          </a:p>
        </p:txBody>
      </p:sp>
      <p:sp>
        <p:nvSpPr>
          <p:cNvPr id="16" name="Shape 12"/>
          <p:cNvSpPr/>
          <p:nvPr/>
        </p:nvSpPr>
        <p:spPr>
          <a:xfrm>
            <a:off x="1005840" y="4901184"/>
            <a:ext cx="128016" cy="128016"/>
          </a:xfrm>
          <a:prstGeom prst="ellipse">
            <a:avLst/>
          </a:prstGeom>
          <a:solidFill>
            <a:srgbClr val="262F65"/>
          </a:solidFill>
          <a:ln/>
        </p:spPr>
        <p:txBody>
          <a:bodyPr/>
          <a:lstStyle/>
          <a:p>
            <a:endParaRPr lang="en-MY"/>
          </a:p>
        </p:txBody>
      </p:sp>
      <p:sp>
        <p:nvSpPr>
          <p:cNvPr id="17" name="Text 13"/>
          <p:cNvSpPr/>
          <p:nvPr/>
        </p:nvSpPr>
        <p:spPr>
          <a:xfrm>
            <a:off x="1280160" y="4837176"/>
            <a:ext cx="4389120" cy="530352"/>
          </a:xfrm>
          <a:prstGeom prst="rect">
            <a:avLst/>
          </a:prstGeom>
          <a:noFill/>
          <a:ln/>
        </p:spPr>
        <p:txBody>
          <a:bodyPr wrap="square" lIns="0" tIns="0" rIns="0" bIns="0" rtlCol="0" anchor="ctr"/>
          <a:lstStyle/>
          <a:p>
            <a:pPr marL="0" indent="0">
              <a:buNone/>
            </a:pPr>
            <a:r>
              <a:rPr lang="en-US" sz="1250" b="1" dirty="0">
                <a:solidFill>
                  <a:srgbClr val="23283A"/>
                </a:solidFill>
                <a:latin typeface="Calibri" pitchFamily="34" charset="0"/>
                <a:ea typeface="Calibri" pitchFamily="34" charset="-122"/>
                <a:cs typeface="Calibri" pitchFamily="34" charset="-120"/>
              </a:rPr>
              <a:t>Example — </a:t>
            </a:r>
            <a:r>
              <a:rPr lang="en-US" sz="1250" dirty="0">
                <a:solidFill>
                  <a:srgbClr val="5B6472"/>
                </a:solidFill>
                <a:latin typeface="Calibri" pitchFamily="34" charset="0"/>
                <a:ea typeface="Calibri" pitchFamily="34" charset="-122"/>
                <a:cs typeface="Calibri" pitchFamily="34" charset="-120"/>
              </a:rPr>
              <a:t>logging in</a:t>
            </a:r>
            <a:endParaRPr lang="en-US" sz="1250" dirty="0"/>
          </a:p>
        </p:txBody>
      </p:sp>
      <p:sp>
        <p:nvSpPr>
          <p:cNvPr id="18" name="Shape 14"/>
          <p:cNvSpPr/>
          <p:nvPr/>
        </p:nvSpPr>
        <p:spPr>
          <a:xfrm>
            <a:off x="6355080" y="1737360"/>
            <a:ext cx="5349240" cy="3657600"/>
          </a:xfrm>
          <a:prstGeom prst="roundRect">
            <a:avLst>
              <a:gd name="adj" fmla="val 2250"/>
            </a:avLst>
          </a:prstGeom>
          <a:solidFill>
            <a:srgbClr val="F4F6FB"/>
          </a:solidFill>
          <a:ln/>
          <a:effectLst>
            <a:outerShdw blurRad="88900" dist="38100" dir="5400000" algn="bl" rotWithShape="0">
              <a:srgbClr val="8894AD">
                <a:alpha val="28000"/>
              </a:srgbClr>
            </a:outerShdw>
          </a:effectLst>
        </p:spPr>
        <p:txBody>
          <a:bodyPr/>
          <a:lstStyle/>
          <a:p>
            <a:endParaRPr lang="en-MY"/>
          </a:p>
        </p:txBody>
      </p:sp>
      <p:sp>
        <p:nvSpPr>
          <p:cNvPr id="19" name="Shape 15"/>
          <p:cNvSpPr/>
          <p:nvPr/>
        </p:nvSpPr>
        <p:spPr>
          <a:xfrm>
            <a:off x="6675120" y="2057400"/>
            <a:ext cx="868680" cy="868680"/>
          </a:xfrm>
          <a:prstGeom prst="ellipse">
            <a:avLst/>
          </a:prstGeom>
          <a:solidFill>
            <a:srgbClr val="F2931F"/>
          </a:solidFill>
          <a:ln/>
        </p:spPr>
        <p:txBody>
          <a:bodyPr/>
          <a:lstStyle/>
          <a:p>
            <a:endParaRPr lang="en-MY"/>
          </a:p>
        </p:txBody>
      </p:sp>
      <p:pic>
        <p:nvPicPr>
          <p:cNvPr id="20" name="Image 1" descr="preencoded.png"/>
          <p:cNvPicPr>
            <a:picLocks noChangeAspect="1"/>
          </p:cNvPicPr>
          <p:nvPr/>
        </p:nvPicPr>
        <p:blipFill>
          <a:blip r:embed="rId4"/>
          <a:stretch>
            <a:fillRect/>
          </a:stretch>
        </p:blipFill>
        <p:spPr>
          <a:xfrm>
            <a:off x="6883603" y="2265883"/>
            <a:ext cx="451714" cy="451714"/>
          </a:xfrm>
          <a:prstGeom prst="rect">
            <a:avLst/>
          </a:prstGeom>
        </p:spPr>
      </p:pic>
      <p:sp>
        <p:nvSpPr>
          <p:cNvPr id="21" name="Text 16"/>
          <p:cNvSpPr/>
          <p:nvPr/>
        </p:nvSpPr>
        <p:spPr>
          <a:xfrm>
            <a:off x="7726680" y="2121408"/>
            <a:ext cx="3703320" cy="777240"/>
          </a:xfrm>
          <a:prstGeom prst="rect">
            <a:avLst/>
          </a:prstGeom>
          <a:noFill/>
          <a:ln/>
        </p:spPr>
        <p:txBody>
          <a:bodyPr wrap="square" lIns="0" tIns="0" rIns="0" bIns="0" rtlCol="0" anchor="t"/>
          <a:lstStyle/>
          <a:p>
            <a:pPr marL="0" indent="0">
              <a:buNone/>
            </a:pPr>
            <a:r>
              <a:rPr lang="en-US" sz="1550" b="1" dirty="0">
                <a:solidFill>
                  <a:srgbClr val="262F65"/>
                </a:solidFill>
                <a:latin typeface="Calibri" pitchFamily="34" charset="0"/>
                <a:ea typeface="Calibri" pitchFamily="34" charset="-122"/>
                <a:cs typeface="Calibri" pitchFamily="34" charset="-120"/>
              </a:rPr>
              <a:t>Authorization</a:t>
            </a:r>
            <a:endParaRPr lang="en-US" sz="1550" dirty="0"/>
          </a:p>
        </p:txBody>
      </p:sp>
      <p:sp>
        <p:nvSpPr>
          <p:cNvPr id="22" name="Text 17"/>
          <p:cNvSpPr/>
          <p:nvPr/>
        </p:nvSpPr>
        <p:spPr>
          <a:xfrm>
            <a:off x="6675120" y="3017520"/>
            <a:ext cx="4709160" cy="548640"/>
          </a:xfrm>
          <a:prstGeom prst="rect">
            <a:avLst/>
          </a:prstGeom>
          <a:noFill/>
          <a:ln/>
        </p:spPr>
        <p:txBody>
          <a:bodyPr wrap="square" lIns="0" tIns="0" rIns="0" bIns="0" rtlCol="0" anchor="t"/>
          <a:lstStyle/>
          <a:p>
            <a:pPr marL="0" indent="0">
              <a:buNone/>
            </a:pPr>
            <a:r>
              <a:rPr lang="en-US" sz="1250" i="1" dirty="0">
                <a:solidFill>
                  <a:srgbClr val="5B6472"/>
                </a:solidFill>
                <a:latin typeface="Calibri" pitchFamily="34" charset="0"/>
                <a:ea typeface="Calibri" pitchFamily="34" charset="-122"/>
                <a:cs typeface="Calibri" pitchFamily="34" charset="-120"/>
              </a:rPr>
              <a:t>“What may you do?” — grant rights.</a:t>
            </a:r>
            <a:endParaRPr lang="en-US" sz="1250" dirty="0"/>
          </a:p>
        </p:txBody>
      </p:sp>
      <p:sp>
        <p:nvSpPr>
          <p:cNvPr id="23" name="Shape 18"/>
          <p:cNvSpPr/>
          <p:nvPr/>
        </p:nvSpPr>
        <p:spPr>
          <a:xfrm>
            <a:off x="6720840" y="3767328"/>
            <a:ext cx="128016" cy="128016"/>
          </a:xfrm>
          <a:prstGeom prst="ellipse">
            <a:avLst/>
          </a:prstGeom>
          <a:solidFill>
            <a:srgbClr val="F2931F"/>
          </a:solidFill>
          <a:ln/>
        </p:spPr>
        <p:txBody>
          <a:bodyPr/>
          <a:lstStyle/>
          <a:p>
            <a:endParaRPr lang="en-MY"/>
          </a:p>
        </p:txBody>
      </p:sp>
      <p:sp>
        <p:nvSpPr>
          <p:cNvPr id="24" name="Text 19"/>
          <p:cNvSpPr/>
          <p:nvPr/>
        </p:nvSpPr>
        <p:spPr>
          <a:xfrm>
            <a:off x="6995160" y="3703320"/>
            <a:ext cx="4389120" cy="530352"/>
          </a:xfrm>
          <a:prstGeom prst="rect">
            <a:avLst/>
          </a:prstGeom>
          <a:noFill/>
          <a:ln/>
        </p:spPr>
        <p:txBody>
          <a:bodyPr wrap="square" lIns="0" tIns="0" rIns="0" bIns="0" rtlCol="0" anchor="ctr"/>
          <a:lstStyle/>
          <a:p>
            <a:pPr marL="0" indent="0">
              <a:buNone/>
            </a:pPr>
            <a:r>
              <a:rPr lang="en-US" sz="1250" b="1" dirty="0">
                <a:solidFill>
                  <a:srgbClr val="23283A"/>
                </a:solidFill>
                <a:latin typeface="Calibri" pitchFamily="34" charset="0"/>
                <a:ea typeface="Calibri" pitchFamily="34" charset="-122"/>
                <a:cs typeface="Calibri" pitchFamily="34" charset="-120"/>
              </a:rPr>
              <a:t>Determines permissions — </a:t>
            </a:r>
            <a:r>
              <a:rPr lang="en-US" sz="1250" dirty="0">
                <a:solidFill>
                  <a:srgbClr val="5B6472"/>
                </a:solidFill>
                <a:latin typeface="Calibri" pitchFamily="34" charset="0"/>
                <a:ea typeface="Calibri" pitchFamily="34" charset="-122"/>
                <a:cs typeface="Calibri" pitchFamily="34" charset="-120"/>
              </a:rPr>
              <a:t>RBAC / ABAC</a:t>
            </a:r>
            <a:endParaRPr lang="en-US" sz="1250" dirty="0"/>
          </a:p>
        </p:txBody>
      </p:sp>
      <p:sp>
        <p:nvSpPr>
          <p:cNvPr id="25" name="Shape 20"/>
          <p:cNvSpPr/>
          <p:nvPr/>
        </p:nvSpPr>
        <p:spPr>
          <a:xfrm>
            <a:off x="6720840" y="4334256"/>
            <a:ext cx="128016" cy="128016"/>
          </a:xfrm>
          <a:prstGeom prst="ellipse">
            <a:avLst/>
          </a:prstGeom>
          <a:solidFill>
            <a:srgbClr val="F2931F"/>
          </a:solidFill>
          <a:ln/>
        </p:spPr>
        <p:txBody>
          <a:bodyPr/>
          <a:lstStyle/>
          <a:p>
            <a:endParaRPr lang="en-MY"/>
          </a:p>
        </p:txBody>
      </p:sp>
      <p:sp>
        <p:nvSpPr>
          <p:cNvPr id="26" name="Text 21"/>
          <p:cNvSpPr/>
          <p:nvPr/>
        </p:nvSpPr>
        <p:spPr>
          <a:xfrm>
            <a:off x="6995160" y="4270248"/>
            <a:ext cx="4389120" cy="530352"/>
          </a:xfrm>
          <a:prstGeom prst="rect">
            <a:avLst/>
          </a:prstGeom>
          <a:noFill/>
          <a:ln/>
        </p:spPr>
        <p:txBody>
          <a:bodyPr wrap="square" lIns="0" tIns="0" rIns="0" bIns="0" rtlCol="0" anchor="ctr"/>
          <a:lstStyle/>
          <a:p>
            <a:pPr marL="0" indent="0">
              <a:buNone/>
            </a:pPr>
            <a:r>
              <a:rPr lang="en-US" sz="1250" b="1" dirty="0">
                <a:solidFill>
                  <a:srgbClr val="23283A"/>
                </a:solidFill>
                <a:latin typeface="Calibri" pitchFamily="34" charset="0"/>
                <a:ea typeface="Calibri" pitchFamily="34" charset="-122"/>
                <a:cs typeface="Calibri" pitchFamily="34" charset="-120"/>
              </a:rPr>
              <a:t>Happens after auth — </a:t>
            </a:r>
            <a:endParaRPr lang="en-US" sz="1250" dirty="0"/>
          </a:p>
        </p:txBody>
      </p:sp>
      <p:sp>
        <p:nvSpPr>
          <p:cNvPr id="27" name="Shape 22"/>
          <p:cNvSpPr/>
          <p:nvPr/>
        </p:nvSpPr>
        <p:spPr>
          <a:xfrm>
            <a:off x="6720840" y="4901184"/>
            <a:ext cx="128016" cy="128016"/>
          </a:xfrm>
          <a:prstGeom prst="ellipse">
            <a:avLst/>
          </a:prstGeom>
          <a:solidFill>
            <a:srgbClr val="F2931F"/>
          </a:solidFill>
          <a:ln/>
        </p:spPr>
        <p:txBody>
          <a:bodyPr/>
          <a:lstStyle/>
          <a:p>
            <a:endParaRPr lang="en-MY"/>
          </a:p>
        </p:txBody>
      </p:sp>
      <p:sp>
        <p:nvSpPr>
          <p:cNvPr id="28" name="Text 23"/>
          <p:cNvSpPr/>
          <p:nvPr/>
        </p:nvSpPr>
        <p:spPr>
          <a:xfrm>
            <a:off x="6995160" y="4837176"/>
            <a:ext cx="4389120" cy="530352"/>
          </a:xfrm>
          <a:prstGeom prst="rect">
            <a:avLst/>
          </a:prstGeom>
          <a:noFill/>
          <a:ln/>
        </p:spPr>
        <p:txBody>
          <a:bodyPr wrap="square" lIns="0" tIns="0" rIns="0" bIns="0" rtlCol="0" anchor="ctr"/>
          <a:lstStyle/>
          <a:p>
            <a:pPr marL="0" indent="0">
              <a:buNone/>
            </a:pPr>
            <a:r>
              <a:rPr lang="en-US" sz="1250" b="1" dirty="0">
                <a:solidFill>
                  <a:srgbClr val="23283A"/>
                </a:solidFill>
                <a:latin typeface="Calibri" pitchFamily="34" charset="0"/>
                <a:ea typeface="Calibri" pitchFamily="34" charset="-122"/>
                <a:cs typeface="Calibri" pitchFamily="34" charset="-120"/>
              </a:rPr>
              <a:t>Example — </a:t>
            </a:r>
            <a:r>
              <a:rPr lang="en-US" sz="1250" dirty="0">
                <a:solidFill>
                  <a:srgbClr val="5B6472"/>
                </a:solidFill>
                <a:latin typeface="Calibri" pitchFamily="34" charset="0"/>
                <a:ea typeface="Calibri" pitchFamily="34" charset="-122"/>
                <a:cs typeface="Calibri" pitchFamily="34" charset="-120"/>
              </a:rPr>
              <a:t>permission to open a file</a:t>
            </a:r>
            <a:endParaRPr lang="en-US" sz="1250" dirty="0"/>
          </a:p>
        </p:txBody>
      </p:sp>
      <p:sp>
        <p:nvSpPr>
          <p:cNvPr id="29" name="Text 24"/>
          <p:cNvSpPr/>
          <p:nvPr/>
        </p:nvSpPr>
        <p:spPr>
          <a:xfrm>
            <a:off x="640080" y="5532120"/>
            <a:ext cx="10881360" cy="457200"/>
          </a:xfrm>
          <a:prstGeom prst="rect">
            <a:avLst/>
          </a:prstGeom>
          <a:noFill/>
          <a:ln/>
        </p:spPr>
        <p:txBody>
          <a:bodyPr wrap="square" lIns="0" tIns="0" rIns="0" bIns="0" rtlCol="0" anchor="ctr"/>
          <a:lstStyle/>
          <a:p>
            <a:pPr marL="0" indent="0" algn="ctr">
              <a:buNone/>
            </a:pPr>
            <a:r>
              <a:rPr lang="en-US" sz="1350" b="1" dirty="0">
                <a:solidFill>
                  <a:srgbClr val="F2931F"/>
                </a:solidFill>
                <a:latin typeface="Calibri" pitchFamily="34" charset="0"/>
                <a:ea typeface="Calibri" pitchFamily="34" charset="-122"/>
                <a:cs typeface="Calibri" pitchFamily="34" charset="-120"/>
              </a:rPr>
              <a:t>Order is fixed:  </a:t>
            </a:r>
            <a:r>
              <a:rPr lang="en-US" sz="1350" i="1" dirty="0">
                <a:solidFill>
                  <a:srgbClr val="262F65"/>
                </a:solidFill>
                <a:latin typeface="Calibri" pitchFamily="34" charset="0"/>
                <a:ea typeface="Calibri" pitchFamily="34" charset="-122"/>
                <a:cs typeface="Calibri" pitchFamily="34" charset="-120"/>
              </a:rPr>
              <a:t>authenticate first, then authorize — and both must be strong.</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marL="0" indent="0">
              <a:buNone/>
            </a:pPr>
            <a:r>
              <a:rPr lang="en-US" sz="1150" b="1" kern="0" spc="200" dirty="0">
                <a:solidFill>
                  <a:srgbClr val="F2931F"/>
                </a:solidFill>
                <a:latin typeface="Calibri" pitchFamily="34" charset="0"/>
                <a:ea typeface="Calibri" pitchFamily="34" charset="-122"/>
                <a:cs typeface="Calibri" pitchFamily="34" charset="-120"/>
              </a:rPr>
              <a:t>PROVING IDENTITY</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marL="0" indent="0">
              <a:buNone/>
            </a:pPr>
            <a:r>
              <a:rPr lang="en-US" sz="2600" b="1" dirty="0">
                <a:solidFill>
                  <a:srgbClr val="262F65"/>
                </a:solidFill>
                <a:latin typeface="Cambria" pitchFamily="34" charset="0"/>
                <a:ea typeface="Cambria" pitchFamily="34" charset="-122"/>
                <a:cs typeface="Cambria" pitchFamily="34" charset="-120"/>
              </a:rPr>
              <a:t>Authentication methods &amp; MFA</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marL="0" indent="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8</a:t>
            </a:r>
            <a:endParaRPr lang="en-US" sz="900" dirty="0"/>
          </a:p>
        </p:txBody>
      </p:sp>
      <p:sp>
        <p:nvSpPr>
          <p:cNvPr id="7" name="Shape 4"/>
          <p:cNvSpPr/>
          <p:nvPr/>
        </p:nvSpPr>
        <p:spPr>
          <a:xfrm>
            <a:off x="640080" y="1737360"/>
            <a:ext cx="5349240" cy="3931920"/>
          </a:xfrm>
          <a:prstGeom prst="roundRect">
            <a:avLst>
              <a:gd name="adj" fmla="val 2093"/>
            </a:avLst>
          </a:prstGeom>
          <a:solidFill>
            <a:srgbClr val="F4F6FB"/>
          </a:solidFill>
          <a:ln/>
          <a:effectLst>
            <a:outerShdw blurRad="88900" dist="38100" dir="5400000" algn="bl" rotWithShape="0">
              <a:srgbClr val="8894AD">
                <a:alpha val="28000"/>
              </a:srgbClr>
            </a:outerShdw>
          </a:effectLst>
        </p:spPr>
        <p:txBody>
          <a:bodyPr/>
          <a:lstStyle/>
          <a:p>
            <a:endParaRPr lang="en-MY"/>
          </a:p>
        </p:txBody>
      </p:sp>
      <p:sp>
        <p:nvSpPr>
          <p:cNvPr id="8" name="Shape 5"/>
          <p:cNvSpPr/>
          <p:nvPr/>
        </p:nvSpPr>
        <p:spPr>
          <a:xfrm>
            <a:off x="960120" y="2057400"/>
            <a:ext cx="868680" cy="868680"/>
          </a:xfrm>
          <a:prstGeom prst="ellipse">
            <a:avLst/>
          </a:prstGeom>
          <a:solidFill>
            <a:srgbClr val="262F65"/>
          </a:solidFill>
          <a:ln/>
        </p:spPr>
        <p:txBody>
          <a:bodyPr/>
          <a:lstStyle/>
          <a:p>
            <a:endParaRPr lang="en-MY"/>
          </a:p>
        </p:txBody>
      </p:sp>
      <p:pic>
        <p:nvPicPr>
          <p:cNvPr id="9" name="Image 0" descr="preencoded.png"/>
          <p:cNvPicPr>
            <a:picLocks noChangeAspect="1"/>
          </p:cNvPicPr>
          <p:nvPr/>
        </p:nvPicPr>
        <p:blipFill>
          <a:blip r:embed="rId3"/>
          <a:stretch>
            <a:fillRect/>
          </a:stretch>
        </p:blipFill>
        <p:spPr>
          <a:xfrm>
            <a:off x="1168603" y="2265883"/>
            <a:ext cx="451714" cy="451714"/>
          </a:xfrm>
          <a:prstGeom prst="rect">
            <a:avLst/>
          </a:prstGeom>
        </p:spPr>
      </p:pic>
      <p:sp>
        <p:nvSpPr>
          <p:cNvPr id="10" name="Text 6"/>
          <p:cNvSpPr/>
          <p:nvPr/>
        </p:nvSpPr>
        <p:spPr>
          <a:xfrm>
            <a:off x="2011680" y="2121408"/>
            <a:ext cx="3703320" cy="777240"/>
          </a:xfrm>
          <a:prstGeom prst="rect">
            <a:avLst/>
          </a:prstGeom>
          <a:noFill/>
          <a:ln/>
        </p:spPr>
        <p:txBody>
          <a:bodyPr wrap="square" lIns="0" tIns="0" rIns="0" bIns="0" rtlCol="0" anchor="t"/>
          <a:lstStyle/>
          <a:p>
            <a:pPr marL="0" indent="0">
              <a:buNone/>
            </a:pPr>
            <a:r>
              <a:rPr lang="en-US" sz="1550" b="1" dirty="0">
                <a:solidFill>
                  <a:srgbClr val="262F65"/>
                </a:solidFill>
                <a:latin typeface="Calibri" pitchFamily="34" charset="0"/>
                <a:ea typeface="Calibri" pitchFamily="34" charset="-122"/>
                <a:cs typeface="Calibri" pitchFamily="34" charset="-120"/>
              </a:rPr>
              <a:t>The three factors</a:t>
            </a:r>
            <a:endParaRPr lang="en-US" sz="1550" dirty="0"/>
          </a:p>
        </p:txBody>
      </p:sp>
      <p:sp>
        <p:nvSpPr>
          <p:cNvPr id="11" name="Shape 7"/>
          <p:cNvSpPr/>
          <p:nvPr/>
        </p:nvSpPr>
        <p:spPr>
          <a:xfrm>
            <a:off x="1005840" y="3127248"/>
            <a:ext cx="128016" cy="128016"/>
          </a:xfrm>
          <a:prstGeom prst="ellipse">
            <a:avLst/>
          </a:prstGeom>
          <a:solidFill>
            <a:srgbClr val="262F65"/>
          </a:solidFill>
          <a:ln/>
        </p:spPr>
        <p:txBody>
          <a:bodyPr/>
          <a:lstStyle/>
          <a:p>
            <a:endParaRPr lang="en-MY"/>
          </a:p>
        </p:txBody>
      </p:sp>
      <p:sp>
        <p:nvSpPr>
          <p:cNvPr id="12" name="Text 8"/>
          <p:cNvSpPr/>
          <p:nvPr/>
        </p:nvSpPr>
        <p:spPr>
          <a:xfrm>
            <a:off x="1280160" y="3063240"/>
            <a:ext cx="4389120" cy="530352"/>
          </a:xfrm>
          <a:prstGeom prst="rect">
            <a:avLst/>
          </a:prstGeom>
          <a:noFill/>
          <a:ln/>
        </p:spPr>
        <p:txBody>
          <a:bodyPr wrap="square" lIns="0" tIns="0" rIns="0" bIns="0" rtlCol="0" anchor="ctr"/>
          <a:lstStyle/>
          <a:p>
            <a:pPr marL="0" indent="0">
              <a:buNone/>
            </a:pPr>
            <a:r>
              <a:rPr lang="en-US" sz="1250" b="1" dirty="0">
                <a:solidFill>
                  <a:srgbClr val="23283A"/>
                </a:solidFill>
                <a:latin typeface="Calibri" pitchFamily="34" charset="0"/>
                <a:ea typeface="Calibri" pitchFamily="34" charset="-122"/>
                <a:cs typeface="Calibri" pitchFamily="34" charset="-120"/>
              </a:rPr>
              <a:t>Something you know — </a:t>
            </a:r>
            <a:r>
              <a:rPr lang="en-US" sz="1250" dirty="0">
                <a:solidFill>
                  <a:srgbClr val="5B6472"/>
                </a:solidFill>
                <a:latin typeface="Calibri" pitchFamily="34" charset="0"/>
                <a:ea typeface="Calibri" pitchFamily="34" charset="-122"/>
                <a:cs typeface="Calibri" pitchFamily="34" charset="-120"/>
              </a:rPr>
              <a:t>password, PIN</a:t>
            </a:r>
            <a:endParaRPr lang="en-US" sz="1250" dirty="0"/>
          </a:p>
        </p:txBody>
      </p:sp>
      <p:sp>
        <p:nvSpPr>
          <p:cNvPr id="13" name="Shape 9"/>
          <p:cNvSpPr/>
          <p:nvPr/>
        </p:nvSpPr>
        <p:spPr>
          <a:xfrm>
            <a:off x="1005840" y="3694176"/>
            <a:ext cx="128016" cy="128016"/>
          </a:xfrm>
          <a:prstGeom prst="ellipse">
            <a:avLst/>
          </a:prstGeom>
          <a:solidFill>
            <a:srgbClr val="262F65"/>
          </a:solidFill>
          <a:ln/>
        </p:spPr>
        <p:txBody>
          <a:bodyPr/>
          <a:lstStyle/>
          <a:p>
            <a:endParaRPr lang="en-MY"/>
          </a:p>
        </p:txBody>
      </p:sp>
      <p:sp>
        <p:nvSpPr>
          <p:cNvPr id="14" name="Text 10"/>
          <p:cNvSpPr/>
          <p:nvPr/>
        </p:nvSpPr>
        <p:spPr>
          <a:xfrm>
            <a:off x="1280160" y="3630168"/>
            <a:ext cx="4389120" cy="530352"/>
          </a:xfrm>
          <a:prstGeom prst="rect">
            <a:avLst/>
          </a:prstGeom>
          <a:noFill/>
          <a:ln/>
        </p:spPr>
        <p:txBody>
          <a:bodyPr wrap="square" lIns="0" tIns="0" rIns="0" bIns="0" rtlCol="0" anchor="ctr"/>
          <a:lstStyle/>
          <a:p>
            <a:pPr marL="0" indent="0">
              <a:buNone/>
            </a:pPr>
            <a:r>
              <a:rPr lang="en-US" sz="1250" b="1" dirty="0">
                <a:solidFill>
                  <a:srgbClr val="23283A"/>
                </a:solidFill>
                <a:latin typeface="Calibri" pitchFamily="34" charset="0"/>
                <a:ea typeface="Calibri" pitchFamily="34" charset="-122"/>
                <a:cs typeface="Calibri" pitchFamily="34" charset="-120"/>
              </a:rPr>
              <a:t>Something you have — </a:t>
            </a:r>
            <a:r>
              <a:rPr lang="en-US" sz="1250" dirty="0">
                <a:solidFill>
                  <a:srgbClr val="5B6472"/>
                </a:solidFill>
                <a:latin typeface="Calibri" pitchFamily="34" charset="0"/>
                <a:ea typeface="Calibri" pitchFamily="34" charset="-122"/>
                <a:cs typeface="Calibri" pitchFamily="34" charset="-120"/>
              </a:rPr>
              <a:t>phone, token, smart card</a:t>
            </a:r>
            <a:endParaRPr lang="en-US" sz="1250" dirty="0"/>
          </a:p>
        </p:txBody>
      </p:sp>
      <p:sp>
        <p:nvSpPr>
          <p:cNvPr id="15" name="Shape 11"/>
          <p:cNvSpPr/>
          <p:nvPr/>
        </p:nvSpPr>
        <p:spPr>
          <a:xfrm>
            <a:off x="1005840" y="4261104"/>
            <a:ext cx="128016" cy="128016"/>
          </a:xfrm>
          <a:prstGeom prst="ellipse">
            <a:avLst/>
          </a:prstGeom>
          <a:solidFill>
            <a:srgbClr val="262F65"/>
          </a:solidFill>
          <a:ln/>
        </p:spPr>
        <p:txBody>
          <a:bodyPr/>
          <a:lstStyle/>
          <a:p>
            <a:endParaRPr lang="en-MY"/>
          </a:p>
        </p:txBody>
      </p:sp>
      <p:sp>
        <p:nvSpPr>
          <p:cNvPr id="16" name="Text 12"/>
          <p:cNvSpPr/>
          <p:nvPr/>
        </p:nvSpPr>
        <p:spPr>
          <a:xfrm>
            <a:off x="1280160" y="4197096"/>
            <a:ext cx="4389120" cy="530352"/>
          </a:xfrm>
          <a:prstGeom prst="rect">
            <a:avLst/>
          </a:prstGeom>
          <a:noFill/>
          <a:ln/>
        </p:spPr>
        <p:txBody>
          <a:bodyPr wrap="square" lIns="0" tIns="0" rIns="0" bIns="0" rtlCol="0" anchor="ctr"/>
          <a:lstStyle/>
          <a:p>
            <a:pPr marL="0" indent="0">
              <a:buNone/>
            </a:pPr>
            <a:r>
              <a:rPr lang="en-US" sz="1250" b="1" dirty="0">
                <a:solidFill>
                  <a:srgbClr val="23283A"/>
                </a:solidFill>
                <a:latin typeface="Calibri" pitchFamily="34" charset="0"/>
                <a:ea typeface="Calibri" pitchFamily="34" charset="-122"/>
                <a:cs typeface="Calibri" pitchFamily="34" charset="-120"/>
              </a:rPr>
              <a:t>Something you are — </a:t>
            </a:r>
            <a:r>
              <a:rPr lang="en-US" sz="1250" dirty="0">
                <a:solidFill>
                  <a:srgbClr val="5B6472"/>
                </a:solidFill>
                <a:latin typeface="Calibri" pitchFamily="34" charset="0"/>
                <a:ea typeface="Calibri" pitchFamily="34" charset="-122"/>
                <a:cs typeface="Calibri" pitchFamily="34" charset="-120"/>
              </a:rPr>
              <a:t>fingerprint, face</a:t>
            </a:r>
            <a:endParaRPr lang="en-US" sz="1250" dirty="0"/>
          </a:p>
        </p:txBody>
      </p:sp>
      <p:sp>
        <p:nvSpPr>
          <p:cNvPr id="17" name="Shape 13"/>
          <p:cNvSpPr/>
          <p:nvPr/>
        </p:nvSpPr>
        <p:spPr>
          <a:xfrm>
            <a:off x="6355080" y="1737360"/>
            <a:ext cx="5349240" cy="3931920"/>
          </a:xfrm>
          <a:prstGeom prst="roundRect">
            <a:avLst>
              <a:gd name="adj" fmla="val 2093"/>
            </a:avLst>
          </a:prstGeom>
          <a:solidFill>
            <a:srgbClr val="F4F6FB"/>
          </a:solidFill>
          <a:ln/>
          <a:effectLst>
            <a:outerShdw blurRad="88900" dist="38100" dir="5400000" algn="bl" rotWithShape="0">
              <a:srgbClr val="8894AD">
                <a:alpha val="28000"/>
              </a:srgbClr>
            </a:outerShdw>
          </a:effectLst>
        </p:spPr>
        <p:txBody>
          <a:bodyPr/>
          <a:lstStyle/>
          <a:p>
            <a:endParaRPr lang="en-MY"/>
          </a:p>
        </p:txBody>
      </p:sp>
      <p:sp>
        <p:nvSpPr>
          <p:cNvPr id="18" name="Shape 14"/>
          <p:cNvSpPr/>
          <p:nvPr/>
        </p:nvSpPr>
        <p:spPr>
          <a:xfrm>
            <a:off x="6675120" y="2057400"/>
            <a:ext cx="868680" cy="868680"/>
          </a:xfrm>
          <a:prstGeom prst="ellipse">
            <a:avLst/>
          </a:prstGeom>
          <a:solidFill>
            <a:srgbClr val="F2931F"/>
          </a:solidFill>
          <a:ln/>
        </p:spPr>
        <p:txBody>
          <a:bodyPr/>
          <a:lstStyle/>
          <a:p>
            <a:endParaRPr lang="en-MY"/>
          </a:p>
        </p:txBody>
      </p:sp>
      <p:pic>
        <p:nvPicPr>
          <p:cNvPr id="19" name="Image 1" descr="preencoded.png"/>
          <p:cNvPicPr>
            <a:picLocks noChangeAspect="1"/>
          </p:cNvPicPr>
          <p:nvPr/>
        </p:nvPicPr>
        <p:blipFill>
          <a:blip r:embed="rId4"/>
          <a:stretch>
            <a:fillRect/>
          </a:stretch>
        </p:blipFill>
        <p:spPr>
          <a:xfrm>
            <a:off x="6883603" y="2265883"/>
            <a:ext cx="451714" cy="451714"/>
          </a:xfrm>
          <a:prstGeom prst="rect">
            <a:avLst/>
          </a:prstGeom>
        </p:spPr>
      </p:pic>
      <p:sp>
        <p:nvSpPr>
          <p:cNvPr id="20" name="Text 15"/>
          <p:cNvSpPr/>
          <p:nvPr/>
        </p:nvSpPr>
        <p:spPr>
          <a:xfrm>
            <a:off x="7726680" y="2121408"/>
            <a:ext cx="3703320" cy="777240"/>
          </a:xfrm>
          <a:prstGeom prst="rect">
            <a:avLst/>
          </a:prstGeom>
          <a:noFill/>
          <a:ln/>
        </p:spPr>
        <p:txBody>
          <a:bodyPr wrap="square" lIns="0" tIns="0" rIns="0" bIns="0" rtlCol="0" anchor="t"/>
          <a:lstStyle/>
          <a:p>
            <a:pPr marL="0" indent="0">
              <a:buNone/>
            </a:pPr>
            <a:r>
              <a:rPr lang="en-US" sz="1550" b="1" dirty="0">
                <a:solidFill>
                  <a:srgbClr val="262F65"/>
                </a:solidFill>
                <a:latin typeface="Calibri" pitchFamily="34" charset="0"/>
                <a:ea typeface="Calibri" pitchFamily="34" charset="-122"/>
                <a:cs typeface="Calibri" pitchFamily="34" charset="-120"/>
              </a:rPr>
              <a:t>Multi-factor authentication</a:t>
            </a:r>
            <a:endParaRPr lang="en-US" sz="1550" dirty="0"/>
          </a:p>
        </p:txBody>
      </p:sp>
      <p:sp>
        <p:nvSpPr>
          <p:cNvPr id="21" name="Text 16"/>
          <p:cNvSpPr/>
          <p:nvPr/>
        </p:nvSpPr>
        <p:spPr>
          <a:xfrm>
            <a:off x="6675120" y="3017520"/>
            <a:ext cx="4709160" cy="548640"/>
          </a:xfrm>
          <a:prstGeom prst="rect">
            <a:avLst/>
          </a:prstGeom>
          <a:noFill/>
          <a:ln/>
        </p:spPr>
        <p:txBody>
          <a:bodyPr wrap="square" lIns="0" tIns="0" rIns="0" bIns="0" rtlCol="0" anchor="t"/>
          <a:lstStyle/>
          <a:p>
            <a:pPr marL="0" indent="0">
              <a:buNone/>
            </a:pPr>
            <a:r>
              <a:rPr lang="en-US" sz="1250" i="1" dirty="0">
                <a:solidFill>
                  <a:srgbClr val="5B6472"/>
                </a:solidFill>
                <a:latin typeface="Calibri" pitchFamily="34" charset="0"/>
                <a:ea typeface="Calibri" pitchFamily="34" charset="-122"/>
                <a:cs typeface="Calibri" pitchFamily="34" charset="-120"/>
              </a:rPr>
              <a:t>Combine factors from different classes.</a:t>
            </a:r>
            <a:endParaRPr lang="en-US" sz="1250" dirty="0"/>
          </a:p>
        </p:txBody>
      </p:sp>
      <p:sp>
        <p:nvSpPr>
          <p:cNvPr id="22" name="Shape 17"/>
          <p:cNvSpPr/>
          <p:nvPr/>
        </p:nvSpPr>
        <p:spPr>
          <a:xfrm>
            <a:off x="6720840" y="3767328"/>
            <a:ext cx="128016" cy="128016"/>
          </a:xfrm>
          <a:prstGeom prst="ellipse">
            <a:avLst/>
          </a:prstGeom>
          <a:solidFill>
            <a:srgbClr val="F2931F"/>
          </a:solidFill>
          <a:ln/>
        </p:spPr>
        <p:txBody>
          <a:bodyPr/>
          <a:lstStyle/>
          <a:p>
            <a:endParaRPr lang="en-MY"/>
          </a:p>
        </p:txBody>
      </p:sp>
      <p:sp>
        <p:nvSpPr>
          <p:cNvPr id="23" name="Text 18"/>
          <p:cNvSpPr/>
          <p:nvPr/>
        </p:nvSpPr>
        <p:spPr>
          <a:xfrm>
            <a:off x="6995160" y="3703320"/>
            <a:ext cx="4389120" cy="530352"/>
          </a:xfrm>
          <a:prstGeom prst="rect">
            <a:avLst/>
          </a:prstGeom>
          <a:noFill/>
          <a:ln/>
        </p:spPr>
        <p:txBody>
          <a:bodyPr wrap="square" lIns="0" tIns="0" rIns="0" bIns="0" rtlCol="0" anchor="ctr"/>
          <a:lstStyle/>
          <a:p>
            <a:pPr marL="0" indent="0">
              <a:buNone/>
            </a:pPr>
            <a:r>
              <a:rPr lang="en-US" sz="1250" b="1" dirty="0">
                <a:solidFill>
                  <a:srgbClr val="23283A"/>
                </a:solidFill>
                <a:latin typeface="Calibri" pitchFamily="34" charset="0"/>
                <a:ea typeface="Calibri" pitchFamily="34" charset="-122"/>
                <a:cs typeface="Calibri" pitchFamily="34" charset="-120"/>
              </a:rPr>
              <a:t>Defeats most credential attacks — </a:t>
            </a:r>
            <a:r>
              <a:rPr lang="en-US" sz="1250" dirty="0">
                <a:solidFill>
                  <a:srgbClr val="5B6472"/>
                </a:solidFill>
                <a:latin typeface="Calibri" pitchFamily="34" charset="0"/>
                <a:ea typeface="Calibri" pitchFamily="34" charset="-122"/>
                <a:cs typeface="Calibri" pitchFamily="34" charset="-120"/>
              </a:rPr>
              <a:t>phishing, brute force</a:t>
            </a:r>
            <a:endParaRPr lang="en-US" sz="1250" dirty="0"/>
          </a:p>
        </p:txBody>
      </p:sp>
      <p:sp>
        <p:nvSpPr>
          <p:cNvPr id="24" name="Shape 19"/>
          <p:cNvSpPr/>
          <p:nvPr/>
        </p:nvSpPr>
        <p:spPr>
          <a:xfrm>
            <a:off x="6720840" y="4334256"/>
            <a:ext cx="128016" cy="128016"/>
          </a:xfrm>
          <a:prstGeom prst="ellipse">
            <a:avLst/>
          </a:prstGeom>
          <a:solidFill>
            <a:srgbClr val="F2931F"/>
          </a:solidFill>
          <a:ln/>
        </p:spPr>
        <p:txBody>
          <a:bodyPr/>
          <a:lstStyle/>
          <a:p>
            <a:endParaRPr lang="en-MY"/>
          </a:p>
        </p:txBody>
      </p:sp>
      <p:sp>
        <p:nvSpPr>
          <p:cNvPr id="25" name="Text 20"/>
          <p:cNvSpPr/>
          <p:nvPr/>
        </p:nvSpPr>
        <p:spPr>
          <a:xfrm>
            <a:off x="6995160" y="4270248"/>
            <a:ext cx="4389120" cy="530352"/>
          </a:xfrm>
          <a:prstGeom prst="rect">
            <a:avLst/>
          </a:prstGeom>
          <a:noFill/>
          <a:ln/>
        </p:spPr>
        <p:txBody>
          <a:bodyPr wrap="square" lIns="0" tIns="0" rIns="0" bIns="0" rtlCol="0" anchor="ctr"/>
          <a:lstStyle/>
          <a:p>
            <a:pPr marL="0" indent="0">
              <a:buNone/>
            </a:pPr>
            <a:r>
              <a:rPr lang="en-US" sz="1250" b="1" dirty="0">
                <a:solidFill>
                  <a:srgbClr val="23283A"/>
                </a:solidFill>
                <a:latin typeface="Calibri" pitchFamily="34" charset="0"/>
                <a:ea typeface="Calibri" pitchFamily="34" charset="-122"/>
                <a:cs typeface="Calibri" pitchFamily="34" charset="-120"/>
              </a:rPr>
              <a:t>Baseline for anything sensitive — </a:t>
            </a:r>
            <a:endParaRPr lang="en-US" sz="1250" dirty="0"/>
          </a:p>
        </p:txBody>
      </p:sp>
      <p:sp>
        <p:nvSpPr>
          <p:cNvPr id="26" name="Shape 21"/>
          <p:cNvSpPr/>
          <p:nvPr/>
        </p:nvSpPr>
        <p:spPr>
          <a:xfrm>
            <a:off x="6720840" y="4901184"/>
            <a:ext cx="128016" cy="128016"/>
          </a:xfrm>
          <a:prstGeom prst="ellipse">
            <a:avLst/>
          </a:prstGeom>
          <a:solidFill>
            <a:srgbClr val="F2931F"/>
          </a:solidFill>
          <a:ln/>
        </p:spPr>
        <p:txBody>
          <a:bodyPr/>
          <a:lstStyle/>
          <a:p>
            <a:endParaRPr lang="en-MY"/>
          </a:p>
        </p:txBody>
      </p:sp>
      <p:sp>
        <p:nvSpPr>
          <p:cNvPr id="27" name="Text 22"/>
          <p:cNvSpPr/>
          <p:nvPr/>
        </p:nvSpPr>
        <p:spPr>
          <a:xfrm>
            <a:off x="6995160" y="4837176"/>
            <a:ext cx="4389120" cy="530352"/>
          </a:xfrm>
          <a:prstGeom prst="rect">
            <a:avLst/>
          </a:prstGeom>
          <a:noFill/>
          <a:ln/>
        </p:spPr>
        <p:txBody>
          <a:bodyPr wrap="square" lIns="0" tIns="0" rIns="0" bIns="0" rtlCol="0" anchor="ctr"/>
          <a:lstStyle/>
          <a:p>
            <a:pPr marL="0" indent="0">
              <a:buNone/>
            </a:pPr>
            <a:r>
              <a:rPr lang="en-US" sz="1250" b="1" dirty="0">
                <a:solidFill>
                  <a:srgbClr val="23283A"/>
                </a:solidFill>
                <a:latin typeface="Calibri" pitchFamily="34" charset="0"/>
                <a:ea typeface="Calibri" pitchFamily="34" charset="-122"/>
                <a:cs typeface="Calibri" pitchFamily="34" charset="-120"/>
              </a:rPr>
              <a:t>The cheapest big security win — </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marL="0" indent="0">
              <a:buNone/>
            </a:pPr>
            <a:r>
              <a:rPr lang="en-US" sz="1150" b="1" kern="0" spc="200" dirty="0">
                <a:solidFill>
                  <a:srgbClr val="F2931F"/>
                </a:solidFill>
                <a:latin typeface="Calibri" pitchFamily="34" charset="0"/>
                <a:ea typeface="Calibri" pitchFamily="34" charset="-122"/>
                <a:cs typeface="Calibri" pitchFamily="34" charset="-120"/>
              </a:rPr>
              <a:t>GRANTING RIGHTS</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marL="0" indent="0">
              <a:buNone/>
            </a:pPr>
            <a:r>
              <a:rPr lang="en-US" sz="2600" b="1" dirty="0">
                <a:solidFill>
                  <a:srgbClr val="262F65"/>
                </a:solidFill>
                <a:latin typeface="Cambria" pitchFamily="34" charset="0"/>
                <a:ea typeface="Cambria" pitchFamily="34" charset="-122"/>
                <a:cs typeface="Cambria" pitchFamily="34" charset="-120"/>
              </a:rPr>
              <a:t>Authorization models — RBAC &amp; ABAC</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marL="0" indent="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9</a:t>
            </a:r>
            <a:endParaRPr lang="en-US" sz="900" dirty="0"/>
          </a:p>
        </p:txBody>
      </p:sp>
      <p:sp>
        <p:nvSpPr>
          <p:cNvPr id="7" name="Shape 4"/>
          <p:cNvSpPr/>
          <p:nvPr/>
        </p:nvSpPr>
        <p:spPr>
          <a:xfrm>
            <a:off x="640080" y="1737360"/>
            <a:ext cx="5349240" cy="3931920"/>
          </a:xfrm>
          <a:prstGeom prst="roundRect">
            <a:avLst>
              <a:gd name="adj" fmla="val 2093"/>
            </a:avLst>
          </a:prstGeom>
          <a:solidFill>
            <a:srgbClr val="F4F6FB"/>
          </a:solidFill>
          <a:ln/>
          <a:effectLst>
            <a:outerShdw blurRad="88900" dist="38100" dir="5400000" algn="bl" rotWithShape="0">
              <a:srgbClr val="8894AD">
                <a:alpha val="28000"/>
              </a:srgbClr>
            </a:outerShdw>
          </a:effectLst>
        </p:spPr>
        <p:txBody>
          <a:bodyPr/>
          <a:lstStyle/>
          <a:p>
            <a:endParaRPr lang="en-MY"/>
          </a:p>
        </p:txBody>
      </p:sp>
      <p:sp>
        <p:nvSpPr>
          <p:cNvPr id="8" name="Shape 5"/>
          <p:cNvSpPr/>
          <p:nvPr/>
        </p:nvSpPr>
        <p:spPr>
          <a:xfrm>
            <a:off x="960120" y="2057400"/>
            <a:ext cx="868680" cy="868680"/>
          </a:xfrm>
          <a:prstGeom prst="ellipse">
            <a:avLst/>
          </a:prstGeom>
          <a:solidFill>
            <a:srgbClr val="262F65"/>
          </a:solidFill>
          <a:ln/>
        </p:spPr>
        <p:txBody>
          <a:bodyPr/>
          <a:lstStyle/>
          <a:p>
            <a:endParaRPr lang="en-MY"/>
          </a:p>
        </p:txBody>
      </p:sp>
      <p:pic>
        <p:nvPicPr>
          <p:cNvPr id="9" name="Image 0" descr="preencoded.png"/>
          <p:cNvPicPr>
            <a:picLocks noChangeAspect="1"/>
          </p:cNvPicPr>
          <p:nvPr/>
        </p:nvPicPr>
        <p:blipFill>
          <a:blip r:embed="rId3"/>
          <a:stretch>
            <a:fillRect/>
          </a:stretch>
        </p:blipFill>
        <p:spPr>
          <a:xfrm>
            <a:off x="1168603" y="2265883"/>
            <a:ext cx="451714" cy="451714"/>
          </a:xfrm>
          <a:prstGeom prst="rect">
            <a:avLst/>
          </a:prstGeom>
        </p:spPr>
      </p:pic>
      <p:sp>
        <p:nvSpPr>
          <p:cNvPr id="10" name="Text 6"/>
          <p:cNvSpPr/>
          <p:nvPr/>
        </p:nvSpPr>
        <p:spPr>
          <a:xfrm>
            <a:off x="2011680" y="2121408"/>
            <a:ext cx="3703320" cy="777240"/>
          </a:xfrm>
          <a:prstGeom prst="rect">
            <a:avLst/>
          </a:prstGeom>
          <a:noFill/>
          <a:ln/>
        </p:spPr>
        <p:txBody>
          <a:bodyPr wrap="square" lIns="0" tIns="0" rIns="0" bIns="0" rtlCol="0" anchor="t"/>
          <a:lstStyle/>
          <a:p>
            <a:pPr marL="0" indent="0">
              <a:buNone/>
            </a:pPr>
            <a:r>
              <a:rPr lang="en-US" sz="1550" b="1" dirty="0">
                <a:solidFill>
                  <a:srgbClr val="262F65"/>
                </a:solidFill>
                <a:latin typeface="Calibri" pitchFamily="34" charset="0"/>
                <a:ea typeface="Calibri" pitchFamily="34" charset="-122"/>
                <a:cs typeface="Calibri" pitchFamily="34" charset="-120"/>
              </a:rPr>
              <a:t>RBAC — by role</a:t>
            </a:r>
            <a:endParaRPr lang="en-US" sz="1550" dirty="0"/>
          </a:p>
        </p:txBody>
      </p:sp>
      <p:sp>
        <p:nvSpPr>
          <p:cNvPr id="11" name="Text 7"/>
          <p:cNvSpPr/>
          <p:nvPr/>
        </p:nvSpPr>
        <p:spPr>
          <a:xfrm>
            <a:off x="960120" y="3017520"/>
            <a:ext cx="4709160" cy="548640"/>
          </a:xfrm>
          <a:prstGeom prst="rect">
            <a:avLst/>
          </a:prstGeom>
          <a:noFill/>
          <a:ln/>
        </p:spPr>
        <p:txBody>
          <a:bodyPr wrap="square" lIns="0" tIns="0" rIns="0" bIns="0" rtlCol="0" anchor="t"/>
          <a:lstStyle/>
          <a:p>
            <a:pPr marL="0" indent="0">
              <a:buNone/>
            </a:pPr>
            <a:r>
              <a:rPr lang="en-US" sz="1250" i="1" dirty="0">
                <a:solidFill>
                  <a:srgbClr val="5B6472"/>
                </a:solidFill>
                <a:latin typeface="Calibri" pitchFamily="34" charset="0"/>
                <a:ea typeface="Calibri" pitchFamily="34" charset="-122"/>
                <a:cs typeface="Calibri" pitchFamily="34" charset="-120"/>
              </a:rPr>
              <a:t>Permissions attached to roles, users assigned to roles.</a:t>
            </a:r>
            <a:endParaRPr lang="en-US" sz="1250" dirty="0"/>
          </a:p>
        </p:txBody>
      </p:sp>
      <p:sp>
        <p:nvSpPr>
          <p:cNvPr id="12" name="Shape 8"/>
          <p:cNvSpPr/>
          <p:nvPr/>
        </p:nvSpPr>
        <p:spPr>
          <a:xfrm>
            <a:off x="1005840" y="3767328"/>
            <a:ext cx="128016" cy="128016"/>
          </a:xfrm>
          <a:prstGeom prst="ellipse">
            <a:avLst/>
          </a:prstGeom>
          <a:solidFill>
            <a:srgbClr val="262F65"/>
          </a:solidFill>
          <a:ln/>
        </p:spPr>
        <p:txBody>
          <a:bodyPr/>
          <a:lstStyle/>
          <a:p>
            <a:endParaRPr lang="en-MY"/>
          </a:p>
        </p:txBody>
      </p:sp>
      <p:sp>
        <p:nvSpPr>
          <p:cNvPr id="13" name="Text 9"/>
          <p:cNvSpPr/>
          <p:nvPr/>
        </p:nvSpPr>
        <p:spPr>
          <a:xfrm>
            <a:off x="1280160" y="3703320"/>
            <a:ext cx="4389120" cy="530352"/>
          </a:xfrm>
          <a:prstGeom prst="rect">
            <a:avLst/>
          </a:prstGeom>
          <a:noFill/>
          <a:ln/>
        </p:spPr>
        <p:txBody>
          <a:bodyPr wrap="square" lIns="0" tIns="0" rIns="0" bIns="0" rtlCol="0" anchor="ctr"/>
          <a:lstStyle/>
          <a:p>
            <a:pPr marL="0" indent="0">
              <a:buNone/>
            </a:pPr>
            <a:r>
              <a:rPr lang="en-US" sz="1250" b="1" dirty="0">
                <a:solidFill>
                  <a:srgbClr val="23283A"/>
                </a:solidFill>
                <a:latin typeface="Calibri" pitchFamily="34" charset="0"/>
                <a:ea typeface="Calibri" pitchFamily="34" charset="-122"/>
                <a:cs typeface="Calibri" pitchFamily="34" charset="-120"/>
              </a:rPr>
              <a:t>Simple &amp; scalable — </a:t>
            </a:r>
            <a:r>
              <a:rPr lang="en-US" sz="1250" dirty="0">
                <a:solidFill>
                  <a:srgbClr val="5B6472"/>
                </a:solidFill>
                <a:latin typeface="Calibri" pitchFamily="34" charset="0"/>
                <a:ea typeface="Calibri" pitchFamily="34" charset="-122"/>
                <a:cs typeface="Calibri" pitchFamily="34" charset="-120"/>
              </a:rPr>
              <a:t>the common workhorse</a:t>
            </a:r>
            <a:endParaRPr lang="en-US" sz="1250" dirty="0"/>
          </a:p>
        </p:txBody>
      </p:sp>
      <p:sp>
        <p:nvSpPr>
          <p:cNvPr id="14" name="Shape 10"/>
          <p:cNvSpPr/>
          <p:nvPr/>
        </p:nvSpPr>
        <p:spPr>
          <a:xfrm>
            <a:off x="1005840" y="4334256"/>
            <a:ext cx="128016" cy="128016"/>
          </a:xfrm>
          <a:prstGeom prst="ellipse">
            <a:avLst/>
          </a:prstGeom>
          <a:solidFill>
            <a:srgbClr val="262F65"/>
          </a:solidFill>
          <a:ln/>
        </p:spPr>
        <p:txBody>
          <a:bodyPr/>
          <a:lstStyle/>
          <a:p>
            <a:endParaRPr lang="en-MY"/>
          </a:p>
        </p:txBody>
      </p:sp>
      <p:sp>
        <p:nvSpPr>
          <p:cNvPr id="15" name="Text 11"/>
          <p:cNvSpPr/>
          <p:nvPr/>
        </p:nvSpPr>
        <p:spPr>
          <a:xfrm>
            <a:off x="1280160" y="4270248"/>
            <a:ext cx="4389120" cy="530352"/>
          </a:xfrm>
          <a:prstGeom prst="rect">
            <a:avLst/>
          </a:prstGeom>
          <a:noFill/>
          <a:ln/>
        </p:spPr>
        <p:txBody>
          <a:bodyPr wrap="square" lIns="0" tIns="0" rIns="0" bIns="0" rtlCol="0" anchor="ctr"/>
          <a:lstStyle/>
          <a:p>
            <a:pPr marL="0" indent="0">
              <a:buNone/>
            </a:pPr>
            <a:r>
              <a:rPr lang="en-US" sz="1250" b="1" dirty="0">
                <a:solidFill>
                  <a:srgbClr val="23283A"/>
                </a:solidFill>
                <a:latin typeface="Calibri" pitchFamily="34" charset="0"/>
                <a:ea typeface="Calibri" pitchFamily="34" charset="-122"/>
                <a:cs typeface="Calibri" pitchFamily="34" charset="-120"/>
              </a:rPr>
              <a:t>Manage by role, not per-user — </a:t>
            </a:r>
            <a:endParaRPr lang="en-US" sz="1250" dirty="0"/>
          </a:p>
        </p:txBody>
      </p:sp>
      <p:sp>
        <p:nvSpPr>
          <p:cNvPr id="16" name="Shape 12"/>
          <p:cNvSpPr/>
          <p:nvPr/>
        </p:nvSpPr>
        <p:spPr>
          <a:xfrm>
            <a:off x="1005840" y="4901184"/>
            <a:ext cx="128016" cy="128016"/>
          </a:xfrm>
          <a:prstGeom prst="ellipse">
            <a:avLst/>
          </a:prstGeom>
          <a:solidFill>
            <a:srgbClr val="262F65"/>
          </a:solidFill>
          <a:ln/>
        </p:spPr>
        <p:txBody>
          <a:bodyPr/>
          <a:lstStyle/>
          <a:p>
            <a:endParaRPr lang="en-MY"/>
          </a:p>
        </p:txBody>
      </p:sp>
      <p:sp>
        <p:nvSpPr>
          <p:cNvPr id="17" name="Text 13"/>
          <p:cNvSpPr/>
          <p:nvPr/>
        </p:nvSpPr>
        <p:spPr>
          <a:xfrm>
            <a:off x="1280160" y="4837176"/>
            <a:ext cx="4389120" cy="530352"/>
          </a:xfrm>
          <a:prstGeom prst="rect">
            <a:avLst/>
          </a:prstGeom>
          <a:noFill/>
          <a:ln/>
        </p:spPr>
        <p:txBody>
          <a:bodyPr wrap="square" lIns="0" tIns="0" rIns="0" bIns="0" rtlCol="0" anchor="ctr"/>
          <a:lstStyle/>
          <a:p>
            <a:pPr marL="0" indent="0">
              <a:buNone/>
            </a:pPr>
            <a:r>
              <a:rPr lang="en-US" sz="1250" b="1" dirty="0">
                <a:solidFill>
                  <a:srgbClr val="23283A"/>
                </a:solidFill>
                <a:latin typeface="Calibri" pitchFamily="34" charset="0"/>
                <a:ea typeface="Calibri" pitchFamily="34" charset="-122"/>
                <a:cs typeface="Calibri" pitchFamily="34" charset="-120"/>
              </a:rPr>
              <a:t>Example — </a:t>
            </a:r>
            <a:r>
              <a:rPr lang="en-US" sz="1250" dirty="0">
                <a:solidFill>
                  <a:srgbClr val="5B6472"/>
                </a:solidFill>
                <a:latin typeface="Calibri" pitchFamily="34" charset="0"/>
                <a:ea typeface="Calibri" pitchFamily="34" charset="-122"/>
                <a:cs typeface="Calibri" pitchFamily="34" charset="-120"/>
              </a:rPr>
              <a:t>Admin vs User</a:t>
            </a:r>
            <a:endParaRPr lang="en-US" sz="1250" dirty="0"/>
          </a:p>
        </p:txBody>
      </p:sp>
      <p:sp>
        <p:nvSpPr>
          <p:cNvPr id="18" name="Shape 14"/>
          <p:cNvSpPr/>
          <p:nvPr/>
        </p:nvSpPr>
        <p:spPr>
          <a:xfrm>
            <a:off x="6355080" y="1737360"/>
            <a:ext cx="5349240" cy="3931920"/>
          </a:xfrm>
          <a:prstGeom prst="roundRect">
            <a:avLst>
              <a:gd name="adj" fmla="val 2093"/>
            </a:avLst>
          </a:prstGeom>
          <a:solidFill>
            <a:srgbClr val="F4F6FB"/>
          </a:solidFill>
          <a:ln/>
          <a:effectLst>
            <a:outerShdw blurRad="88900" dist="38100" dir="5400000" algn="bl" rotWithShape="0">
              <a:srgbClr val="8894AD">
                <a:alpha val="28000"/>
              </a:srgbClr>
            </a:outerShdw>
          </a:effectLst>
        </p:spPr>
        <p:txBody>
          <a:bodyPr/>
          <a:lstStyle/>
          <a:p>
            <a:endParaRPr lang="en-MY"/>
          </a:p>
        </p:txBody>
      </p:sp>
      <p:sp>
        <p:nvSpPr>
          <p:cNvPr id="19" name="Shape 15"/>
          <p:cNvSpPr/>
          <p:nvPr/>
        </p:nvSpPr>
        <p:spPr>
          <a:xfrm>
            <a:off x="6675120" y="2057400"/>
            <a:ext cx="868680" cy="868680"/>
          </a:xfrm>
          <a:prstGeom prst="ellipse">
            <a:avLst/>
          </a:prstGeom>
          <a:solidFill>
            <a:srgbClr val="F2931F"/>
          </a:solidFill>
          <a:ln/>
        </p:spPr>
        <p:txBody>
          <a:bodyPr/>
          <a:lstStyle/>
          <a:p>
            <a:endParaRPr lang="en-MY"/>
          </a:p>
        </p:txBody>
      </p:sp>
      <p:pic>
        <p:nvPicPr>
          <p:cNvPr id="20" name="Image 1" descr="preencoded.png"/>
          <p:cNvPicPr>
            <a:picLocks noChangeAspect="1"/>
          </p:cNvPicPr>
          <p:nvPr/>
        </p:nvPicPr>
        <p:blipFill>
          <a:blip r:embed="rId4"/>
          <a:stretch>
            <a:fillRect/>
          </a:stretch>
        </p:blipFill>
        <p:spPr>
          <a:xfrm>
            <a:off x="6883603" y="2265883"/>
            <a:ext cx="451714" cy="451714"/>
          </a:xfrm>
          <a:prstGeom prst="rect">
            <a:avLst/>
          </a:prstGeom>
        </p:spPr>
      </p:pic>
      <p:sp>
        <p:nvSpPr>
          <p:cNvPr id="21" name="Text 16"/>
          <p:cNvSpPr/>
          <p:nvPr/>
        </p:nvSpPr>
        <p:spPr>
          <a:xfrm>
            <a:off x="7726680" y="2121408"/>
            <a:ext cx="3703320" cy="777240"/>
          </a:xfrm>
          <a:prstGeom prst="rect">
            <a:avLst/>
          </a:prstGeom>
          <a:noFill/>
          <a:ln/>
        </p:spPr>
        <p:txBody>
          <a:bodyPr wrap="square" lIns="0" tIns="0" rIns="0" bIns="0" rtlCol="0" anchor="t"/>
          <a:lstStyle/>
          <a:p>
            <a:pPr marL="0" indent="0">
              <a:buNone/>
            </a:pPr>
            <a:r>
              <a:rPr lang="en-US" sz="1550" b="1" dirty="0">
                <a:solidFill>
                  <a:srgbClr val="262F65"/>
                </a:solidFill>
                <a:latin typeface="Calibri" pitchFamily="34" charset="0"/>
                <a:ea typeface="Calibri" pitchFamily="34" charset="-122"/>
                <a:cs typeface="Calibri" pitchFamily="34" charset="-120"/>
              </a:rPr>
              <a:t>ABAC — by attributes</a:t>
            </a:r>
            <a:endParaRPr lang="en-US" sz="1550" dirty="0"/>
          </a:p>
        </p:txBody>
      </p:sp>
      <p:sp>
        <p:nvSpPr>
          <p:cNvPr id="22" name="Text 17"/>
          <p:cNvSpPr/>
          <p:nvPr/>
        </p:nvSpPr>
        <p:spPr>
          <a:xfrm>
            <a:off x="6675120" y="3017520"/>
            <a:ext cx="4709160" cy="548640"/>
          </a:xfrm>
          <a:prstGeom prst="rect">
            <a:avLst/>
          </a:prstGeom>
          <a:noFill/>
          <a:ln/>
        </p:spPr>
        <p:txBody>
          <a:bodyPr wrap="square" lIns="0" tIns="0" rIns="0" bIns="0" rtlCol="0" anchor="t"/>
          <a:lstStyle/>
          <a:p>
            <a:pPr marL="0" indent="0">
              <a:buNone/>
            </a:pPr>
            <a:r>
              <a:rPr lang="en-US" sz="1250" i="1" dirty="0">
                <a:solidFill>
                  <a:srgbClr val="5B6472"/>
                </a:solidFill>
                <a:latin typeface="Calibri" pitchFamily="34" charset="0"/>
                <a:ea typeface="Calibri" pitchFamily="34" charset="-122"/>
                <a:cs typeface="Calibri" pitchFamily="34" charset="-120"/>
              </a:rPr>
              <a:t>Access from attributes: dept, sensitivity, time, location.</a:t>
            </a:r>
            <a:endParaRPr lang="en-US" sz="1250" dirty="0"/>
          </a:p>
        </p:txBody>
      </p:sp>
      <p:sp>
        <p:nvSpPr>
          <p:cNvPr id="23" name="Shape 18"/>
          <p:cNvSpPr/>
          <p:nvPr/>
        </p:nvSpPr>
        <p:spPr>
          <a:xfrm>
            <a:off x="6720840" y="3767328"/>
            <a:ext cx="128016" cy="128016"/>
          </a:xfrm>
          <a:prstGeom prst="ellipse">
            <a:avLst/>
          </a:prstGeom>
          <a:solidFill>
            <a:srgbClr val="F2931F"/>
          </a:solidFill>
          <a:ln/>
        </p:spPr>
        <p:txBody>
          <a:bodyPr/>
          <a:lstStyle/>
          <a:p>
            <a:endParaRPr lang="en-MY"/>
          </a:p>
        </p:txBody>
      </p:sp>
      <p:sp>
        <p:nvSpPr>
          <p:cNvPr id="24" name="Text 19"/>
          <p:cNvSpPr/>
          <p:nvPr/>
        </p:nvSpPr>
        <p:spPr>
          <a:xfrm>
            <a:off x="6995160" y="3703320"/>
            <a:ext cx="4389120" cy="530352"/>
          </a:xfrm>
          <a:prstGeom prst="rect">
            <a:avLst/>
          </a:prstGeom>
          <a:noFill/>
          <a:ln/>
        </p:spPr>
        <p:txBody>
          <a:bodyPr wrap="square" lIns="0" tIns="0" rIns="0" bIns="0" rtlCol="0" anchor="ctr"/>
          <a:lstStyle/>
          <a:p>
            <a:pPr marL="0" indent="0">
              <a:buNone/>
            </a:pPr>
            <a:r>
              <a:rPr lang="en-US" sz="1250" b="1" dirty="0">
                <a:solidFill>
                  <a:srgbClr val="23283A"/>
                </a:solidFill>
                <a:latin typeface="Calibri" pitchFamily="34" charset="0"/>
                <a:ea typeface="Calibri" pitchFamily="34" charset="-122"/>
                <a:cs typeface="Calibri" pitchFamily="34" charset="-120"/>
              </a:rPr>
              <a:t>Fine-grained &amp; context-aware — </a:t>
            </a:r>
            <a:endParaRPr lang="en-US" sz="1250" dirty="0"/>
          </a:p>
        </p:txBody>
      </p:sp>
      <p:sp>
        <p:nvSpPr>
          <p:cNvPr id="25" name="Shape 20"/>
          <p:cNvSpPr/>
          <p:nvPr/>
        </p:nvSpPr>
        <p:spPr>
          <a:xfrm>
            <a:off x="6720840" y="4334256"/>
            <a:ext cx="128016" cy="128016"/>
          </a:xfrm>
          <a:prstGeom prst="ellipse">
            <a:avLst/>
          </a:prstGeom>
          <a:solidFill>
            <a:srgbClr val="F2931F"/>
          </a:solidFill>
          <a:ln/>
        </p:spPr>
        <p:txBody>
          <a:bodyPr/>
          <a:lstStyle/>
          <a:p>
            <a:endParaRPr lang="en-MY"/>
          </a:p>
        </p:txBody>
      </p:sp>
      <p:sp>
        <p:nvSpPr>
          <p:cNvPr id="26" name="Text 21"/>
          <p:cNvSpPr/>
          <p:nvPr/>
        </p:nvSpPr>
        <p:spPr>
          <a:xfrm>
            <a:off x="6995160" y="4270248"/>
            <a:ext cx="4389120" cy="530352"/>
          </a:xfrm>
          <a:prstGeom prst="rect">
            <a:avLst/>
          </a:prstGeom>
          <a:noFill/>
          <a:ln/>
        </p:spPr>
        <p:txBody>
          <a:bodyPr wrap="square" lIns="0" tIns="0" rIns="0" bIns="0" rtlCol="0" anchor="ctr"/>
          <a:lstStyle/>
          <a:p>
            <a:pPr marL="0" indent="0">
              <a:buNone/>
            </a:pPr>
            <a:r>
              <a:rPr lang="en-US" sz="1250" b="1" dirty="0">
                <a:solidFill>
                  <a:srgbClr val="23283A"/>
                </a:solidFill>
                <a:latin typeface="Calibri" pitchFamily="34" charset="0"/>
                <a:ea typeface="Calibri" pitchFamily="34" charset="-122"/>
                <a:cs typeface="Calibri" pitchFamily="34" charset="-120"/>
              </a:rPr>
              <a:t>More complex to manage — </a:t>
            </a:r>
            <a:endParaRPr lang="en-US" sz="1250" dirty="0"/>
          </a:p>
        </p:txBody>
      </p:sp>
      <p:sp>
        <p:nvSpPr>
          <p:cNvPr id="27" name="Shape 22"/>
          <p:cNvSpPr/>
          <p:nvPr/>
        </p:nvSpPr>
        <p:spPr>
          <a:xfrm>
            <a:off x="6720840" y="4901184"/>
            <a:ext cx="128016" cy="128016"/>
          </a:xfrm>
          <a:prstGeom prst="ellipse">
            <a:avLst/>
          </a:prstGeom>
          <a:solidFill>
            <a:srgbClr val="F2931F"/>
          </a:solidFill>
          <a:ln/>
        </p:spPr>
        <p:txBody>
          <a:bodyPr/>
          <a:lstStyle/>
          <a:p>
            <a:endParaRPr lang="en-MY"/>
          </a:p>
        </p:txBody>
      </p:sp>
      <p:sp>
        <p:nvSpPr>
          <p:cNvPr id="28" name="Text 23"/>
          <p:cNvSpPr/>
          <p:nvPr/>
        </p:nvSpPr>
        <p:spPr>
          <a:xfrm>
            <a:off x="6995160" y="4837176"/>
            <a:ext cx="4389120" cy="530352"/>
          </a:xfrm>
          <a:prstGeom prst="rect">
            <a:avLst/>
          </a:prstGeom>
          <a:noFill/>
          <a:ln/>
        </p:spPr>
        <p:txBody>
          <a:bodyPr wrap="square" lIns="0" tIns="0" rIns="0" bIns="0" rtlCol="0" anchor="ctr"/>
          <a:lstStyle/>
          <a:p>
            <a:pPr marL="0" indent="0">
              <a:buNone/>
            </a:pPr>
            <a:r>
              <a:rPr lang="en-US" sz="1250" b="1" dirty="0">
                <a:solidFill>
                  <a:srgbClr val="23283A"/>
                </a:solidFill>
                <a:latin typeface="Calibri" pitchFamily="34" charset="0"/>
                <a:ea typeface="Calibri" pitchFamily="34" charset="-122"/>
                <a:cs typeface="Calibri" pitchFamily="34" charset="-120"/>
              </a:rPr>
              <a:t>Example — </a:t>
            </a:r>
            <a:r>
              <a:rPr lang="en-US" sz="1250" dirty="0">
                <a:solidFill>
                  <a:srgbClr val="5B6472"/>
                </a:solidFill>
                <a:latin typeface="Calibri" pitchFamily="34" charset="0"/>
                <a:ea typeface="Calibri" pitchFamily="34" charset="-122"/>
                <a:cs typeface="Calibri" pitchFamily="34" charset="-120"/>
              </a:rPr>
              <a:t>only from corp network, 9–5</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62F65"/>
        </a:solidFill>
        <a:effectLst/>
      </p:bgPr>
    </p:bg>
    <p:spTree>
      <p:nvGrpSpPr>
        <p:cNvPr id="1" name=""/>
        <p:cNvGrpSpPr/>
        <p:nvPr/>
      </p:nvGrpSpPr>
      <p:grpSpPr>
        <a:xfrm>
          <a:off x="0" y="0"/>
          <a:ext cx="0" cy="0"/>
          <a:chOff x="0" y="0"/>
          <a:chExt cx="0" cy="0"/>
        </a:xfrm>
      </p:grpSpPr>
      <p:sp>
        <p:nvSpPr>
          <p:cNvPr id="2" name="Shape 0"/>
          <p:cNvSpPr/>
          <p:nvPr/>
        </p:nvSpPr>
        <p:spPr>
          <a:xfrm>
            <a:off x="-1280160" y="3931920"/>
            <a:ext cx="4023360" cy="4023360"/>
          </a:xfrm>
          <a:prstGeom prst="ellipse">
            <a:avLst/>
          </a:prstGeom>
          <a:solidFill>
            <a:srgbClr val="293E7B">
              <a:alpha val="45000"/>
            </a:srgbClr>
          </a:solidFill>
          <a:ln/>
        </p:spPr>
        <p:txBody>
          <a:bodyPr/>
          <a:lstStyle/>
          <a:p>
            <a:endParaRPr lang="en-MY"/>
          </a:p>
        </p:txBody>
      </p:sp>
      <p:pic>
        <p:nvPicPr>
          <p:cNvPr id="3" name="Image 0" descr="preencoded.png"/>
          <p:cNvPicPr>
            <a:picLocks noChangeAspect="1"/>
          </p:cNvPicPr>
          <p:nvPr/>
        </p:nvPicPr>
        <p:blipFill>
          <a:blip r:embed="rId3"/>
          <a:stretch>
            <a:fillRect/>
          </a:stretch>
        </p:blipFill>
        <p:spPr>
          <a:xfrm>
            <a:off x="7360920" y="1412421"/>
            <a:ext cx="4343400" cy="4033157"/>
          </a:xfrm>
          <a:prstGeom prst="rect">
            <a:avLst/>
          </a:prstGeom>
        </p:spPr>
      </p:pic>
      <p:sp>
        <p:nvSpPr>
          <p:cNvPr id="4" name="Text 1"/>
          <p:cNvSpPr/>
          <p:nvPr/>
        </p:nvSpPr>
        <p:spPr>
          <a:xfrm>
            <a:off x="640080" y="960120"/>
            <a:ext cx="4572000" cy="2194560"/>
          </a:xfrm>
          <a:prstGeom prst="rect">
            <a:avLst/>
          </a:prstGeom>
          <a:noFill/>
          <a:ln/>
        </p:spPr>
        <p:txBody>
          <a:bodyPr wrap="square" lIns="0" tIns="0" rIns="0" bIns="0" rtlCol="0" anchor="ctr"/>
          <a:lstStyle/>
          <a:p>
            <a:pPr marL="0" indent="0">
              <a:buNone/>
            </a:pPr>
            <a:r>
              <a:rPr lang="en-US" sz="14000" b="1" dirty="0">
                <a:solidFill>
                  <a:srgbClr val="FABA32"/>
                </a:solidFill>
                <a:latin typeface="Cambria" pitchFamily="34" charset="0"/>
                <a:ea typeface="Cambria" pitchFamily="34" charset="-122"/>
                <a:cs typeface="Cambria" pitchFamily="34" charset="-120"/>
              </a:rPr>
              <a:t>03</a:t>
            </a:r>
            <a:endParaRPr lang="en-US" sz="14000" dirty="0"/>
          </a:p>
        </p:txBody>
      </p:sp>
      <p:sp>
        <p:nvSpPr>
          <p:cNvPr id="5" name="Text 2"/>
          <p:cNvSpPr/>
          <p:nvPr/>
        </p:nvSpPr>
        <p:spPr>
          <a:xfrm>
            <a:off x="713232" y="3429000"/>
            <a:ext cx="6400800" cy="457200"/>
          </a:xfrm>
          <a:prstGeom prst="rect">
            <a:avLst/>
          </a:prstGeom>
          <a:noFill/>
          <a:ln/>
        </p:spPr>
        <p:txBody>
          <a:bodyPr wrap="square" lIns="0" tIns="0" rIns="0" bIns="0" rtlCol="0" anchor="ctr"/>
          <a:lstStyle/>
          <a:p>
            <a:pPr marL="0" indent="0">
              <a:buNone/>
            </a:pPr>
            <a:r>
              <a:rPr lang="en-US" sz="1500" b="1" kern="0" spc="300" dirty="0">
                <a:solidFill>
                  <a:srgbClr val="FABA32"/>
                </a:solidFill>
                <a:latin typeface="Calibri" pitchFamily="34" charset="0"/>
                <a:ea typeface="Calibri" pitchFamily="34" charset="-122"/>
                <a:cs typeface="Calibri" pitchFamily="34" charset="-120"/>
              </a:rPr>
              <a:t>PART 3</a:t>
            </a:r>
            <a:endParaRPr lang="en-US" sz="1500" dirty="0"/>
          </a:p>
        </p:txBody>
      </p:sp>
      <p:sp>
        <p:nvSpPr>
          <p:cNvPr id="6" name="Text 3"/>
          <p:cNvSpPr/>
          <p:nvPr/>
        </p:nvSpPr>
        <p:spPr>
          <a:xfrm>
            <a:off x="713232" y="3840480"/>
            <a:ext cx="6309360" cy="1828800"/>
          </a:xfrm>
          <a:prstGeom prst="rect">
            <a:avLst/>
          </a:prstGeom>
          <a:noFill/>
          <a:ln/>
        </p:spPr>
        <p:txBody>
          <a:bodyPr wrap="square" lIns="0" tIns="0" rIns="0" bIns="0" rtlCol="0" anchor="t"/>
          <a:lstStyle/>
          <a:p>
            <a:pPr marL="0" indent="0">
              <a:buNone/>
            </a:pPr>
            <a:r>
              <a:rPr lang="en-US" sz="3200" b="1" dirty="0">
                <a:solidFill>
                  <a:srgbClr val="FFFFFF"/>
                </a:solidFill>
                <a:latin typeface="Cambria" pitchFamily="34" charset="0"/>
                <a:ea typeface="Cambria" pitchFamily="34" charset="-122"/>
                <a:cs typeface="Cambria" pitchFamily="34" charset="-120"/>
              </a:rPr>
              <a:t>The Three Access Domains</a:t>
            </a:r>
            <a:endParaRPr lang="en-US" sz="3200" dirty="0"/>
          </a:p>
        </p:txBody>
      </p:sp>
      <p:pic>
        <p:nvPicPr>
          <p:cNvPr id="7" name="Image 1" descr="/sessions/inspiring-busy-dijkstra/mnt/outputs/build/assets/logo_white_trim.png"/>
          <p:cNvPicPr>
            <a:picLocks noChangeAspect="1"/>
          </p:cNvPicPr>
          <p:nvPr/>
        </p:nvPicPr>
        <p:blipFill>
          <a:blip r:embed="rId4"/>
          <a:stretch>
            <a:fillRect/>
          </a:stretch>
        </p:blipFill>
        <p:spPr>
          <a:xfrm>
            <a:off x="713232" y="5989320"/>
            <a:ext cx="1417320" cy="643963"/>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marL="0" indent="0">
              <a:buNone/>
            </a:pPr>
            <a:r>
              <a:rPr lang="en-US" sz="1150" b="1" kern="0" spc="200" dirty="0">
                <a:solidFill>
                  <a:srgbClr val="F2931F"/>
                </a:solidFill>
                <a:latin typeface="Calibri" pitchFamily="34" charset="0"/>
                <a:ea typeface="Calibri" pitchFamily="34" charset="-122"/>
                <a:cs typeface="Calibri" pitchFamily="34" charset="-120"/>
              </a:rPr>
              <a:t>OVERVIEW</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marL="0" indent="0">
              <a:buNone/>
            </a:pPr>
            <a:r>
              <a:rPr lang="en-US" sz="2600" b="1" dirty="0">
                <a:solidFill>
                  <a:srgbClr val="262F65"/>
                </a:solidFill>
                <a:latin typeface="Cambria" pitchFamily="34" charset="0"/>
                <a:ea typeface="Cambria" pitchFamily="34" charset="-122"/>
                <a:cs typeface="Cambria" pitchFamily="34" charset="-120"/>
              </a:rPr>
              <a:t>Compute, network &amp; storage access control</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marL="0" indent="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10</a:t>
            </a:r>
            <a:endParaRPr lang="en-US" sz="900" dirty="0"/>
          </a:p>
        </p:txBody>
      </p:sp>
      <p:sp>
        <p:nvSpPr>
          <p:cNvPr id="7" name="Shape 4"/>
          <p:cNvSpPr/>
          <p:nvPr/>
        </p:nvSpPr>
        <p:spPr>
          <a:xfrm>
            <a:off x="640080" y="1783080"/>
            <a:ext cx="3466490" cy="3108960"/>
          </a:xfrm>
          <a:prstGeom prst="roundRect">
            <a:avLst>
              <a:gd name="adj" fmla="val 2647"/>
            </a:avLst>
          </a:prstGeom>
          <a:solidFill>
            <a:srgbClr val="F4F6FB"/>
          </a:solidFill>
          <a:ln/>
          <a:effectLst>
            <a:outerShdw blurRad="88900" dist="38100" dir="5400000" algn="bl" rotWithShape="0">
              <a:srgbClr val="8894AD">
                <a:alpha val="28000"/>
              </a:srgbClr>
            </a:outerShdw>
          </a:effectLst>
        </p:spPr>
        <p:txBody>
          <a:bodyPr/>
          <a:lstStyle/>
          <a:p>
            <a:endParaRPr lang="en-MY"/>
          </a:p>
        </p:txBody>
      </p:sp>
      <p:sp>
        <p:nvSpPr>
          <p:cNvPr id="8" name="Shape 5"/>
          <p:cNvSpPr/>
          <p:nvPr/>
        </p:nvSpPr>
        <p:spPr>
          <a:xfrm>
            <a:off x="1916125" y="2103120"/>
            <a:ext cx="914400" cy="914400"/>
          </a:xfrm>
          <a:prstGeom prst="ellipse">
            <a:avLst/>
          </a:prstGeom>
          <a:solidFill>
            <a:srgbClr val="262F65"/>
          </a:solidFill>
          <a:ln/>
        </p:spPr>
        <p:txBody>
          <a:bodyPr/>
          <a:lstStyle/>
          <a:p>
            <a:endParaRPr lang="en-MY"/>
          </a:p>
        </p:txBody>
      </p:sp>
      <p:pic>
        <p:nvPicPr>
          <p:cNvPr id="9" name="Image 0" descr="preencoded.png"/>
          <p:cNvPicPr>
            <a:picLocks noChangeAspect="1"/>
          </p:cNvPicPr>
          <p:nvPr/>
        </p:nvPicPr>
        <p:blipFill>
          <a:blip r:embed="rId3"/>
          <a:stretch>
            <a:fillRect/>
          </a:stretch>
        </p:blipFill>
        <p:spPr>
          <a:xfrm>
            <a:off x="2135581" y="2322576"/>
            <a:ext cx="475488" cy="475488"/>
          </a:xfrm>
          <a:prstGeom prst="rect">
            <a:avLst/>
          </a:prstGeom>
        </p:spPr>
      </p:pic>
      <p:sp>
        <p:nvSpPr>
          <p:cNvPr id="10" name="Text 6"/>
          <p:cNvSpPr/>
          <p:nvPr/>
        </p:nvSpPr>
        <p:spPr>
          <a:xfrm>
            <a:off x="749808" y="3154680"/>
            <a:ext cx="3247034" cy="640080"/>
          </a:xfrm>
          <a:prstGeom prst="rect">
            <a:avLst/>
          </a:prstGeom>
          <a:noFill/>
          <a:ln/>
        </p:spPr>
        <p:txBody>
          <a:bodyPr wrap="square" lIns="0" tIns="0" rIns="0" bIns="0" rtlCol="0" anchor="t"/>
          <a:lstStyle/>
          <a:p>
            <a:pPr marL="0" indent="0" algn="ctr">
              <a:buNone/>
            </a:pPr>
            <a:r>
              <a:rPr lang="en-US" sz="1700" b="1" dirty="0">
                <a:solidFill>
                  <a:srgbClr val="262F65"/>
                </a:solidFill>
                <a:latin typeface="Cambria" pitchFamily="34" charset="0"/>
                <a:ea typeface="Cambria" pitchFamily="34" charset="-122"/>
                <a:cs typeface="Cambria" pitchFamily="34" charset="-120"/>
              </a:rPr>
              <a:t>Compute</a:t>
            </a:r>
            <a:endParaRPr lang="en-US" sz="1700" dirty="0"/>
          </a:p>
        </p:txBody>
      </p:sp>
      <p:sp>
        <p:nvSpPr>
          <p:cNvPr id="11" name="Text 7"/>
          <p:cNvSpPr/>
          <p:nvPr/>
        </p:nvSpPr>
        <p:spPr>
          <a:xfrm>
            <a:off x="804672" y="3794760"/>
            <a:ext cx="3137306" cy="1005840"/>
          </a:xfrm>
          <a:prstGeom prst="rect">
            <a:avLst/>
          </a:prstGeom>
          <a:noFill/>
          <a:ln/>
        </p:spPr>
        <p:txBody>
          <a:bodyPr wrap="square" lIns="0" tIns="0" rIns="0" bIns="0" rtlCol="0" anchor="t"/>
          <a:lstStyle/>
          <a:p>
            <a:pPr marL="0" indent="0" algn="ctr">
              <a:buNone/>
            </a:pPr>
            <a:r>
              <a:rPr lang="en-US" sz="1250" dirty="0">
                <a:solidFill>
                  <a:srgbClr val="23283A"/>
                </a:solidFill>
                <a:latin typeface="Calibri" pitchFamily="34" charset="0"/>
                <a:ea typeface="Calibri" pitchFamily="34" charset="-122"/>
                <a:cs typeface="Calibri" pitchFamily="34" charset="-120"/>
              </a:rPr>
              <a:t>Who can log into and administer VMs and workloads.</a:t>
            </a:r>
            <a:endParaRPr lang="en-US" sz="1250" dirty="0"/>
          </a:p>
        </p:txBody>
      </p:sp>
      <p:sp>
        <p:nvSpPr>
          <p:cNvPr id="12" name="Shape 8"/>
          <p:cNvSpPr/>
          <p:nvPr/>
        </p:nvSpPr>
        <p:spPr>
          <a:xfrm>
            <a:off x="4362602" y="1783080"/>
            <a:ext cx="3466490" cy="3108960"/>
          </a:xfrm>
          <a:prstGeom prst="roundRect">
            <a:avLst>
              <a:gd name="adj" fmla="val 2647"/>
            </a:avLst>
          </a:prstGeom>
          <a:solidFill>
            <a:srgbClr val="F4F6FB"/>
          </a:solidFill>
          <a:ln/>
          <a:effectLst>
            <a:outerShdw blurRad="88900" dist="38100" dir="5400000" algn="bl" rotWithShape="0">
              <a:srgbClr val="8894AD">
                <a:alpha val="28000"/>
              </a:srgbClr>
            </a:outerShdw>
          </a:effectLst>
        </p:spPr>
        <p:txBody>
          <a:bodyPr/>
          <a:lstStyle/>
          <a:p>
            <a:endParaRPr lang="en-MY"/>
          </a:p>
        </p:txBody>
      </p:sp>
      <p:sp>
        <p:nvSpPr>
          <p:cNvPr id="13" name="Shape 9"/>
          <p:cNvSpPr/>
          <p:nvPr/>
        </p:nvSpPr>
        <p:spPr>
          <a:xfrm>
            <a:off x="5638648" y="2103120"/>
            <a:ext cx="914400" cy="914400"/>
          </a:xfrm>
          <a:prstGeom prst="ellipse">
            <a:avLst/>
          </a:prstGeom>
          <a:solidFill>
            <a:srgbClr val="F2931F"/>
          </a:solidFill>
          <a:ln/>
        </p:spPr>
        <p:txBody>
          <a:bodyPr/>
          <a:lstStyle/>
          <a:p>
            <a:endParaRPr lang="en-MY"/>
          </a:p>
        </p:txBody>
      </p:sp>
      <p:pic>
        <p:nvPicPr>
          <p:cNvPr id="14" name="Image 1" descr="preencoded.png"/>
          <p:cNvPicPr>
            <a:picLocks noChangeAspect="1"/>
          </p:cNvPicPr>
          <p:nvPr/>
        </p:nvPicPr>
        <p:blipFill>
          <a:blip r:embed="rId4"/>
          <a:stretch>
            <a:fillRect/>
          </a:stretch>
        </p:blipFill>
        <p:spPr>
          <a:xfrm>
            <a:off x="5858104" y="2322576"/>
            <a:ext cx="475488" cy="475488"/>
          </a:xfrm>
          <a:prstGeom prst="rect">
            <a:avLst/>
          </a:prstGeom>
        </p:spPr>
      </p:pic>
      <p:sp>
        <p:nvSpPr>
          <p:cNvPr id="15" name="Text 10"/>
          <p:cNvSpPr/>
          <p:nvPr/>
        </p:nvSpPr>
        <p:spPr>
          <a:xfrm>
            <a:off x="4472330" y="3154680"/>
            <a:ext cx="3247034" cy="640080"/>
          </a:xfrm>
          <a:prstGeom prst="rect">
            <a:avLst/>
          </a:prstGeom>
          <a:noFill/>
          <a:ln/>
        </p:spPr>
        <p:txBody>
          <a:bodyPr wrap="square" lIns="0" tIns="0" rIns="0" bIns="0" rtlCol="0" anchor="t"/>
          <a:lstStyle/>
          <a:p>
            <a:pPr marL="0" indent="0" algn="ctr">
              <a:buNone/>
            </a:pPr>
            <a:r>
              <a:rPr lang="en-US" sz="1700" b="1" dirty="0">
                <a:solidFill>
                  <a:srgbClr val="262F65"/>
                </a:solidFill>
                <a:latin typeface="Cambria" pitchFamily="34" charset="0"/>
                <a:ea typeface="Cambria" pitchFamily="34" charset="-122"/>
                <a:cs typeface="Cambria" pitchFamily="34" charset="-120"/>
              </a:rPr>
              <a:t>Network</a:t>
            </a:r>
            <a:endParaRPr lang="en-US" sz="1700" dirty="0"/>
          </a:p>
        </p:txBody>
      </p:sp>
      <p:sp>
        <p:nvSpPr>
          <p:cNvPr id="16" name="Text 11"/>
          <p:cNvSpPr/>
          <p:nvPr/>
        </p:nvSpPr>
        <p:spPr>
          <a:xfrm>
            <a:off x="4527194" y="3794760"/>
            <a:ext cx="3137306" cy="1005840"/>
          </a:xfrm>
          <a:prstGeom prst="rect">
            <a:avLst/>
          </a:prstGeom>
          <a:noFill/>
          <a:ln/>
        </p:spPr>
        <p:txBody>
          <a:bodyPr wrap="square" lIns="0" tIns="0" rIns="0" bIns="0" rtlCol="0" anchor="t"/>
          <a:lstStyle/>
          <a:p>
            <a:pPr marL="0" indent="0" algn="ctr">
              <a:buNone/>
            </a:pPr>
            <a:r>
              <a:rPr lang="en-US" sz="1250" dirty="0">
                <a:solidFill>
                  <a:srgbClr val="23283A"/>
                </a:solidFill>
                <a:latin typeface="Calibri" pitchFamily="34" charset="0"/>
                <a:ea typeface="Calibri" pitchFamily="34" charset="-122"/>
                <a:cs typeface="Calibri" pitchFamily="34" charset="-120"/>
              </a:rPr>
              <a:t>Which systems may talk to which — firewalls, filtering.</a:t>
            </a:r>
            <a:endParaRPr lang="en-US" sz="1250" dirty="0"/>
          </a:p>
        </p:txBody>
      </p:sp>
      <p:sp>
        <p:nvSpPr>
          <p:cNvPr id="17" name="Shape 12"/>
          <p:cNvSpPr/>
          <p:nvPr/>
        </p:nvSpPr>
        <p:spPr>
          <a:xfrm>
            <a:off x="8085125" y="1783080"/>
            <a:ext cx="3466490" cy="3108960"/>
          </a:xfrm>
          <a:prstGeom prst="roundRect">
            <a:avLst>
              <a:gd name="adj" fmla="val 2647"/>
            </a:avLst>
          </a:prstGeom>
          <a:solidFill>
            <a:srgbClr val="F4F6FB"/>
          </a:solidFill>
          <a:ln/>
          <a:effectLst>
            <a:outerShdw blurRad="88900" dist="38100" dir="5400000" algn="bl" rotWithShape="0">
              <a:srgbClr val="8894AD">
                <a:alpha val="28000"/>
              </a:srgbClr>
            </a:outerShdw>
          </a:effectLst>
        </p:spPr>
        <p:txBody>
          <a:bodyPr/>
          <a:lstStyle/>
          <a:p>
            <a:endParaRPr lang="en-MY"/>
          </a:p>
        </p:txBody>
      </p:sp>
      <p:sp>
        <p:nvSpPr>
          <p:cNvPr id="18" name="Shape 13"/>
          <p:cNvSpPr/>
          <p:nvPr/>
        </p:nvSpPr>
        <p:spPr>
          <a:xfrm>
            <a:off x="9361170" y="2103120"/>
            <a:ext cx="914400" cy="914400"/>
          </a:xfrm>
          <a:prstGeom prst="ellipse">
            <a:avLst/>
          </a:prstGeom>
          <a:solidFill>
            <a:srgbClr val="293E7B"/>
          </a:solidFill>
          <a:ln/>
        </p:spPr>
        <p:txBody>
          <a:bodyPr/>
          <a:lstStyle/>
          <a:p>
            <a:endParaRPr lang="en-MY"/>
          </a:p>
        </p:txBody>
      </p:sp>
      <p:pic>
        <p:nvPicPr>
          <p:cNvPr id="19" name="Image 2" descr="preencoded.png"/>
          <p:cNvPicPr>
            <a:picLocks noChangeAspect="1"/>
          </p:cNvPicPr>
          <p:nvPr/>
        </p:nvPicPr>
        <p:blipFill>
          <a:blip r:embed="rId5"/>
          <a:stretch>
            <a:fillRect/>
          </a:stretch>
        </p:blipFill>
        <p:spPr>
          <a:xfrm>
            <a:off x="9580626" y="2322576"/>
            <a:ext cx="475488" cy="475488"/>
          </a:xfrm>
          <a:prstGeom prst="rect">
            <a:avLst/>
          </a:prstGeom>
        </p:spPr>
      </p:pic>
      <p:sp>
        <p:nvSpPr>
          <p:cNvPr id="20" name="Text 14"/>
          <p:cNvSpPr/>
          <p:nvPr/>
        </p:nvSpPr>
        <p:spPr>
          <a:xfrm>
            <a:off x="8194853" y="3154680"/>
            <a:ext cx="3247034" cy="640080"/>
          </a:xfrm>
          <a:prstGeom prst="rect">
            <a:avLst/>
          </a:prstGeom>
          <a:noFill/>
          <a:ln/>
        </p:spPr>
        <p:txBody>
          <a:bodyPr wrap="square" lIns="0" tIns="0" rIns="0" bIns="0" rtlCol="0" anchor="t"/>
          <a:lstStyle/>
          <a:p>
            <a:pPr marL="0" indent="0" algn="ctr">
              <a:buNone/>
            </a:pPr>
            <a:r>
              <a:rPr lang="en-US" sz="1700" b="1" dirty="0">
                <a:solidFill>
                  <a:srgbClr val="262F65"/>
                </a:solidFill>
                <a:latin typeface="Cambria" pitchFamily="34" charset="0"/>
                <a:ea typeface="Cambria" pitchFamily="34" charset="-122"/>
                <a:cs typeface="Cambria" pitchFamily="34" charset="-120"/>
              </a:rPr>
              <a:t>Storage</a:t>
            </a:r>
            <a:endParaRPr lang="en-US" sz="1700" dirty="0"/>
          </a:p>
        </p:txBody>
      </p:sp>
      <p:sp>
        <p:nvSpPr>
          <p:cNvPr id="21" name="Text 15"/>
          <p:cNvSpPr/>
          <p:nvPr/>
        </p:nvSpPr>
        <p:spPr>
          <a:xfrm>
            <a:off x="8249717" y="3794760"/>
            <a:ext cx="3137306" cy="1005840"/>
          </a:xfrm>
          <a:prstGeom prst="rect">
            <a:avLst/>
          </a:prstGeom>
          <a:noFill/>
          <a:ln/>
        </p:spPr>
        <p:txBody>
          <a:bodyPr wrap="square" lIns="0" tIns="0" rIns="0" bIns="0" rtlCol="0" anchor="t"/>
          <a:lstStyle/>
          <a:p>
            <a:pPr marL="0" indent="0" algn="ctr">
              <a:buNone/>
            </a:pPr>
            <a:r>
              <a:rPr lang="en-US" sz="1250" dirty="0">
                <a:solidFill>
                  <a:srgbClr val="23283A"/>
                </a:solidFill>
                <a:latin typeface="Calibri" pitchFamily="34" charset="0"/>
                <a:ea typeface="Calibri" pitchFamily="34" charset="-122"/>
                <a:cs typeface="Calibri" pitchFamily="34" charset="-120"/>
              </a:rPr>
              <a:t>Who may read and write stored data — permissions, encryption.</a:t>
            </a:r>
            <a:endParaRPr lang="en-US" sz="1250" dirty="0"/>
          </a:p>
        </p:txBody>
      </p:sp>
      <p:sp>
        <p:nvSpPr>
          <p:cNvPr id="22" name="Text 16"/>
          <p:cNvSpPr/>
          <p:nvPr/>
        </p:nvSpPr>
        <p:spPr>
          <a:xfrm>
            <a:off x="640080" y="5074920"/>
            <a:ext cx="10881360" cy="457200"/>
          </a:xfrm>
          <a:prstGeom prst="rect">
            <a:avLst/>
          </a:prstGeom>
          <a:noFill/>
          <a:ln/>
        </p:spPr>
        <p:txBody>
          <a:bodyPr wrap="square" lIns="0" tIns="0" rIns="0" bIns="0" rtlCol="0" anchor="ctr"/>
          <a:lstStyle/>
          <a:p>
            <a:pPr marL="0" indent="0" algn="ctr">
              <a:buNone/>
            </a:pPr>
            <a:r>
              <a:rPr lang="en-US" sz="1400" i="1" dirty="0">
                <a:solidFill>
                  <a:srgbClr val="262F65"/>
                </a:solidFill>
                <a:latin typeface="Calibri" pitchFamily="34" charset="0"/>
                <a:ea typeface="Calibri" pitchFamily="34" charset="-122"/>
                <a:cs typeface="Calibri" pitchFamily="34" charset="-120"/>
              </a:rPr>
              <a:t>Securing one domain but not the others is locking the door while leaving the windows open.</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marL="0" indent="0">
              <a:buNone/>
            </a:pPr>
            <a:r>
              <a:rPr lang="en-US" sz="1150" b="1" kern="0" spc="200" dirty="0">
                <a:solidFill>
                  <a:srgbClr val="F2931F"/>
                </a:solidFill>
                <a:latin typeface="Calibri" pitchFamily="34" charset="0"/>
                <a:ea typeface="Calibri" pitchFamily="34" charset="-122"/>
                <a:cs typeface="Calibri" pitchFamily="34" charset="-120"/>
              </a:rPr>
              <a:t>DOMAINS 1 &amp; 2</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marL="0" indent="0">
              <a:buNone/>
            </a:pPr>
            <a:r>
              <a:rPr lang="en-US" sz="2600" b="1" dirty="0">
                <a:solidFill>
                  <a:srgbClr val="262F65"/>
                </a:solidFill>
                <a:latin typeface="Cambria" pitchFamily="34" charset="0"/>
                <a:ea typeface="Cambria" pitchFamily="34" charset="-122"/>
                <a:cs typeface="Cambria" pitchFamily="34" charset="-120"/>
              </a:rPr>
              <a:t>Compute &amp; network access control</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marL="0" indent="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11</a:t>
            </a:r>
            <a:endParaRPr lang="en-US" sz="900" dirty="0"/>
          </a:p>
        </p:txBody>
      </p:sp>
      <p:sp>
        <p:nvSpPr>
          <p:cNvPr id="7" name="Shape 4"/>
          <p:cNvSpPr/>
          <p:nvPr/>
        </p:nvSpPr>
        <p:spPr>
          <a:xfrm>
            <a:off x="640080" y="1737360"/>
            <a:ext cx="5349240" cy="3931920"/>
          </a:xfrm>
          <a:prstGeom prst="roundRect">
            <a:avLst>
              <a:gd name="adj" fmla="val 2093"/>
            </a:avLst>
          </a:prstGeom>
          <a:solidFill>
            <a:srgbClr val="F4F6FB"/>
          </a:solidFill>
          <a:ln/>
          <a:effectLst>
            <a:outerShdw blurRad="88900" dist="38100" dir="5400000" algn="bl" rotWithShape="0">
              <a:srgbClr val="8894AD">
                <a:alpha val="28000"/>
              </a:srgbClr>
            </a:outerShdw>
          </a:effectLst>
        </p:spPr>
        <p:txBody>
          <a:bodyPr/>
          <a:lstStyle/>
          <a:p>
            <a:endParaRPr lang="en-MY"/>
          </a:p>
        </p:txBody>
      </p:sp>
      <p:sp>
        <p:nvSpPr>
          <p:cNvPr id="8" name="Shape 5"/>
          <p:cNvSpPr/>
          <p:nvPr/>
        </p:nvSpPr>
        <p:spPr>
          <a:xfrm>
            <a:off x="960120" y="2057400"/>
            <a:ext cx="868680" cy="868680"/>
          </a:xfrm>
          <a:prstGeom prst="ellipse">
            <a:avLst/>
          </a:prstGeom>
          <a:solidFill>
            <a:srgbClr val="262F65"/>
          </a:solidFill>
          <a:ln/>
        </p:spPr>
        <p:txBody>
          <a:bodyPr/>
          <a:lstStyle/>
          <a:p>
            <a:endParaRPr lang="en-MY"/>
          </a:p>
        </p:txBody>
      </p:sp>
      <p:pic>
        <p:nvPicPr>
          <p:cNvPr id="9" name="Image 0" descr="preencoded.png"/>
          <p:cNvPicPr>
            <a:picLocks noChangeAspect="1"/>
          </p:cNvPicPr>
          <p:nvPr/>
        </p:nvPicPr>
        <p:blipFill>
          <a:blip r:embed="rId3"/>
          <a:stretch>
            <a:fillRect/>
          </a:stretch>
        </p:blipFill>
        <p:spPr>
          <a:xfrm>
            <a:off x="1168603" y="2265883"/>
            <a:ext cx="451714" cy="451714"/>
          </a:xfrm>
          <a:prstGeom prst="rect">
            <a:avLst/>
          </a:prstGeom>
        </p:spPr>
      </p:pic>
      <p:sp>
        <p:nvSpPr>
          <p:cNvPr id="10" name="Text 6"/>
          <p:cNvSpPr/>
          <p:nvPr/>
        </p:nvSpPr>
        <p:spPr>
          <a:xfrm>
            <a:off x="2011680" y="2121408"/>
            <a:ext cx="3703320" cy="777240"/>
          </a:xfrm>
          <a:prstGeom prst="rect">
            <a:avLst/>
          </a:prstGeom>
          <a:noFill/>
          <a:ln/>
        </p:spPr>
        <p:txBody>
          <a:bodyPr wrap="square" lIns="0" tIns="0" rIns="0" bIns="0" rtlCol="0" anchor="t"/>
          <a:lstStyle/>
          <a:p>
            <a:pPr marL="0" indent="0">
              <a:buNone/>
            </a:pPr>
            <a:r>
              <a:rPr lang="en-US" sz="1550" b="1" dirty="0">
                <a:solidFill>
                  <a:srgbClr val="262F65"/>
                </a:solidFill>
                <a:latin typeface="Calibri" pitchFamily="34" charset="0"/>
                <a:ea typeface="Calibri" pitchFamily="34" charset="-122"/>
                <a:cs typeface="Calibri" pitchFamily="34" charset="-120"/>
              </a:rPr>
              <a:t>Compute access control</a:t>
            </a:r>
            <a:endParaRPr lang="en-US" sz="1550" dirty="0"/>
          </a:p>
        </p:txBody>
      </p:sp>
      <p:sp>
        <p:nvSpPr>
          <p:cNvPr id="11" name="Shape 7"/>
          <p:cNvSpPr/>
          <p:nvPr/>
        </p:nvSpPr>
        <p:spPr>
          <a:xfrm>
            <a:off x="1005840" y="3127248"/>
            <a:ext cx="128016" cy="128016"/>
          </a:xfrm>
          <a:prstGeom prst="ellipse">
            <a:avLst/>
          </a:prstGeom>
          <a:solidFill>
            <a:srgbClr val="262F65"/>
          </a:solidFill>
          <a:ln/>
        </p:spPr>
        <p:txBody>
          <a:bodyPr/>
          <a:lstStyle/>
          <a:p>
            <a:endParaRPr lang="en-MY"/>
          </a:p>
        </p:txBody>
      </p:sp>
      <p:sp>
        <p:nvSpPr>
          <p:cNvPr id="12" name="Text 8"/>
          <p:cNvSpPr/>
          <p:nvPr/>
        </p:nvSpPr>
        <p:spPr>
          <a:xfrm>
            <a:off x="1280160" y="3063240"/>
            <a:ext cx="4389120" cy="530352"/>
          </a:xfrm>
          <a:prstGeom prst="rect">
            <a:avLst/>
          </a:prstGeom>
          <a:noFill/>
          <a:ln/>
        </p:spPr>
        <p:txBody>
          <a:bodyPr wrap="square" lIns="0" tIns="0" rIns="0" bIns="0" rtlCol="0" anchor="ctr"/>
          <a:lstStyle/>
          <a:p>
            <a:pPr marL="0" indent="0">
              <a:buNone/>
            </a:pPr>
            <a:r>
              <a:rPr lang="en-US" sz="1250" b="1" dirty="0">
                <a:solidFill>
                  <a:srgbClr val="23283A"/>
                </a:solidFill>
                <a:latin typeface="Calibri" pitchFamily="34" charset="0"/>
                <a:ea typeface="Calibri" pitchFamily="34" charset="-122"/>
                <a:cs typeface="Calibri" pitchFamily="34" charset="-120"/>
              </a:rPr>
              <a:t>Restrict VM login — </a:t>
            </a:r>
            <a:r>
              <a:rPr lang="en-US" sz="1250" dirty="0">
                <a:solidFill>
                  <a:srgbClr val="5B6472"/>
                </a:solidFill>
                <a:latin typeface="Calibri" pitchFamily="34" charset="0"/>
                <a:ea typeface="Calibri" pitchFamily="34" charset="-122"/>
                <a:cs typeface="Calibri" pitchFamily="34" charset="-120"/>
              </a:rPr>
              <a:t>key-based, not shared passwords</a:t>
            </a:r>
            <a:endParaRPr lang="en-US" sz="1250" dirty="0"/>
          </a:p>
        </p:txBody>
      </p:sp>
      <p:sp>
        <p:nvSpPr>
          <p:cNvPr id="13" name="Shape 9"/>
          <p:cNvSpPr/>
          <p:nvPr/>
        </p:nvSpPr>
        <p:spPr>
          <a:xfrm>
            <a:off x="1005840" y="3694176"/>
            <a:ext cx="128016" cy="128016"/>
          </a:xfrm>
          <a:prstGeom prst="ellipse">
            <a:avLst/>
          </a:prstGeom>
          <a:solidFill>
            <a:srgbClr val="262F65"/>
          </a:solidFill>
          <a:ln/>
        </p:spPr>
        <p:txBody>
          <a:bodyPr/>
          <a:lstStyle/>
          <a:p>
            <a:endParaRPr lang="en-MY"/>
          </a:p>
        </p:txBody>
      </p:sp>
      <p:sp>
        <p:nvSpPr>
          <p:cNvPr id="14" name="Text 10"/>
          <p:cNvSpPr/>
          <p:nvPr/>
        </p:nvSpPr>
        <p:spPr>
          <a:xfrm>
            <a:off x="1280160" y="3630168"/>
            <a:ext cx="4389120" cy="530352"/>
          </a:xfrm>
          <a:prstGeom prst="rect">
            <a:avLst/>
          </a:prstGeom>
          <a:noFill/>
          <a:ln/>
        </p:spPr>
        <p:txBody>
          <a:bodyPr wrap="square" lIns="0" tIns="0" rIns="0" bIns="0" rtlCol="0" anchor="ctr"/>
          <a:lstStyle/>
          <a:p>
            <a:pPr marL="0" indent="0">
              <a:buNone/>
            </a:pPr>
            <a:r>
              <a:rPr lang="en-US" sz="1250" b="1" dirty="0">
                <a:solidFill>
                  <a:srgbClr val="23283A"/>
                </a:solidFill>
                <a:latin typeface="Calibri" pitchFamily="34" charset="0"/>
                <a:ea typeface="Calibri" pitchFamily="34" charset="-122"/>
                <a:cs typeface="Calibri" pitchFamily="34" charset="-120"/>
              </a:rPr>
              <a:t>Limit admin privileges — </a:t>
            </a:r>
            <a:r>
              <a:rPr lang="en-US" sz="1250" dirty="0">
                <a:solidFill>
                  <a:srgbClr val="5B6472"/>
                </a:solidFill>
                <a:latin typeface="Calibri" pitchFamily="34" charset="0"/>
                <a:ea typeface="Calibri" pitchFamily="34" charset="-122"/>
                <a:cs typeface="Calibri" pitchFamily="34" charset="-120"/>
              </a:rPr>
              <a:t>few hold admin</a:t>
            </a:r>
            <a:endParaRPr lang="en-US" sz="1250" dirty="0"/>
          </a:p>
        </p:txBody>
      </p:sp>
      <p:sp>
        <p:nvSpPr>
          <p:cNvPr id="15" name="Shape 11"/>
          <p:cNvSpPr/>
          <p:nvPr/>
        </p:nvSpPr>
        <p:spPr>
          <a:xfrm>
            <a:off x="1005840" y="4261104"/>
            <a:ext cx="128016" cy="128016"/>
          </a:xfrm>
          <a:prstGeom prst="ellipse">
            <a:avLst/>
          </a:prstGeom>
          <a:solidFill>
            <a:srgbClr val="262F65"/>
          </a:solidFill>
          <a:ln/>
        </p:spPr>
        <p:txBody>
          <a:bodyPr/>
          <a:lstStyle/>
          <a:p>
            <a:endParaRPr lang="en-MY"/>
          </a:p>
        </p:txBody>
      </p:sp>
      <p:sp>
        <p:nvSpPr>
          <p:cNvPr id="16" name="Text 12"/>
          <p:cNvSpPr/>
          <p:nvPr/>
        </p:nvSpPr>
        <p:spPr>
          <a:xfrm>
            <a:off x="1280160" y="4197096"/>
            <a:ext cx="4389120" cy="530352"/>
          </a:xfrm>
          <a:prstGeom prst="rect">
            <a:avLst/>
          </a:prstGeom>
          <a:noFill/>
          <a:ln/>
        </p:spPr>
        <p:txBody>
          <a:bodyPr wrap="square" lIns="0" tIns="0" rIns="0" bIns="0" rtlCol="0" anchor="ctr"/>
          <a:lstStyle/>
          <a:p>
            <a:pPr marL="0" indent="0">
              <a:buNone/>
            </a:pPr>
            <a:r>
              <a:rPr lang="en-US" sz="1250" b="1" dirty="0">
                <a:solidFill>
                  <a:srgbClr val="23283A"/>
                </a:solidFill>
                <a:latin typeface="Calibri" pitchFamily="34" charset="0"/>
                <a:ea typeface="Calibri" pitchFamily="34" charset="-122"/>
                <a:cs typeface="Calibri" pitchFamily="34" charset="-120"/>
              </a:rPr>
              <a:t>Monitor activity — </a:t>
            </a:r>
            <a:endParaRPr lang="en-US" sz="1250" dirty="0"/>
          </a:p>
        </p:txBody>
      </p:sp>
      <p:sp>
        <p:nvSpPr>
          <p:cNvPr id="17" name="Shape 13"/>
          <p:cNvSpPr/>
          <p:nvPr/>
        </p:nvSpPr>
        <p:spPr>
          <a:xfrm>
            <a:off x="6355080" y="1737360"/>
            <a:ext cx="5349240" cy="3931920"/>
          </a:xfrm>
          <a:prstGeom prst="roundRect">
            <a:avLst>
              <a:gd name="adj" fmla="val 2093"/>
            </a:avLst>
          </a:prstGeom>
          <a:solidFill>
            <a:srgbClr val="F4F6FB"/>
          </a:solidFill>
          <a:ln/>
          <a:effectLst>
            <a:outerShdw blurRad="88900" dist="38100" dir="5400000" algn="bl" rotWithShape="0">
              <a:srgbClr val="8894AD">
                <a:alpha val="28000"/>
              </a:srgbClr>
            </a:outerShdw>
          </a:effectLst>
        </p:spPr>
        <p:txBody>
          <a:bodyPr/>
          <a:lstStyle/>
          <a:p>
            <a:endParaRPr lang="en-MY"/>
          </a:p>
        </p:txBody>
      </p:sp>
      <p:sp>
        <p:nvSpPr>
          <p:cNvPr id="18" name="Shape 14"/>
          <p:cNvSpPr/>
          <p:nvPr/>
        </p:nvSpPr>
        <p:spPr>
          <a:xfrm>
            <a:off x="6675120" y="2057400"/>
            <a:ext cx="868680" cy="868680"/>
          </a:xfrm>
          <a:prstGeom prst="ellipse">
            <a:avLst/>
          </a:prstGeom>
          <a:solidFill>
            <a:srgbClr val="F2931F"/>
          </a:solidFill>
          <a:ln/>
        </p:spPr>
        <p:txBody>
          <a:bodyPr/>
          <a:lstStyle/>
          <a:p>
            <a:endParaRPr lang="en-MY"/>
          </a:p>
        </p:txBody>
      </p:sp>
      <p:pic>
        <p:nvPicPr>
          <p:cNvPr id="19" name="Image 1" descr="preencoded.png"/>
          <p:cNvPicPr>
            <a:picLocks noChangeAspect="1"/>
          </p:cNvPicPr>
          <p:nvPr/>
        </p:nvPicPr>
        <p:blipFill>
          <a:blip r:embed="rId4"/>
          <a:stretch>
            <a:fillRect/>
          </a:stretch>
        </p:blipFill>
        <p:spPr>
          <a:xfrm>
            <a:off x="6883603" y="2265883"/>
            <a:ext cx="451714" cy="451714"/>
          </a:xfrm>
          <a:prstGeom prst="rect">
            <a:avLst/>
          </a:prstGeom>
        </p:spPr>
      </p:pic>
      <p:sp>
        <p:nvSpPr>
          <p:cNvPr id="20" name="Text 15"/>
          <p:cNvSpPr/>
          <p:nvPr/>
        </p:nvSpPr>
        <p:spPr>
          <a:xfrm>
            <a:off x="7726680" y="2121408"/>
            <a:ext cx="3703320" cy="777240"/>
          </a:xfrm>
          <a:prstGeom prst="rect">
            <a:avLst/>
          </a:prstGeom>
          <a:noFill/>
          <a:ln/>
        </p:spPr>
        <p:txBody>
          <a:bodyPr wrap="square" lIns="0" tIns="0" rIns="0" bIns="0" rtlCol="0" anchor="t"/>
          <a:lstStyle/>
          <a:p>
            <a:pPr marL="0" indent="0">
              <a:buNone/>
            </a:pPr>
            <a:r>
              <a:rPr lang="en-US" sz="1550" b="1" dirty="0">
                <a:solidFill>
                  <a:srgbClr val="262F65"/>
                </a:solidFill>
                <a:latin typeface="Calibri" pitchFamily="34" charset="0"/>
                <a:ea typeface="Calibri" pitchFamily="34" charset="-122"/>
                <a:cs typeface="Calibri" pitchFamily="34" charset="-120"/>
              </a:rPr>
              <a:t>Network access control</a:t>
            </a:r>
            <a:endParaRPr lang="en-US" sz="1550" dirty="0"/>
          </a:p>
        </p:txBody>
      </p:sp>
      <p:sp>
        <p:nvSpPr>
          <p:cNvPr id="21" name="Shape 16"/>
          <p:cNvSpPr/>
          <p:nvPr/>
        </p:nvSpPr>
        <p:spPr>
          <a:xfrm>
            <a:off x="6720840" y="3127248"/>
            <a:ext cx="128016" cy="128016"/>
          </a:xfrm>
          <a:prstGeom prst="ellipse">
            <a:avLst/>
          </a:prstGeom>
          <a:solidFill>
            <a:srgbClr val="F2931F"/>
          </a:solidFill>
          <a:ln/>
        </p:spPr>
        <p:txBody>
          <a:bodyPr/>
          <a:lstStyle/>
          <a:p>
            <a:endParaRPr lang="en-MY"/>
          </a:p>
        </p:txBody>
      </p:sp>
      <p:sp>
        <p:nvSpPr>
          <p:cNvPr id="22" name="Text 17"/>
          <p:cNvSpPr/>
          <p:nvPr/>
        </p:nvSpPr>
        <p:spPr>
          <a:xfrm>
            <a:off x="6995160" y="3063240"/>
            <a:ext cx="4389120" cy="530352"/>
          </a:xfrm>
          <a:prstGeom prst="rect">
            <a:avLst/>
          </a:prstGeom>
          <a:noFill/>
          <a:ln/>
        </p:spPr>
        <p:txBody>
          <a:bodyPr wrap="square" lIns="0" tIns="0" rIns="0" bIns="0" rtlCol="0" anchor="ctr"/>
          <a:lstStyle/>
          <a:p>
            <a:pPr marL="0" indent="0">
              <a:buNone/>
            </a:pPr>
            <a:r>
              <a:rPr lang="en-US" sz="1250" b="1" dirty="0">
                <a:solidFill>
                  <a:srgbClr val="23283A"/>
                </a:solidFill>
                <a:latin typeface="Calibri" pitchFamily="34" charset="0"/>
                <a:ea typeface="Calibri" pitchFamily="34" charset="-122"/>
                <a:cs typeface="Calibri" pitchFamily="34" charset="-120"/>
              </a:rPr>
              <a:t>Firewalls &amp; security groups — </a:t>
            </a:r>
            <a:r>
              <a:rPr lang="en-US" sz="1250" dirty="0">
                <a:solidFill>
                  <a:srgbClr val="5B6472"/>
                </a:solidFill>
                <a:latin typeface="Calibri" pitchFamily="34" charset="0"/>
                <a:ea typeface="Calibri" pitchFamily="34" charset="-122"/>
                <a:cs typeface="Calibri" pitchFamily="34" charset="-120"/>
              </a:rPr>
              <a:t>control traffic</a:t>
            </a:r>
            <a:endParaRPr lang="en-US" sz="1250" dirty="0"/>
          </a:p>
        </p:txBody>
      </p:sp>
      <p:sp>
        <p:nvSpPr>
          <p:cNvPr id="23" name="Shape 18"/>
          <p:cNvSpPr/>
          <p:nvPr/>
        </p:nvSpPr>
        <p:spPr>
          <a:xfrm>
            <a:off x="6720840" y="3694176"/>
            <a:ext cx="128016" cy="128016"/>
          </a:xfrm>
          <a:prstGeom prst="ellipse">
            <a:avLst/>
          </a:prstGeom>
          <a:solidFill>
            <a:srgbClr val="F2931F"/>
          </a:solidFill>
          <a:ln/>
        </p:spPr>
        <p:txBody>
          <a:bodyPr/>
          <a:lstStyle/>
          <a:p>
            <a:endParaRPr lang="en-MY"/>
          </a:p>
        </p:txBody>
      </p:sp>
      <p:sp>
        <p:nvSpPr>
          <p:cNvPr id="24" name="Text 19"/>
          <p:cNvSpPr/>
          <p:nvPr/>
        </p:nvSpPr>
        <p:spPr>
          <a:xfrm>
            <a:off x="6995160" y="3630168"/>
            <a:ext cx="4389120" cy="530352"/>
          </a:xfrm>
          <a:prstGeom prst="rect">
            <a:avLst/>
          </a:prstGeom>
          <a:noFill/>
          <a:ln/>
        </p:spPr>
        <p:txBody>
          <a:bodyPr wrap="square" lIns="0" tIns="0" rIns="0" bIns="0" rtlCol="0" anchor="ctr"/>
          <a:lstStyle/>
          <a:p>
            <a:pPr marL="0" indent="0">
              <a:buNone/>
            </a:pPr>
            <a:r>
              <a:rPr lang="en-US" sz="1250" b="1" dirty="0">
                <a:solidFill>
                  <a:srgbClr val="23283A"/>
                </a:solidFill>
                <a:latin typeface="Calibri" pitchFamily="34" charset="0"/>
                <a:ea typeface="Calibri" pitchFamily="34" charset="-122"/>
                <a:cs typeface="Calibri" pitchFamily="34" charset="-120"/>
              </a:rPr>
              <a:t>Segmentation — </a:t>
            </a:r>
            <a:r>
              <a:rPr lang="en-US" sz="1250" dirty="0">
                <a:solidFill>
                  <a:srgbClr val="5B6472"/>
                </a:solidFill>
                <a:latin typeface="Calibri" pitchFamily="34" charset="0"/>
                <a:ea typeface="Calibri" pitchFamily="34" charset="-122"/>
                <a:cs typeface="Calibri" pitchFamily="34" charset="-120"/>
              </a:rPr>
              <a:t>limit lateral movement</a:t>
            </a:r>
            <a:endParaRPr lang="en-US" sz="1250" dirty="0"/>
          </a:p>
        </p:txBody>
      </p:sp>
      <p:sp>
        <p:nvSpPr>
          <p:cNvPr id="25" name="Shape 20"/>
          <p:cNvSpPr/>
          <p:nvPr/>
        </p:nvSpPr>
        <p:spPr>
          <a:xfrm>
            <a:off x="6720840" y="4261104"/>
            <a:ext cx="128016" cy="128016"/>
          </a:xfrm>
          <a:prstGeom prst="ellipse">
            <a:avLst/>
          </a:prstGeom>
          <a:solidFill>
            <a:srgbClr val="F2931F"/>
          </a:solidFill>
          <a:ln/>
        </p:spPr>
        <p:txBody>
          <a:bodyPr/>
          <a:lstStyle/>
          <a:p>
            <a:endParaRPr lang="en-MY"/>
          </a:p>
        </p:txBody>
      </p:sp>
      <p:sp>
        <p:nvSpPr>
          <p:cNvPr id="26" name="Text 21"/>
          <p:cNvSpPr/>
          <p:nvPr/>
        </p:nvSpPr>
        <p:spPr>
          <a:xfrm>
            <a:off x="6995160" y="4197096"/>
            <a:ext cx="4389120" cy="530352"/>
          </a:xfrm>
          <a:prstGeom prst="rect">
            <a:avLst/>
          </a:prstGeom>
          <a:noFill/>
          <a:ln/>
        </p:spPr>
        <p:txBody>
          <a:bodyPr wrap="square" lIns="0" tIns="0" rIns="0" bIns="0" rtlCol="0" anchor="ctr"/>
          <a:lstStyle/>
          <a:p>
            <a:pPr marL="0" indent="0">
              <a:buNone/>
            </a:pPr>
            <a:r>
              <a:rPr lang="en-US" sz="1250" b="1" dirty="0">
                <a:solidFill>
                  <a:srgbClr val="23283A"/>
                </a:solidFill>
                <a:latin typeface="Calibri" pitchFamily="34" charset="0"/>
                <a:ea typeface="Calibri" pitchFamily="34" charset="-122"/>
                <a:cs typeface="Calibri" pitchFamily="34" charset="-120"/>
              </a:rPr>
              <a:t>IP filtering · VPN · ACLs — </a:t>
            </a:r>
            <a:r>
              <a:rPr lang="en-US" sz="1250" dirty="0">
                <a:solidFill>
                  <a:srgbClr val="5B6472"/>
                </a:solidFill>
                <a:latin typeface="Calibri" pitchFamily="34" charset="0"/>
                <a:ea typeface="Calibri" pitchFamily="34" charset="-122"/>
                <a:cs typeface="Calibri" pitchFamily="34" charset="-120"/>
              </a:rPr>
              <a:t>known sources only</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marL="0" indent="0">
              <a:buNone/>
            </a:pPr>
            <a:r>
              <a:rPr lang="en-US" sz="1150" b="1" kern="0" spc="200" dirty="0">
                <a:solidFill>
                  <a:srgbClr val="F2931F"/>
                </a:solidFill>
                <a:latin typeface="Calibri" pitchFamily="34" charset="0"/>
                <a:ea typeface="Calibri" pitchFamily="34" charset="-122"/>
                <a:cs typeface="Calibri" pitchFamily="34" charset="-120"/>
              </a:rPr>
              <a:t>DOMAIN 3</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marL="0" indent="0">
              <a:buNone/>
            </a:pPr>
            <a:r>
              <a:rPr lang="en-US" sz="2600" b="1" dirty="0">
                <a:solidFill>
                  <a:srgbClr val="262F65"/>
                </a:solidFill>
                <a:latin typeface="Cambria" pitchFamily="34" charset="0"/>
                <a:ea typeface="Cambria" pitchFamily="34" charset="-122"/>
                <a:cs typeface="Cambria" pitchFamily="34" charset="-120"/>
              </a:rPr>
              <a:t>Storage access control</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marL="0" indent="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12</a:t>
            </a:r>
            <a:endParaRPr lang="en-US" sz="900" dirty="0"/>
          </a:p>
        </p:txBody>
      </p:sp>
      <p:sp>
        <p:nvSpPr>
          <p:cNvPr id="7" name="Shape 4"/>
          <p:cNvSpPr/>
          <p:nvPr/>
        </p:nvSpPr>
        <p:spPr>
          <a:xfrm>
            <a:off x="640080" y="1783080"/>
            <a:ext cx="3466490" cy="3108960"/>
          </a:xfrm>
          <a:prstGeom prst="roundRect">
            <a:avLst>
              <a:gd name="adj" fmla="val 2647"/>
            </a:avLst>
          </a:prstGeom>
          <a:solidFill>
            <a:srgbClr val="F4F6FB"/>
          </a:solidFill>
          <a:ln/>
          <a:effectLst>
            <a:outerShdw blurRad="88900" dist="38100" dir="5400000" algn="bl" rotWithShape="0">
              <a:srgbClr val="8894AD">
                <a:alpha val="28000"/>
              </a:srgbClr>
            </a:outerShdw>
          </a:effectLst>
        </p:spPr>
        <p:txBody>
          <a:bodyPr/>
          <a:lstStyle/>
          <a:p>
            <a:endParaRPr lang="en-MY"/>
          </a:p>
        </p:txBody>
      </p:sp>
      <p:sp>
        <p:nvSpPr>
          <p:cNvPr id="8" name="Shape 5"/>
          <p:cNvSpPr/>
          <p:nvPr/>
        </p:nvSpPr>
        <p:spPr>
          <a:xfrm>
            <a:off x="1916125" y="2103120"/>
            <a:ext cx="914400" cy="914400"/>
          </a:xfrm>
          <a:prstGeom prst="ellipse">
            <a:avLst/>
          </a:prstGeom>
          <a:solidFill>
            <a:srgbClr val="262F65"/>
          </a:solidFill>
          <a:ln/>
        </p:spPr>
        <p:txBody>
          <a:bodyPr/>
          <a:lstStyle/>
          <a:p>
            <a:endParaRPr lang="en-MY"/>
          </a:p>
        </p:txBody>
      </p:sp>
      <p:pic>
        <p:nvPicPr>
          <p:cNvPr id="9" name="Image 0" descr="preencoded.png"/>
          <p:cNvPicPr>
            <a:picLocks noChangeAspect="1"/>
          </p:cNvPicPr>
          <p:nvPr/>
        </p:nvPicPr>
        <p:blipFill>
          <a:blip r:embed="rId3"/>
          <a:stretch>
            <a:fillRect/>
          </a:stretch>
        </p:blipFill>
        <p:spPr>
          <a:xfrm>
            <a:off x="2135581" y="2322576"/>
            <a:ext cx="475488" cy="475488"/>
          </a:xfrm>
          <a:prstGeom prst="rect">
            <a:avLst/>
          </a:prstGeom>
        </p:spPr>
      </p:pic>
      <p:sp>
        <p:nvSpPr>
          <p:cNvPr id="10" name="Text 6"/>
          <p:cNvSpPr/>
          <p:nvPr/>
        </p:nvSpPr>
        <p:spPr>
          <a:xfrm>
            <a:off x="749808" y="3154680"/>
            <a:ext cx="3247034" cy="640080"/>
          </a:xfrm>
          <a:prstGeom prst="rect">
            <a:avLst/>
          </a:prstGeom>
          <a:noFill/>
          <a:ln/>
        </p:spPr>
        <p:txBody>
          <a:bodyPr wrap="square" lIns="0" tIns="0" rIns="0" bIns="0" rtlCol="0" anchor="t"/>
          <a:lstStyle/>
          <a:p>
            <a:pPr marL="0" indent="0" algn="ctr">
              <a:buNone/>
            </a:pPr>
            <a:r>
              <a:rPr lang="en-US" sz="1700" b="1" dirty="0">
                <a:solidFill>
                  <a:srgbClr val="262F65"/>
                </a:solidFill>
                <a:latin typeface="Cambria" pitchFamily="34" charset="0"/>
                <a:ea typeface="Cambria" pitchFamily="34" charset="-122"/>
                <a:cs typeface="Cambria" pitchFamily="34" charset="-120"/>
              </a:rPr>
              <a:t>Permissions</a:t>
            </a:r>
            <a:endParaRPr lang="en-US" sz="1700" dirty="0"/>
          </a:p>
        </p:txBody>
      </p:sp>
      <p:sp>
        <p:nvSpPr>
          <p:cNvPr id="11" name="Text 7"/>
          <p:cNvSpPr/>
          <p:nvPr/>
        </p:nvSpPr>
        <p:spPr>
          <a:xfrm>
            <a:off x="804672" y="3794760"/>
            <a:ext cx="3137306" cy="1005840"/>
          </a:xfrm>
          <a:prstGeom prst="rect">
            <a:avLst/>
          </a:prstGeom>
          <a:noFill/>
          <a:ln/>
        </p:spPr>
        <p:txBody>
          <a:bodyPr wrap="square" lIns="0" tIns="0" rIns="0" bIns="0" rtlCol="0" anchor="t"/>
          <a:lstStyle/>
          <a:p>
            <a:pPr marL="0" indent="0" algn="ctr">
              <a:buNone/>
            </a:pPr>
            <a:r>
              <a:rPr lang="en-US" sz="1250" dirty="0">
                <a:solidFill>
                  <a:srgbClr val="23283A"/>
                </a:solidFill>
                <a:latin typeface="Calibri" pitchFamily="34" charset="0"/>
                <a:ea typeface="Calibri" pitchFamily="34" charset="-122"/>
                <a:cs typeface="Calibri" pitchFamily="34" charset="-120"/>
              </a:rPr>
              <a:t>Who may read/write — private by default, least privilege.</a:t>
            </a:r>
            <a:endParaRPr lang="en-US" sz="1250" dirty="0"/>
          </a:p>
        </p:txBody>
      </p:sp>
      <p:sp>
        <p:nvSpPr>
          <p:cNvPr id="12" name="Shape 8"/>
          <p:cNvSpPr/>
          <p:nvPr/>
        </p:nvSpPr>
        <p:spPr>
          <a:xfrm>
            <a:off x="4362602" y="1783080"/>
            <a:ext cx="3466490" cy="3108960"/>
          </a:xfrm>
          <a:prstGeom prst="roundRect">
            <a:avLst>
              <a:gd name="adj" fmla="val 2647"/>
            </a:avLst>
          </a:prstGeom>
          <a:solidFill>
            <a:srgbClr val="F4F6FB"/>
          </a:solidFill>
          <a:ln/>
          <a:effectLst>
            <a:outerShdw blurRad="88900" dist="38100" dir="5400000" algn="bl" rotWithShape="0">
              <a:srgbClr val="8894AD">
                <a:alpha val="28000"/>
              </a:srgbClr>
            </a:outerShdw>
          </a:effectLst>
        </p:spPr>
        <p:txBody>
          <a:bodyPr/>
          <a:lstStyle/>
          <a:p>
            <a:endParaRPr lang="en-MY"/>
          </a:p>
        </p:txBody>
      </p:sp>
      <p:sp>
        <p:nvSpPr>
          <p:cNvPr id="13" name="Shape 9"/>
          <p:cNvSpPr/>
          <p:nvPr/>
        </p:nvSpPr>
        <p:spPr>
          <a:xfrm>
            <a:off x="5638648" y="2103120"/>
            <a:ext cx="914400" cy="914400"/>
          </a:xfrm>
          <a:prstGeom prst="ellipse">
            <a:avLst/>
          </a:prstGeom>
          <a:solidFill>
            <a:srgbClr val="F2931F"/>
          </a:solidFill>
          <a:ln/>
        </p:spPr>
        <p:txBody>
          <a:bodyPr/>
          <a:lstStyle/>
          <a:p>
            <a:endParaRPr lang="en-MY"/>
          </a:p>
        </p:txBody>
      </p:sp>
      <p:pic>
        <p:nvPicPr>
          <p:cNvPr id="14" name="Image 1" descr="preencoded.png"/>
          <p:cNvPicPr>
            <a:picLocks noChangeAspect="1"/>
          </p:cNvPicPr>
          <p:nvPr/>
        </p:nvPicPr>
        <p:blipFill>
          <a:blip r:embed="rId4"/>
          <a:stretch>
            <a:fillRect/>
          </a:stretch>
        </p:blipFill>
        <p:spPr>
          <a:xfrm>
            <a:off x="5858104" y="2322576"/>
            <a:ext cx="475488" cy="475488"/>
          </a:xfrm>
          <a:prstGeom prst="rect">
            <a:avLst/>
          </a:prstGeom>
        </p:spPr>
      </p:pic>
      <p:sp>
        <p:nvSpPr>
          <p:cNvPr id="15" name="Text 10"/>
          <p:cNvSpPr/>
          <p:nvPr/>
        </p:nvSpPr>
        <p:spPr>
          <a:xfrm>
            <a:off x="4472330" y="3154680"/>
            <a:ext cx="3247034" cy="640080"/>
          </a:xfrm>
          <a:prstGeom prst="rect">
            <a:avLst/>
          </a:prstGeom>
          <a:noFill/>
          <a:ln/>
        </p:spPr>
        <p:txBody>
          <a:bodyPr wrap="square" lIns="0" tIns="0" rIns="0" bIns="0" rtlCol="0" anchor="t"/>
          <a:lstStyle/>
          <a:p>
            <a:pPr marL="0" indent="0" algn="ctr">
              <a:buNone/>
            </a:pPr>
            <a:r>
              <a:rPr lang="en-US" sz="1700" b="1" dirty="0">
                <a:solidFill>
                  <a:srgbClr val="262F65"/>
                </a:solidFill>
                <a:latin typeface="Cambria" pitchFamily="34" charset="0"/>
                <a:ea typeface="Cambria" pitchFamily="34" charset="-122"/>
                <a:cs typeface="Cambria" pitchFamily="34" charset="-120"/>
              </a:rPr>
              <a:t>Encryption</a:t>
            </a:r>
            <a:endParaRPr lang="en-US" sz="1700" dirty="0"/>
          </a:p>
        </p:txBody>
      </p:sp>
      <p:sp>
        <p:nvSpPr>
          <p:cNvPr id="16" name="Text 11"/>
          <p:cNvSpPr/>
          <p:nvPr/>
        </p:nvSpPr>
        <p:spPr>
          <a:xfrm>
            <a:off x="4527194" y="3794760"/>
            <a:ext cx="3137306" cy="1005840"/>
          </a:xfrm>
          <a:prstGeom prst="rect">
            <a:avLst/>
          </a:prstGeom>
          <a:noFill/>
          <a:ln/>
        </p:spPr>
        <p:txBody>
          <a:bodyPr wrap="square" lIns="0" tIns="0" rIns="0" bIns="0" rtlCol="0" anchor="t"/>
          <a:lstStyle/>
          <a:p>
            <a:pPr marL="0" indent="0" algn="ctr">
              <a:buNone/>
            </a:pPr>
            <a:r>
              <a:rPr lang="en-US" sz="1250" dirty="0">
                <a:solidFill>
                  <a:srgbClr val="23283A"/>
                </a:solidFill>
                <a:latin typeface="Calibri" pitchFamily="34" charset="0"/>
                <a:ea typeface="Calibri" pitchFamily="34" charset="-122"/>
                <a:cs typeface="Calibri" pitchFamily="34" charset="-120"/>
              </a:rPr>
              <a:t>A safety net — a permission mistake yields only ciphertext.</a:t>
            </a:r>
            <a:endParaRPr lang="en-US" sz="1250" dirty="0"/>
          </a:p>
        </p:txBody>
      </p:sp>
      <p:sp>
        <p:nvSpPr>
          <p:cNvPr id="17" name="Shape 12"/>
          <p:cNvSpPr/>
          <p:nvPr/>
        </p:nvSpPr>
        <p:spPr>
          <a:xfrm>
            <a:off x="8085125" y="1783080"/>
            <a:ext cx="3466490" cy="3108960"/>
          </a:xfrm>
          <a:prstGeom prst="roundRect">
            <a:avLst>
              <a:gd name="adj" fmla="val 2647"/>
            </a:avLst>
          </a:prstGeom>
          <a:solidFill>
            <a:srgbClr val="F4F6FB"/>
          </a:solidFill>
          <a:ln/>
          <a:effectLst>
            <a:outerShdw blurRad="88900" dist="38100" dir="5400000" algn="bl" rotWithShape="0">
              <a:srgbClr val="8894AD">
                <a:alpha val="28000"/>
              </a:srgbClr>
            </a:outerShdw>
          </a:effectLst>
        </p:spPr>
        <p:txBody>
          <a:bodyPr/>
          <a:lstStyle/>
          <a:p>
            <a:endParaRPr lang="en-MY"/>
          </a:p>
        </p:txBody>
      </p:sp>
      <p:sp>
        <p:nvSpPr>
          <p:cNvPr id="18" name="Shape 13"/>
          <p:cNvSpPr/>
          <p:nvPr/>
        </p:nvSpPr>
        <p:spPr>
          <a:xfrm>
            <a:off x="9361170" y="2103120"/>
            <a:ext cx="914400" cy="914400"/>
          </a:xfrm>
          <a:prstGeom prst="ellipse">
            <a:avLst/>
          </a:prstGeom>
          <a:solidFill>
            <a:srgbClr val="293E7B"/>
          </a:solidFill>
          <a:ln/>
        </p:spPr>
        <p:txBody>
          <a:bodyPr/>
          <a:lstStyle/>
          <a:p>
            <a:endParaRPr lang="en-MY"/>
          </a:p>
        </p:txBody>
      </p:sp>
      <p:pic>
        <p:nvPicPr>
          <p:cNvPr id="19" name="Image 2" descr="preencoded.png"/>
          <p:cNvPicPr>
            <a:picLocks noChangeAspect="1"/>
          </p:cNvPicPr>
          <p:nvPr/>
        </p:nvPicPr>
        <p:blipFill>
          <a:blip r:embed="rId5"/>
          <a:stretch>
            <a:fillRect/>
          </a:stretch>
        </p:blipFill>
        <p:spPr>
          <a:xfrm>
            <a:off x="9580626" y="2322576"/>
            <a:ext cx="475488" cy="475488"/>
          </a:xfrm>
          <a:prstGeom prst="rect">
            <a:avLst/>
          </a:prstGeom>
        </p:spPr>
      </p:pic>
      <p:sp>
        <p:nvSpPr>
          <p:cNvPr id="20" name="Text 14"/>
          <p:cNvSpPr/>
          <p:nvPr/>
        </p:nvSpPr>
        <p:spPr>
          <a:xfrm>
            <a:off x="8194853" y="3154680"/>
            <a:ext cx="3247034" cy="640080"/>
          </a:xfrm>
          <a:prstGeom prst="rect">
            <a:avLst/>
          </a:prstGeom>
          <a:noFill/>
          <a:ln/>
        </p:spPr>
        <p:txBody>
          <a:bodyPr wrap="square" lIns="0" tIns="0" rIns="0" bIns="0" rtlCol="0" anchor="t"/>
          <a:lstStyle/>
          <a:p>
            <a:pPr marL="0" indent="0" algn="ctr">
              <a:buNone/>
            </a:pPr>
            <a:r>
              <a:rPr lang="en-US" sz="1700" b="1" dirty="0">
                <a:solidFill>
                  <a:srgbClr val="262F65"/>
                </a:solidFill>
                <a:latin typeface="Cambria" pitchFamily="34" charset="0"/>
                <a:ea typeface="Cambria" pitchFamily="34" charset="-122"/>
                <a:cs typeface="Cambria" pitchFamily="34" charset="-120"/>
              </a:rPr>
              <a:t>Access policies</a:t>
            </a:r>
            <a:endParaRPr lang="en-US" sz="1700" dirty="0"/>
          </a:p>
        </p:txBody>
      </p:sp>
      <p:sp>
        <p:nvSpPr>
          <p:cNvPr id="21" name="Text 15"/>
          <p:cNvSpPr/>
          <p:nvPr/>
        </p:nvSpPr>
        <p:spPr>
          <a:xfrm>
            <a:off x="8249717" y="3794760"/>
            <a:ext cx="3137306" cy="1005840"/>
          </a:xfrm>
          <a:prstGeom prst="rect">
            <a:avLst/>
          </a:prstGeom>
          <a:noFill/>
          <a:ln/>
        </p:spPr>
        <p:txBody>
          <a:bodyPr wrap="square" lIns="0" tIns="0" rIns="0" bIns="0" rtlCol="0" anchor="t"/>
          <a:lstStyle/>
          <a:p>
            <a:pPr marL="0" indent="0" algn="ctr">
              <a:buNone/>
            </a:pPr>
            <a:r>
              <a:rPr lang="en-US" sz="1250" dirty="0">
                <a:solidFill>
                  <a:srgbClr val="23283A"/>
                </a:solidFill>
                <a:latin typeface="Calibri" pitchFamily="34" charset="0"/>
                <a:ea typeface="Calibri" pitchFamily="34" charset="-122"/>
                <a:cs typeface="Calibri" pitchFamily="34" charset="-120"/>
              </a:rPr>
              <a:t>Fine-grained rules on who, what, under which conditions.</a:t>
            </a:r>
            <a:endParaRPr lang="en-US" sz="1250" dirty="0"/>
          </a:p>
        </p:txBody>
      </p:sp>
      <p:sp>
        <p:nvSpPr>
          <p:cNvPr id="22" name="Text 16"/>
          <p:cNvSpPr/>
          <p:nvPr/>
        </p:nvSpPr>
        <p:spPr>
          <a:xfrm>
            <a:off x="640080" y="5074920"/>
            <a:ext cx="10881360" cy="457200"/>
          </a:xfrm>
          <a:prstGeom prst="rect">
            <a:avLst/>
          </a:prstGeom>
          <a:noFill/>
          <a:ln/>
        </p:spPr>
        <p:txBody>
          <a:bodyPr wrap="square" lIns="0" tIns="0" rIns="0" bIns="0" rtlCol="0" anchor="ctr"/>
          <a:lstStyle/>
          <a:p>
            <a:pPr marL="0" indent="0" algn="ctr">
              <a:buNone/>
            </a:pPr>
            <a:r>
              <a:rPr lang="en-US" sz="1400" i="1" dirty="0">
                <a:solidFill>
                  <a:srgbClr val="262F65"/>
                </a:solidFill>
                <a:latin typeface="Calibri" pitchFamily="34" charset="0"/>
                <a:ea typeface="Calibri" pitchFamily="34" charset="-122"/>
                <a:cs typeface="Calibri" pitchFamily="34" charset="-120"/>
              </a:rPr>
              <a:t>The exposed-bucket breach is a storage access-control failure — prevented by these controls.</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262F65"/>
        </a:solidFill>
        <a:effectLst/>
      </p:bgPr>
    </p:bg>
    <p:spTree>
      <p:nvGrpSpPr>
        <p:cNvPr id="1" name=""/>
        <p:cNvGrpSpPr/>
        <p:nvPr/>
      </p:nvGrpSpPr>
      <p:grpSpPr>
        <a:xfrm>
          <a:off x="0" y="0"/>
          <a:ext cx="0" cy="0"/>
          <a:chOff x="0" y="0"/>
          <a:chExt cx="0" cy="0"/>
        </a:xfrm>
      </p:grpSpPr>
      <p:sp>
        <p:nvSpPr>
          <p:cNvPr id="2" name="Shape 0"/>
          <p:cNvSpPr/>
          <p:nvPr/>
        </p:nvSpPr>
        <p:spPr>
          <a:xfrm>
            <a:off x="-1280160" y="3931920"/>
            <a:ext cx="4023360" cy="4023360"/>
          </a:xfrm>
          <a:prstGeom prst="ellipse">
            <a:avLst/>
          </a:prstGeom>
          <a:solidFill>
            <a:srgbClr val="293E7B">
              <a:alpha val="45000"/>
            </a:srgbClr>
          </a:solidFill>
          <a:ln/>
        </p:spPr>
        <p:txBody>
          <a:bodyPr/>
          <a:lstStyle/>
          <a:p>
            <a:endParaRPr lang="en-MY"/>
          </a:p>
        </p:txBody>
      </p:sp>
      <p:pic>
        <p:nvPicPr>
          <p:cNvPr id="3" name="Image 0" descr="preencoded.png"/>
          <p:cNvPicPr>
            <a:picLocks noChangeAspect="1"/>
          </p:cNvPicPr>
          <p:nvPr/>
        </p:nvPicPr>
        <p:blipFill>
          <a:blip r:embed="rId3"/>
          <a:stretch>
            <a:fillRect/>
          </a:stretch>
        </p:blipFill>
        <p:spPr>
          <a:xfrm>
            <a:off x="7360920" y="1412421"/>
            <a:ext cx="4343400" cy="4033157"/>
          </a:xfrm>
          <a:prstGeom prst="rect">
            <a:avLst/>
          </a:prstGeom>
        </p:spPr>
      </p:pic>
      <p:sp>
        <p:nvSpPr>
          <p:cNvPr id="4" name="Text 1"/>
          <p:cNvSpPr/>
          <p:nvPr/>
        </p:nvSpPr>
        <p:spPr>
          <a:xfrm>
            <a:off x="640080" y="960120"/>
            <a:ext cx="4572000" cy="2194560"/>
          </a:xfrm>
          <a:prstGeom prst="rect">
            <a:avLst/>
          </a:prstGeom>
          <a:noFill/>
          <a:ln/>
        </p:spPr>
        <p:txBody>
          <a:bodyPr wrap="square" lIns="0" tIns="0" rIns="0" bIns="0" rtlCol="0" anchor="ctr"/>
          <a:lstStyle/>
          <a:p>
            <a:pPr marL="0" indent="0">
              <a:buNone/>
            </a:pPr>
            <a:r>
              <a:rPr lang="en-US" sz="14000" b="1" dirty="0">
                <a:solidFill>
                  <a:srgbClr val="FABA32"/>
                </a:solidFill>
                <a:latin typeface="Cambria" pitchFamily="34" charset="0"/>
                <a:ea typeface="Cambria" pitchFamily="34" charset="-122"/>
                <a:cs typeface="Cambria" pitchFamily="34" charset="-120"/>
              </a:rPr>
              <a:t>04</a:t>
            </a:r>
            <a:endParaRPr lang="en-US" sz="14000" dirty="0"/>
          </a:p>
        </p:txBody>
      </p:sp>
      <p:sp>
        <p:nvSpPr>
          <p:cNvPr id="5" name="Text 2"/>
          <p:cNvSpPr/>
          <p:nvPr/>
        </p:nvSpPr>
        <p:spPr>
          <a:xfrm>
            <a:off x="713232" y="3429000"/>
            <a:ext cx="6400800" cy="457200"/>
          </a:xfrm>
          <a:prstGeom prst="rect">
            <a:avLst/>
          </a:prstGeom>
          <a:noFill/>
          <a:ln/>
        </p:spPr>
        <p:txBody>
          <a:bodyPr wrap="square" lIns="0" tIns="0" rIns="0" bIns="0" rtlCol="0" anchor="ctr"/>
          <a:lstStyle/>
          <a:p>
            <a:pPr marL="0" indent="0">
              <a:buNone/>
            </a:pPr>
            <a:r>
              <a:rPr lang="en-US" sz="1500" b="1" kern="0" spc="300" dirty="0">
                <a:solidFill>
                  <a:srgbClr val="FABA32"/>
                </a:solidFill>
                <a:latin typeface="Calibri" pitchFamily="34" charset="0"/>
                <a:ea typeface="Calibri" pitchFamily="34" charset="-122"/>
                <a:cs typeface="Calibri" pitchFamily="34" charset="-120"/>
              </a:rPr>
              <a:t>PART 4</a:t>
            </a:r>
            <a:endParaRPr lang="en-US" sz="1500" dirty="0"/>
          </a:p>
        </p:txBody>
      </p:sp>
      <p:sp>
        <p:nvSpPr>
          <p:cNvPr id="6" name="Text 3"/>
          <p:cNvSpPr/>
          <p:nvPr/>
        </p:nvSpPr>
        <p:spPr>
          <a:xfrm>
            <a:off x="713232" y="3840480"/>
            <a:ext cx="6309360" cy="1828800"/>
          </a:xfrm>
          <a:prstGeom prst="rect">
            <a:avLst/>
          </a:prstGeom>
          <a:noFill/>
          <a:ln/>
        </p:spPr>
        <p:txBody>
          <a:bodyPr wrap="square" lIns="0" tIns="0" rIns="0" bIns="0" rtlCol="0" anchor="t"/>
          <a:lstStyle/>
          <a:p>
            <a:pPr marL="0" indent="0">
              <a:buNone/>
            </a:pPr>
            <a:r>
              <a:rPr lang="en-US" sz="3200" b="1" dirty="0">
                <a:solidFill>
                  <a:srgbClr val="FFFFFF"/>
                </a:solidFill>
                <a:latin typeface="Cambria" pitchFamily="34" charset="0"/>
                <a:ea typeface="Cambria" pitchFamily="34" charset="-122"/>
                <a:cs typeface="Cambria" pitchFamily="34" charset="-120"/>
              </a:rPr>
              <a:t>System Hardening &amp; Remote Access</a:t>
            </a:r>
            <a:endParaRPr lang="en-US" sz="3200" dirty="0"/>
          </a:p>
        </p:txBody>
      </p:sp>
      <p:pic>
        <p:nvPicPr>
          <p:cNvPr id="7" name="Image 1" descr="/sessions/inspiring-busy-dijkstra/mnt/outputs/build/assets/logo_white_trim.png"/>
          <p:cNvPicPr>
            <a:picLocks noChangeAspect="1"/>
          </p:cNvPicPr>
          <p:nvPr/>
        </p:nvPicPr>
        <p:blipFill>
          <a:blip r:embed="rId4"/>
          <a:stretch>
            <a:fillRect/>
          </a:stretch>
        </p:blipFill>
        <p:spPr>
          <a:xfrm>
            <a:off x="713232" y="5989320"/>
            <a:ext cx="1417320" cy="643963"/>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marL="0" indent="0">
              <a:buNone/>
            </a:pPr>
            <a:r>
              <a:rPr lang="en-US" sz="1150" b="1" kern="0" spc="200" dirty="0">
                <a:solidFill>
                  <a:srgbClr val="F2931F"/>
                </a:solidFill>
                <a:latin typeface="Calibri" pitchFamily="34" charset="0"/>
                <a:ea typeface="Calibri" pitchFamily="34" charset="-122"/>
                <a:cs typeface="Calibri" pitchFamily="34" charset="-120"/>
              </a:rPr>
              <a:t>REDUCE THE ATTACK SURFACE</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marL="0" indent="0">
              <a:buNone/>
            </a:pPr>
            <a:r>
              <a:rPr lang="en-US" sz="2600" b="1" dirty="0">
                <a:solidFill>
                  <a:srgbClr val="262F65"/>
                </a:solidFill>
                <a:latin typeface="Cambria" pitchFamily="34" charset="0"/>
                <a:ea typeface="Cambria" pitchFamily="34" charset="-122"/>
                <a:cs typeface="Cambria" pitchFamily="34" charset="-120"/>
              </a:rPr>
              <a:t>OS hardening &amp; system minimization</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marL="0" indent="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13</a:t>
            </a:r>
            <a:endParaRPr lang="en-US" sz="900" dirty="0"/>
          </a:p>
        </p:txBody>
      </p:sp>
      <p:sp>
        <p:nvSpPr>
          <p:cNvPr id="7" name="Shape 4"/>
          <p:cNvSpPr/>
          <p:nvPr/>
        </p:nvSpPr>
        <p:spPr>
          <a:xfrm>
            <a:off x="640080" y="1737360"/>
            <a:ext cx="5349240" cy="3931920"/>
          </a:xfrm>
          <a:prstGeom prst="roundRect">
            <a:avLst>
              <a:gd name="adj" fmla="val 2093"/>
            </a:avLst>
          </a:prstGeom>
          <a:solidFill>
            <a:srgbClr val="F4F6FB"/>
          </a:solidFill>
          <a:ln/>
          <a:effectLst>
            <a:outerShdw blurRad="88900" dist="38100" dir="5400000" algn="bl" rotWithShape="0">
              <a:srgbClr val="8894AD">
                <a:alpha val="28000"/>
              </a:srgbClr>
            </a:outerShdw>
          </a:effectLst>
        </p:spPr>
        <p:txBody>
          <a:bodyPr/>
          <a:lstStyle/>
          <a:p>
            <a:endParaRPr lang="en-MY"/>
          </a:p>
        </p:txBody>
      </p:sp>
      <p:sp>
        <p:nvSpPr>
          <p:cNvPr id="8" name="Shape 5"/>
          <p:cNvSpPr/>
          <p:nvPr/>
        </p:nvSpPr>
        <p:spPr>
          <a:xfrm>
            <a:off x="960120" y="2057400"/>
            <a:ext cx="868680" cy="868680"/>
          </a:xfrm>
          <a:prstGeom prst="ellipse">
            <a:avLst/>
          </a:prstGeom>
          <a:solidFill>
            <a:srgbClr val="262F65"/>
          </a:solidFill>
          <a:ln/>
        </p:spPr>
        <p:txBody>
          <a:bodyPr/>
          <a:lstStyle/>
          <a:p>
            <a:endParaRPr lang="en-MY"/>
          </a:p>
        </p:txBody>
      </p:sp>
      <p:pic>
        <p:nvPicPr>
          <p:cNvPr id="9" name="Image 0" descr="preencoded.png"/>
          <p:cNvPicPr>
            <a:picLocks noChangeAspect="1"/>
          </p:cNvPicPr>
          <p:nvPr/>
        </p:nvPicPr>
        <p:blipFill>
          <a:blip r:embed="rId3"/>
          <a:stretch>
            <a:fillRect/>
          </a:stretch>
        </p:blipFill>
        <p:spPr>
          <a:xfrm>
            <a:off x="1168603" y="2265883"/>
            <a:ext cx="451714" cy="451714"/>
          </a:xfrm>
          <a:prstGeom prst="rect">
            <a:avLst/>
          </a:prstGeom>
        </p:spPr>
      </p:pic>
      <p:sp>
        <p:nvSpPr>
          <p:cNvPr id="10" name="Text 6"/>
          <p:cNvSpPr/>
          <p:nvPr/>
        </p:nvSpPr>
        <p:spPr>
          <a:xfrm>
            <a:off x="2011680" y="2121408"/>
            <a:ext cx="3703320" cy="777240"/>
          </a:xfrm>
          <a:prstGeom prst="rect">
            <a:avLst/>
          </a:prstGeom>
          <a:noFill/>
          <a:ln/>
        </p:spPr>
        <p:txBody>
          <a:bodyPr wrap="square" lIns="0" tIns="0" rIns="0" bIns="0" rtlCol="0" anchor="t"/>
          <a:lstStyle/>
          <a:p>
            <a:pPr marL="0" indent="0">
              <a:buNone/>
            </a:pPr>
            <a:r>
              <a:rPr lang="en-US" sz="1550" b="1" dirty="0">
                <a:solidFill>
                  <a:srgbClr val="262F65"/>
                </a:solidFill>
                <a:latin typeface="Calibri" pitchFamily="34" charset="0"/>
                <a:ea typeface="Calibri" pitchFamily="34" charset="-122"/>
                <a:cs typeface="Calibri" pitchFamily="34" charset="-120"/>
              </a:rPr>
              <a:t>OS hardening</a:t>
            </a:r>
            <a:endParaRPr lang="en-US" sz="1550" dirty="0"/>
          </a:p>
        </p:txBody>
      </p:sp>
      <p:sp>
        <p:nvSpPr>
          <p:cNvPr id="11" name="Shape 7"/>
          <p:cNvSpPr/>
          <p:nvPr/>
        </p:nvSpPr>
        <p:spPr>
          <a:xfrm>
            <a:off x="1005840" y="3127248"/>
            <a:ext cx="128016" cy="128016"/>
          </a:xfrm>
          <a:prstGeom prst="ellipse">
            <a:avLst/>
          </a:prstGeom>
          <a:solidFill>
            <a:srgbClr val="262F65"/>
          </a:solidFill>
          <a:ln/>
        </p:spPr>
        <p:txBody>
          <a:bodyPr/>
          <a:lstStyle/>
          <a:p>
            <a:endParaRPr lang="en-MY"/>
          </a:p>
        </p:txBody>
      </p:sp>
      <p:sp>
        <p:nvSpPr>
          <p:cNvPr id="12" name="Text 8"/>
          <p:cNvSpPr/>
          <p:nvPr/>
        </p:nvSpPr>
        <p:spPr>
          <a:xfrm>
            <a:off x="1280160" y="3063240"/>
            <a:ext cx="4389120" cy="530352"/>
          </a:xfrm>
          <a:prstGeom prst="rect">
            <a:avLst/>
          </a:prstGeom>
          <a:noFill/>
          <a:ln/>
        </p:spPr>
        <p:txBody>
          <a:bodyPr wrap="square" lIns="0" tIns="0" rIns="0" bIns="0" rtlCol="0" anchor="ctr"/>
          <a:lstStyle/>
          <a:p>
            <a:pPr marL="0" indent="0">
              <a:buNone/>
            </a:pPr>
            <a:r>
              <a:rPr lang="en-US" sz="1250" b="1" dirty="0">
                <a:solidFill>
                  <a:srgbClr val="23283A"/>
                </a:solidFill>
                <a:latin typeface="Calibri" pitchFamily="34" charset="0"/>
                <a:ea typeface="Calibri" pitchFamily="34" charset="-122"/>
                <a:cs typeface="Calibri" pitchFamily="34" charset="-120"/>
              </a:rPr>
              <a:t>Remove unnecessary services — </a:t>
            </a:r>
            <a:r>
              <a:rPr lang="en-US" sz="1250" dirty="0">
                <a:solidFill>
                  <a:srgbClr val="5B6472"/>
                </a:solidFill>
                <a:latin typeface="Calibri" pitchFamily="34" charset="0"/>
                <a:ea typeface="Calibri" pitchFamily="34" charset="-122"/>
                <a:cs typeface="Calibri" pitchFamily="34" charset="-120"/>
              </a:rPr>
              <a:t>fewer entry points</a:t>
            </a:r>
            <a:endParaRPr lang="en-US" sz="1250" dirty="0"/>
          </a:p>
        </p:txBody>
      </p:sp>
      <p:sp>
        <p:nvSpPr>
          <p:cNvPr id="13" name="Shape 9"/>
          <p:cNvSpPr/>
          <p:nvPr/>
        </p:nvSpPr>
        <p:spPr>
          <a:xfrm>
            <a:off x="1005840" y="3694176"/>
            <a:ext cx="128016" cy="128016"/>
          </a:xfrm>
          <a:prstGeom prst="ellipse">
            <a:avLst/>
          </a:prstGeom>
          <a:solidFill>
            <a:srgbClr val="262F65"/>
          </a:solidFill>
          <a:ln/>
        </p:spPr>
        <p:txBody>
          <a:bodyPr/>
          <a:lstStyle/>
          <a:p>
            <a:endParaRPr lang="en-MY"/>
          </a:p>
        </p:txBody>
      </p:sp>
      <p:sp>
        <p:nvSpPr>
          <p:cNvPr id="14" name="Text 10"/>
          <p:cNvSpPr/>
          <p:nvPr/>
        </p:nvSpPr>
        <p:spPr>
          <a:xfrm>
            <a:off x="1280160" y="3630168"/>
            <a:ext cx="4389120" cy="530352"/>
          </a:xfrm>
          <a:prstGeom prst="rect">
            <a:avLst/>
          </a:prstGeom>
          <a:noFill/>
          <a:ln/>
        </p:spPr>
        <p:txBody>
          <a:bodyPr wrap="square" lIns="0" tIns="0" rIns="0" bIns="0" rtlCol="0" anchor="ctr"/>
          <a:lstStyle/>
          <a:p>
            <a:pPr marL="0" indent="0">
              <a:buNone/>
            </a:pPr>
            <a:r>
              <a:rPr lang="en-US" sz="1250" b="1" dirty="0">
                <a:solidFill>
                  <a:srgbClr val="23283A"/>
                </a:solidFill>
                <a:latin typeface="Calibri" pitchFamily="34" charset="0"/>
                <a:ea typeface="Calibri" pitchFamily="34" charset="-122"/>
                <a:cs typeface="Calibri" pitchFamily="34" charset="-120"/>
              </a:rPr>
              <a:t>Apply security patches — </a:t>
            </a:r>
            <a:r>
              <a:rPr lang="en-US" sz="1250" dirty="0">
                <a:solidFill>
                  <a:srgbClr val="5B6472"/>
                </a:solidFill>
                <a:latin typeface="Calibri" pitchFamily="34" charset="0"/>
                <a:ea typeface="Calibri" pitchFamily="34" charset="-122"/>
                <a:cs typeface="Calibri" pitchFamily="34" charset="-120"/>
              </a:rPr>
              <a:t>close known flaws</a:t>
            </a:r>
            <a:endParaRPr lang="en-US" sz="1250" dirty="0"/>
          </a:p>
        </p:txBody>
      </p:sp>
      <p:sp>
        <p:nvSpPr>
          <p:cNvPr id="15" name="Shape 11"/>
          <p:cNvSpPr/>
          <p:nvPr/>
        </p:nvSpPr>
        <p:spPr>
          <a:xfrm>
            <a:off x="1005840" y="4261104"/>
            <a:ext cx="128016" cy="128016"/>
          </a:xfrm>
          <a:prstGeom prst="ellipse">
            <a:avLst/>
          </a:prstGeom>
          <a:solidFill>
            <a:srgbClr val="262F65"/>
          </a:solidFill>
          <a:ln/>
        </p:spPr>
        <p:txBody>
          <a:bodyPr/>
          <a:lstStyle/>
          <a:p>
            <a:endParaRPr lang="en-MY"/>
          </a:p>
        </p:txBody>
      </p:sp>
      <p:sp>
        <p:nvSpPr>
          <p:cNvPr id="16" name="Text 12"/>
          <p:cNvSpPr/>
          <p:nvPr/>
        </p:nvSpPr>
        <p:spPr>
          <a:xfrm>
            <a:off x="1280160" y="4197096"/>
            <a:ext cx="4389120" cy="530352"/>
          </a:xfrm>
          <a:prstGeom prst="rect">
            <a:avLst/>
          </a:prstGeom>
          <a:noFill/>
          <a:ln/>
        </p:spPr>
        <p:txBody>
          <a:bodyPr wrap="square" lIns="0" tIns="0" rIns="0" bIns="0" rtlCol="0" anchor="ctr"/>
          <a:lstStyle/>
          <a:p>
            <a:pPr marL="0" indent="0">
              <a:buNone/>
            </a:pPr>
            <a:r>
              <a:rPr lang="en-US" sz="1250" b="1" dirty="0">
                <a:solidFill>
                  <a:srgbClr val="23283A"/>
                </a:solidFill>
                <a:latin typeface="Calibri" pitchFamily="34" charset="0"/>
                <a:ea typeface="Calibri" pitchFamily="34" charset="-122"/>
                <a:cs typeface="Calibri" pitchFamily="34" charset="-120"/>
              </a:rPr>
              <a:t>Disable unused ports &amp; accounts — </a:t>
            </a:r>
            <a:endParaRPr lang="en-US" sz="1250" dirty="0"/>
          </a:p>
        </p:txBody>
      </p:sp>
      <p:sp>
        <p:nvSpPr>
          <p:cNvPr id="17" name="Shape 13"/>
          <p:cNvSpPr/>
          <p:nvPr/>
        </p:nvSpPr>
        <p:spPr>
          <a:xfrm>
            <a:off x="6355080" y="1737360"/>
            <a:ext cx="5349240" cy="3931920"/>
          </a:xfrm>
          <a:prstGeom prst="roundRect">
            <a:avLst>
              <a:gd name="adj" fmla="val 2093"/>
            </a:avLst>
          </a:prstGeom>
          <a:solidFill>
            <a:srgbClr val="F4F6FB"/>
          </a:solidFill>
          <a:ln/>
          <a:effectLst>
            <a:outerShdw blurRad="88900" dist="38100" dir="5400000" algn="bl" rotWithShape="0">
              <a:srgbClr val="8894AD">
                <a:alpha val="28000"/>
              </a:srgbClr>
            </a:outerShdw>
          </a:effectLst>
        </p:spPr>
        <p:txBody>
          <a:bodyPr/>
          <a:lstStyle/>
          <a:p>
            <a:endParaRPr lang="en-MY"/>
          </a:p>
        </p:txBody>
      </p:sp>
      <p:sp>
        <p:nvSpPr>
          <p:cNvPr id="18" name="Shape 14"/>
          <p:cNvSpPr/>
          <p:nvPr/>
        </p:nvSpPr>
        <p:spPr>
          <a:xfrm>
            <a:off x="6675120" y="2057400"/>
            <a:ext cx="868680" cy="868680"/>
          </a:xfrm>
          <a:prstGeom prst="ellipse">
            <a:avLst/>
          </a:prstGeom>
          <a:solidFill>
            <a:srgbClr val="F2931F"/>
          </a:solidFill>
          <a:ln/>
        </p:spPr>
        <p:txBody>
          <a:bodyPr/>
          <a:lstStyle/>
          <a:p>
            <a:endParaRPr lang="en-MY"/>
          </a:p>
        </p:txBody>
      </p:sp>
      <p:pic>
        <p:nvPicPr>
          <p:cNvPr id="19" name="Image 1" descr="preencoded.png"/>
          <p:cNvPicPr>
            <a:picLocks noChangeAspect="1"/>
          </p:cNvPicPr>
          <p:nvPr/>
        </p:nvPicPr>
        <p:blipFill>
          <a:blip r:embed="rId4"/>
          <a:stretch>
            <a:fillRect/>
          </a:stretch>
        </p:blipFill>
        <p:spPr>
          <a:xfrm>
            <a:off x="6883603" y="2265883"/>
            <a:ext cx="451714" cy="451714"/>
          </a:xfrm>
          <a:prstGeom prst="rect">
            <a:avLst/>
          </a:prstGeom>
        </p:spPr>
      </p:pic>
      <p:sp>
        <p:nvSpPr>
          <p:cNvPr id="20" name="Text 15"/>
          <p:cNvSpPr/>
          <p:nvPr/>
        </p:nvSpPr>
        <p:spPr>
          <a:xfrm>
            <a:off x="7726680" y="2121408"/>
            <a:ext cx="3703320" cy="777240"/>
          </a:xfrm>
          <a:prstGeom prst="rect">
            <a:avLst/>
          </a:prstGeom>
          <a:noFill/>
          <a:ln/>
        </p:spPr>
        <p:txBody>
          <a:bodyPr wrap="square" lIns="0" tIns="0" rIns="0" bIns="0" rtlCol="0" anchor="t"/>
          <a:lstStyle/>
          <a:p>
            <a:pPr marL="0" indent="0">
              <a:buNone/>
            </a:pPr>
            <a:r>
              <a:rPr lang="en-US" sz="1550" b="1" dirty="0">
                <a:solidFill>
                  <a:srgbClr val="262F65"/>
                </a:solidFill>
                <a:latin typeface="Calibri" pitchFamily="34" charset="0"/>
                <a:ea typeface="Calibri" pitchFamily="34" charset="-122"/>
                <a:cs typeface="Calibri" pitchFamily="34" charset="-120"/>
              </a:rPr>
              <a:t>System minimization</a:t>
            </a:r>
            <a:endParaRPr lang="en-US" sz="1550" dirty="0"/>
          </a:p>
        </p:txBody>
      </p:sp>
      <p:sp>
        <p:nvSpPr>
          <p:cNvPr id="21" name="Text 16"/>
          <p:cNvSpPr/>
          <p:nvPr/>
        </p:nvSpPr>
        <p:spPr>
          <a:xfrm>
            <a:off x="6675120" y="3017520"/>
            <a:ext cx="4709160" cy="548640"/>
          </a:xfrm>
          <a:prstGeom prst="rect">
            <a:avLst/>
          </a:prstGeom>
          <a:noFill/>
          <a:ln/>
        </p:spPr>
        <p:txBody>
          <a:bodyPr wrap="square" lIns="0" tIns="0" rIns="0" bIns="0" rtlCol="0" anchor="t"/>
          <a:lstStyle/>
          <a:p>
            <a:pPr marL="0" indent="0">
              <a:buNone/>
            </a:pPr>
            <a:r>
              <a:rPr lang="en-US" sz="1250" i="1" dirty="0">
                <a:solidFill>
                  <a:srgbClr val="5B6472"/>
                </a:solidFill>
                <a:latin typeface="Calibri" pitchFamily="34" charset="0"/>
                <a:ea typeface="Calibri" pitchFamily="34" charset="-122"/>
                <a:cs typeface="Calibri" pitchFamily="34" charset="-120"/>
              </a:rPr>
              <a:t>Keep only what you truly need.</a:t>
            </a:r>
            <a:endParaRPr lang="en-US" sz="1250" dirty="0"/>
          </a:p>
        </p:txBody>
      </p:sp>
      <p:sp>
        <p:nvSpPr>
          <p:cNvPr id="22" name="Shape 17"/>
          <p:cNvSpPr/>
          <p:nvPr/>
        </p:nvSpPr>
        <p:spPr>
          <a:xfrm>
            <a:off x="6720840" y="3767328"/>
            <a:ext cx="128016" cy="128016"/>
          </a:xfrm>
          <a:prstGeom prst="ellipse">
            <a:avLst/>
          </a:prstGeom>
          <a:solidFill>
            <a:srgbClr val="F2931F"/>
          </a:solidFill>
          <a:ln/>
        </p:spPr>
        <p:txBody>
          <a:bodyPr/>
          <a:lstStyle/>
          <a:p>
            <a:endParaRPr lang="en-MY"/>
          </a:p>
        </p:txBody>
      </p:sp>
      <p:sp>
        <p:nvSpPr>
          <p:cNvPr id="23" name="Text 18"/>
          <p:cNvSpPr/>
          <p:nvPr/>
        </p:nvSpPr>
        <p:spPr>
          <a:xfrm>
            <a:off x="6995160" y="3703320"/>
            <a:ext cx="4389120" cy="530352"/>
          </a:xfrm>
          <a:prstGeom prst="rect">
            <a:avLst/>
          </a:prstGeom>
          <a:noFill/>
          <a:ln/>
        </p:spPr>
        <p:txBody>
          <a:bodyPr wrap="square" lIns="0" tIns="0" rIns="0" bIns="0" rtlCol="0" anchor="ctr"/>
          <a:lstStyle/>
          <a:p>
            <a:pPr marL="0" indent="0">
              <a:buNone/>
            </a:pPr>
            <a:r>
              <a:rPr lang="en-US" sz="1250" b="1" dirty="0">
                <a:solidFill>
                  <a:srgbClr val="23283A"/>
                </a:solidFill>
                <a:latin typeface="Calibri" pitchFamily="34" charset="0"/>
                <a:ea typeface="Calibri" pitchFamily="34" charset="-122"/>
                <a:cs typeface="Calibri" pitchFamily="34" charset="-120"/>
              </a:rPr>
              <a:t>Fewer components = fewer flaws — </a:t>
            </a:r>
            <a:endParaRPr lang="en-US" sz="1250" dirty="0"/>
          </a:p>
        </p:txBody>
      </p:sp>
      <p:sp>
        <p:nvSpPr>
          <p:cNvPr id="24" name="Shape 19"/>
          <p:cNvSpPr/>
          <p:nvPr/>
        </p:nvSpPr>
        <p:spPr>
          <a:xfrm>
            <a:off x="6720840" y="4334256"/>
            <a:ext cx="128016" cy="128016"/>
          </a:xfrm>
          <a:prstGeom prst="ellipse">
            <a:avLst/>
          </a:prstGeom>
          <a:solidFill>
            <a:srgbClr val="F2931F"/>
          </a:solidFill>
          <a:ln/>
        </p:spPr>
        <p:txBody>
          <a:bodyPr/>
          <a:lstStyle/>
          <a:p>
            <a:endParaRPr lang="en-MY"/>
          </a:p>
        </p:txBody>
      </p:sp>
      <p:sp>
        <p:nvSpPr>
          <p:cNvPr id="25" name="Text 20"/>
          <p:cNvSpPr/>
          <p:nvPr/>
        </p:nvSpPr>
        <p:spPr>
          <a:xfrm>
            <a:off x="6995160" y="4270248"/>
            <a:ext cx="4389120" cy="530352"/>
          </a:xfrm>
          <a:prstGeom prst="rect">
            <a:avLst/>
          </a:prstGeom>
          <a:noFill/>
          <a:ln/>
        </p:spPr>
        <p:txBody>
          <a:bodyPr wrap="square" lIns="0" tIns="0" rIns="0" bIns="0" rtlCol="0" anchor="ctr"/>
          <a:lstStyle/>
          <a:p>
            <a:pPr marL="0" indent="0">
              <a:buNone/>
            </a:pPr>
            <a:r>
              <a:rPr lang="en-US" sz="1250" b="1" dirty="0">
                <a:solidFill>
                  <a:srgbClr val="23283A"/>
                </a:solidFill>
                <a:latin typeface="Calibri" pitchFamily="34" charset="0"/>
                <a:ea typeface="Calibri" pitchFamily="34" charset="-122"/>
                <a:cs typeface="Calibri" pitchFamily="34" charset="-120"/>
              </a:rPr>
              <a:t>Easier to secure &amp; monitor — </a:t>
            </a:r>
            <a:endParaRPr lang="en-US" sz="1250" dirty="0"/>
          </a:p>
        </p:txBody>
      </p:sp>
      <p:sp>
        <p:nvSpPr>
          <p:cNvPr id="26" name="Shape 21"/>
          <p:cNvSpPr/>
          <p:nvPr/>
        </p:nvSpPr>
        <p:spPr>
          <a:xfrm>
            <a:off x="6720840" y="4901184"/>
            <a:ext cx="128016" cy="128016"/>
          </a:xfrm>
          <a:prstGeom prst="ellipse">
            <a:avLst/>
          </a:prstGeom>
          <a:solidFill>
            <a:srgbClr val="F2931F"/>
          </a:solidFill>
          <a:ln/>
        </p:spPr>
        <p:txBody>
          <a:bodyPr/>
          <a:lstStyle/>
          <a:p>
            <a:endParaRPr lang="en-MY"/>
          </a:p>
        </p:txBody>
      </p:sp>
      <p:sp>
        <p:nvSpPr>
          <p:cNvPr id="27" name="Text 22"/>
          <p:cNvSpPr/>
          <p:nvPr/>
        </p:nvSpPr>
        <p:spPr>
          <a:xfrm>
            <a:off x="6995160" y="4837176"/>
            <a:ext cx="4389120" cy="530352"/>
          </a:xfrm>
          <a:prstGeom prst="rect">
            <a:avLst/>
          </a:prstGeom>
          <a:noFill/>
          <a:ln/>
        </p:spPr>
        <p:txBody>
          <a:bodyPr wrap="square" lIns="0" tIns="0" rIns="0" bIns="0" rtlCol="0" anchor="ctr"/>
          <a:lstStyle/>
          <a:p>
            <a:pPr marL="0" indent="0">
              <a:buNone/>
            </a:pPr>
            <a:r>
              <a:rPr lang="en-US" sz="1250" b="1" dirty="0">
                <a:solidFill>
                  <a:srgbClr val="23283A"/>
                </a:solidFill>
                <a:latin typeface="Calibri" pitchFamily="34" charset="0"/>
                <a:ea typeface="Calibri" pitchFamily="34" charset="-122"/>
                <a:cs typeface="Calibri" pitchFamily="34" charset="-120"/>
              </a:rPr>
              <a:t>Golden images at scale — </a:t>
            </a:r>
            <a:r>
              <a:rPr lang="en-US" sz="1250" dirty="0">
                <a:solidFill>
                  <a:srgbClr val="5B6472"/>
                </a:solidFill>
                <a:latin typeface="Calibri" pitchFamily="34" charset="0"/>
                <a:ea typeface="Calibri" pitchFamily="34" charset="-122"/>
                <a:cs typeface="Calibri" pitchFamily="34" charset="-120"/>
              </a:rPr>
              <a:t>secure by default</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marL="0" indent="0">
              <a:buNone/>
            </a:pPr>
            <a:r>
              <a:rPr lang="en-US" sz="1150" b="1" kern="0" spc="200" dirty="0">
                <a:solidFill>
                  <a:srgbClr val="F2931F"/>
                </a:solidFill>
                <a:latin typeface="Calibri" pitchFamily="34" charset="0"/>
                <a:ea typeface="Calibri" pitchFamily="34" charset="-122"/>
                <a:cs typeface="Calibri" pitchFamily="34" charset="-120"/>
              </a:rPr>
              <a:t>ACCESS &amp; INTEGRITY</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marL="0" indent="0">
              <a:buNone/>
            </a:pPr>
            <a:r>
              <a:rPr lang="en-US" sz="2600" b="1" dirty="0">
                <a:solidFill>
                  <a:srgbClr val="262F65"/>
                </a:solidFill>
                <a:latin typeface="Cambria" pitchFamily="34" charset="0"/>
                <a:ea typeface="Cambria" pitchFamily="34" charset="-122"/>
                <a:cs typeface="Cambria" pitchFamily="34" charset="-120"/>
              </a:rPr>
              <a:t>Secure remote access &amp; trusted boot</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marL="0" indent="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14</a:t>
            </a:r>
            <a:endParaRPr lang="en-US" sz="900" dirty="0"/>
          </a:p>
        </p:txBody>
      </p:sp>
      <p:sp>
        <p:nvSpPr>
          <p:cNvPr id="7" name="Shape 4"/>
          <p:cNvSpPr/>
          <p:nvPr/>
        </p:nvSpPr>
        <p:spPr>
          <a:xfrm>
            <a:off x="640080" y="1737360"/>
            <a:ext cx="5349240" cy="3931920"/>
          </a:xfrm>
          <a:prstGeom prst="roundRect">
            <a:avLst>
              <a:gd name="adj" fmla="val 2093"/>
            </a:avLst>
          </a:prstGeom>
          <a:solidFill>
            <a:srgbClr val="F4F6FB"/>
          </a:solidFill>
          <a:ln/>
          <a:effectLst>
            <a:outerShdw blurRad="88900" dist="38100" dir="5400000" algn="bl" rotWithShape="0">
              <a:srgbClr val="8894AD">
                <a:alpha val="28000"/>
              </a:srgbClr>
            </a:outerShdw>
          </a:effectLst>
        </p:spPr>
        <p:txBody>
          <a:bodyPr/>
          <a:lstStyle/>
          <a:p>
            <a:endParaRPr lang="en-MY"/>
          </a:p>
        </p:txBody>
      </p:sp>
      <p:sp>
        <p:nvSpPr>
          <p:cNvPr id="8" name="Shape 5"/>
          <p:cNvSpPr/>
          <p:nvPr/>
        </p:nvSpPr>
        <p:spPr>
          <a:xfrm>
            <a:off x="960120" y="2057400"/>
            <a:ext cx="868680" cy="868680"/>
          </a:xfrm>
          <a:prstGeom prst="ellipse">
            <a:avLst/>
          </a:prstGeom>
          <a:solidFill>
            <a:srgbClr val="262F65"/>
          </a:solidFill>
          <a:ln/>
        </p:spPr>
        <p:txBody>
          <a:bodyPr/>
          <a:lstStyle/>
          <a:p>
            <a:endParaRPr lang="en-MY"/>
          </a:p>
        </p:txBody>
      </p:sp>
      <p:pic>
        <p:nvPicPr>
          <p:cNvPr id="9" name="Image 0" descr="preencoded.png"/>
          <p:cNvPicPr>
            <a:picLocks noChangeAspect="1"/>
          </p:cNvPicPr>
          <p:nvPr/>
        </p:nvPicPr>
        <p:blipFill>
          <a:blip r:embed="rId3"/>
          <a:stretch>
            <a:fillRect/>
          </a:stretch>
        </p:blipFill>
        <p:spPr>
          <a:xfrm>
            <a:off x="1168603" y="2265883"/>
            <a:ext cx="451714" cy="451714"/>
          </a:xfrm>
          <a:prstGeom prst="rect">
            <a:avLst/>
          </a:prstGeom>
        </p:spPr>
      </p:pic>
      <p:sp>
        <p:nvSpPr>
          <p:cNvPr id="10" name="Text 6"/>
          <p:cNvSpPr/>
          <p:nvPr/>
        </p:nvSpPr>
        <p:spPr>
          <a:xfrm>
            <a:off x="2011680" y="2121408"/>
            <a:ext cx="3703320" cy="777240"/>
          </a:xfrm>
          <a:prstGeom prst="rect">
            <a:avLst/>
          </a:prstGeom>
          <a:noFill/>
          <a:ln/>
        </p:spPr>
        <p:txBody>
          <a:bodyPr wrap="square" lIns="0" tIns="0" rIns="0" bIns="0" rtlCol="0" anchor="t"/>
          <a:lstStyle/>
          <a:p>
            <a:pPr marL="0" indent="0">
              <a:buNone/>
            </a:pPr>
            <a:r>
              <a:rPr lang="en-US" sz="1550" b="1" dirty="0">
                <a:solidFill>
                  <a:srgbClr val="262F65"/>
                </a:solidFill>
                <a:latin typeface="Calibri" pitchFamily="34" charset="0"/>
                <a:ea typeface="Calibri" pitchFamily="34" charset="-122"/>
                <a:cs typeface="Calibri" pitchFamily="34" charset="-120"/>
              </a:rPr>
              <a:t>Secure remote access</a:t>
            </a:r>
            <a:endParaRPr lang="en-US" sz="1550" dirty="0"/>
          </a:p>
        </p:txBody>
      </p:sp>
      <p:sp>
        <p:nvSpPr>
          <p:cNvPr id="11" name="Shape 7"/>
          <p:cNvSpPr/>
          <p:nvPr/>
        </p:nvSpPr>
        <p:spPr>
          <a:xfrm>
            <a:off x="1005840" y="3127248"/>
            <a:ext cx="128016" cy="128016"/>
          </a:xfrm>
          <a:prstGeom prst="ellipse">
            <a:avLst/>
          </a:prstGeom>
          <a:solidFill>
            <a:srgbClr val="262F65"/>
          </a:solidFill>
          <a:ln/>
        </p:spPr>
        <p:txBody>
          <a:bodyPr/>
          <a:lstStyle/>
          <a:p>
            <a:endParaRPr lang="en-MY"/>
          </a:p>
        </p:txBody>
      </p:sp>
      <p:sp>
        <p:nvSpPr>
          <p:cNvPr id="12" name="Text 8"/>
          <p:cNvSpPr/>
          <p:nvPr/>
        </p:nvSpPr>
        <p:spPr>
          <a:xfrm>
            <a:off x="1280160" y="3063240"/>
            <a:ext cx="4389120" cy="530352"/>
          </a:xfrm>
          <a:prstGeom prst="rect">
            <a:avLst/>
          </a:prstGeom>
          <a:noFill/>
          <a:ln/>
        </p:spPr>
        <p:txBody>
          <a:bodyPr wrap="square" lIns="0" tIns="0" rIns="0" bIns="0" rtlCol="0" anchor="ctr"/>
          <a:lstStyle/>
          <a:p>
            <a:pPr marL="0" indent="0">
              <a:buNone/>
            </a:pPr>
            <a:r>
              <a:rPr lang="en-US" sz="1250" b="1" dirty="0">
                <a:solidFill>
                  <a:srgbClr val="23283A"/>
                </a:solidFill>
                <a:latin typeface="Calibri" pitchFamily="34" charset="0"/>
                <a:ea typeface="Calibri" pitchFamily="34" charset="-122"/>
                <a:cs typeface="Calibri" pitchFamily="34" charset="-120"/>
              </a:rPr>
              <a:t>Use VPNs — </a:t>
            </a:r>
            <a:r>
              <a:rPr lang="en-US" sz="1250" dirty="0">
                <a:solidFill>
                  <a:srgbClr val="5B6472"/>
                </a:solidFill>
                <a:latin typeface="Calibri" pitchFamily="34" charset="0"/>
                <a:ea typeface="Calibri" pitchFamily="34" charset="-122"/>
                <a:cs typeface="Calibri" pitchFamily="34" charset="-120"/>
              </a:rPr>
              <a:t>tunnel traffic securely</a:t>
            </a:r>
            <a:endParaRPr lang="en-US" sz="1250" dirty="0"/>
          </a:p>
        </p:txBody>
      </p:sp>
      <p:sp>
        <p:nvSpPr>
          <p:cNvPr id="13" name="Shape 9"/>
          <p:cNvSpPr/>
          <p:nvPr/>
        </p:nvSpPr>
        <p:spPr>
          <a:xfrm>
            <a:off x="1005840" y="3694176"/>
            <a:ext cx="128016" cy="128016"/>
          </a:xfrm>
          <a:prstGeom prst="ellipse">
            <a:avLst/>
          </a:prstGeom>
          <a:solidFill>
            <a:srgbClr val="262F65"/>
          </a:solidFill>
          <a:ln/>
        </p:spPr>
        <p:txBody>
          <a:bodyPr/>
          <a:lstStyle/>
          <a:p>
            <a:endParaRPr lang="en-MY"/>
          </a:p>
        </p:txBody>
      </p:sp>
      <p:sp>
        <p:nvSpPr>
          <p:cNvPr id="14" name="Text 10"/>
          <p:cNvSpPr/>
          <p:nvPr/>
        </p:nvSpPr>
        <p:spPr>
          <a:xfrm>
            <a:off x="1280160" y="3630168"/>
            <a:ext cx="4389120" cy="530352"/>
          </a:xfrm>
          <a:prstGeom prst="rect">
            <a:avLst/>
          </a:prstGeom>
          <a:noFill/>
          <a:ln/>
        </p:spPr>
        <p:txBody>
          <a:bodyPr wrap="square" lIns="0" tIns="0" rIns="0" bIns="0" rtlCol="0" anchor="ctr"/>
          <a:lstStyle/>
          <a:p>
            <a:pPr marL="0" indent="0">
              <a:buNone/>
            </a:pPr>
            <a:r>
              <a:rPr lang="en-US" sz="1250" b="1" dirty="0">
                <a:solidFill>
                  <a:srgbClr val="23283A"/>
                </a:solidFill>
                <a:latin typeface="Calibri" pitchFamily="34" charset="0"/>
                <a:ea typeface="Calibri" pitchFamily="34" charset="-122"/>
                <a:cs typeface="Calibri" pitchFamily="34" charset="-120"/>
              </a:rPr>
              <a:t>Enforce MFA — </a:t>
            </a:r>
            <a:r>
              <a:rPr lang="en-US" sz="1250" dirty="0">
                <a:solidFill>
                  <a:srgbClr val="5B6472"/>
                </a:solidFill>
                <a:latin typeface="Calibri" pitchFamily="34" charset="0"/>
                <a:ea typeface="Calibri" pitchFamily="34" charset="-122"/>
                <a:cs typeface="Calibri" pitchFamily="34" charset="-120"/>
              </a:rPr>
              <a:t>on every remote session</a:t>
            </a:r>
            <a:endParaRPr lang="en-US" sz="1250" dirty="0"/>
          </a:p>
        </p:txBody>
      </p:sp>
      <p:sp>
        <p:nvSpPr>
          <p:cNvPr id="15" name="Shape 11"/>
          <p:cNvSpPr/>
          <p:nvPr/>
        </p:nvSpPr>
        <p:spPr>
          <a:xfrm>
            <a:off x="1005840" y="4261104"/>
            <a:ext cx="128016" cy="128016"/>
          </a:xfrm>
          <a:prstGeom prst="ellipse">
            <a:avLst/>
          </a:prstGeom>
          <a:solidFill>
            <a:srgbClr val="262F65"/>
          </a:solidFill>
          <a:ln/>
        </p:spPr>
        <p:txBody>
          <a:bodyPr/>
          <a:lstStyle/>
          <a:p>
            <a:endParaRPr lang="en-MY"/>
          </a:p>
        </p:txBody>
      </p:sp>
      <p:sp>
        <p:nvSpPr>
          <p:cNvPr id="16" name="Text 12"/>
          <p:cNvSpPr/>
          <p:nvPr/>
        </p:nvSpPr>
        <p:spPr>
          <a:xfrm>
            <a:off x="1280160" y="4197096"/>
            <a:ext cx="4389120" cy="530352"/>
          </a:xfrm>
          <a:prstGeom prst="rect">
            <a:avLst/>
          </a:prstGeom>
          <a:noFill/>
          <a:ln/>
        </p:spPr>
        <p:txBody>
          <a:bodyPr wrap="square" lIns="0" tIns="0" rIns="0" bIns="0" rtlCol="0" anchor="ctr"/>
          <a:lstStyle/>
          <a:p>
            <a:pPr marL="0" indent="0">
              <a:buNone/>
            </a:pPr>
            <a:r>
              <a:rPr lang="en-US" sz="1250" b="1" dirty="0">
                <a:solidFill>
                  <a:srgbClr val="23283A"/>
                </a:solidFill>
                <a:latin typeface="Calibri" pitchFamily="34" charset="0"/>
                <a:ea typeface="Calibri" pitchFamily="34" charset="-122"/>
                <a:cs typeface="Calibri" pitchFamily="34" charset="-120"/>
              </a:rPr>
              <a:t>Limit remote access — </a:t>
            </a:r>
            <a:r>
              <a:rPr lang="en-US" sz="1250" dirty="0">
                <a:solidFill>
                  <a:srgbClr val="5B6472"/>
                </a:solidFill>
                <a:latin typeface="Calibri" pitchFamily="34" charset="0"/>
                <a:ea typeface="Calibri" pitchFamily="34" charset="-122"/>
                <a:cs typeface="Calibri" pitchFamily="34" charset="-120"/>
              </a:rPr>
              <a:t>a prime attacker target</a:t>
            </a:r>
            <a:endParaRPr lang="en-US" sz="1250" dirty="0"/>
          </a:p>
        </p:txBody>
      </p:sp>
      <p:sp>
        <p:nvSpPr>
          <p:cNvPr id="17" name="Shape 13"/>
          <p:cNvSpPr/>
          <p:nvPr/>
        </p:nvSpPr>
        <p:spPr>
          <a:xfrm>
            <a:off x="6355080" y="1737360"/>
            <a:ext cx="5349240" cy="3931920"/>
          </a:xfrm>
          <a:prstGeom prst="roundRect">
            <a:avLst>
              <a:gd name="adj" fmla="val 2093"/>
            </a:avLst>
          </a:prstGeom>
          <a:solidFill>
            <a:srgbClr val="F4F6FB"/>
          </a:solidFill>
          <a:ln/>
          <a:effectLst>
            <a:outerShdw blurRad="88900" dist="38100" dir="5400000" algn="bl" rotWithShape="0">
              <a:srgbClr val="8894AD">
                <a:alpha val="28000"/>
              </a:srgbClr>
            </a:outerShdw>
          </a:effectLst>
        </p:spPr>
        <p:txBody>
          <a:bodyPr/>
          <a:lstStyle/>
          <a:p>
            <a:endParaRPr lang="en-MY"/>
          </a:p>
        </p:txBody>
      </p:sp>
      <p:sp>
        <p:nvSpPr>
          <p:cNvPr id="18" name="Shape 14"/>
          <p:cNvSpPr/>
          <p:nvPr/>
        </p:nvSpPr>
        <p:spPr>
          <a:xfrm>
            <a:off x="6675120" y="2057400"/>
            <a:ext cx="868680" cy="868680"/>
          </a:xfrm>
          <a:prstGeom prst="ellipse">
            <a:avLst/>
          </a:prstGeom>
          <a:solidFill>
            <a:srgbClr val="F2931F"/>
          </a:solidFill>
          <a:ln/>
        </p:spPr>
        <p:txBody>
          <a:bodyPr/>
          <a:lstStyle/>
          <a:p>
            <a:endParaRPr lang="en-MY"/>
          </a:p>
        </p:txBody>
      </p:sp>
      <p:pic>
        <p:nvPicPr>
          <p:cNvPr id="19" name="Image 1" descr="preencoded.png"/>
          <p:cNvPicPr>
            <a:picLocks noChangeAspect="1"/>
          </p:cNvPicPr>
          <p:nvPr/>
        </p:nvPicPr>
        <p:blipFill>
          <a:blip r:embed="rId4"/>
          <a:stretch>
            <a:fillRect/>
          </a:stretch>
        </p:blipFill>
        <p:spPr>
          <a:xfrm>
            <a:off x="6883603" y="2265883"/>
            <a:ext cx="451714" cy="451714"/>
          </a:xfrm>
          <a:prstGeom prst="rect">
            <a:avLst/>
          </a:prstGeom>
        </p:spPr>
      </p:pic>
      <p:sp>
        <p:nvSpPr>
          <p:cNvPr id="20" name="Text 15"/>
          <p:cNvSpPr/>
          <p:nvPr/>
        </p:nvSpPr>
        <p:spPr>
          <a:xfrm>
            <a:off x="7726680" y="2121408"/>
            <a:ext cx="3703320" cy="777240"/>
          </a:xfrm>
          <a:prstGeom prst="rect">
            <a:avLst/>
          </a:prstGeom>
          <a:noFill/>
          <a:ln/>
        </p:spPr>
        <p:txBody>
          <a:bodyPr wrap="square" lIns="0" tIns="0" rIns="0" bIns="0" rtlCol="0" anchor="t"/>
          <a:lstStyle/>
          <a:p>
            <a:pPr marL="0" indent="0">
              <a:buNone/>
            </a:pPr>
            <a:r>
              <a:rPr lang="en-US" sz="1550" b="1" dirty="0">
                <a:solidFill>
                  <a:srgbClr val="262F65"/>
                </a:solidFill>
                <a:latin typeface="Calibri" pitchFamily="34" charset="0"/>
                <a:ea typeface="Calibri" pitchFamily="34" charset="-122"/>
                <a:cs typeface="Calibri" pitchFamily="34" charset="-120"/>
              </a:rPr>
              <a:t>Verified &amp; measured boot</a:t>
            </a:r>
            <a:endParaRPr lang="en-US" sz="1550" dirty="0"/>
          </a:p>
        </p:txBody>
      </p:sp>
      <p:sp>
        <p:nvSpPr>
          <p:cNvPr id="21" name="Text 16"/>
          <p:cNvSpPr/>
          <p:nvPr/>
        </p:nvSpPr>
        <p:spPr>
          <a:xfrm>
            <a:off x="6675120" y="3017520"/>
            <a:ext cx="4709160" cy="548640"/>
          </a:xfrm>
          <a:prstGeom prst="rect">
            <a:avLst/>
          </a:prstGeom>
          <a:noFill/>
          <a:ln/>
        </p:spPr>
        <p:txBody>
          <a:bodyPr wrap="square" lIns="0" tIns="0" rIns="0" bIns="0" rtlCol="0" anchor="t"/>
          <a:lstStyle/>
          <a:p>
            <a:pPr marL="0" indent="0">
              <a:buNone/>
            </a:pPr>
            <a:r>
              <a:rPr lang="en-US" sz="1250" i="1" dirty="0">
                <a:solidFill>
                  <a:srgbClr val="5B6472"/>
                </a:solidFill>
                <a:latin typeface="Calibri" pitchFamily="34" charset="0"/>
                <a:ea typeface="Calibri" pitchFamily="34" charset="-122"/>
                <a:cs typeface="Calibri" pitchFamily="34" charset="-120"/>
              </a:rPr>
              <a:t>Integrity from the very first instruction.</a:t>
            </a:r>
            <a:endParaRPr lang="en-US" sz="1250" dirty="0"/>
          </a:p>
        </p:txBody>
      </p:sp>
      <p:sp>
        <p:nvSpPr>
          <p:cNvPr id="22" name="Shape 17"/>
          <p:cNvSpPr/>
          <p:nvPr/>
        </p:nvSpPr>
        <p:spPr>
          <a:xfrm>
            <a:off x="6720840" y="3767328"/>
            <a:ext cx="128016" cy="128016"/>
          </a:xfrm>
          <a:prstGeom prst="ellipse">
            <a:avLst/>
          </a:prstGeom>
          <a:solidFill>
            <a:srgbClr val="F2931F"/>
          </a:solidFill>
          <a:ln/>
        </p:spPr>
        <p:txBody>
          <a:bodyPr/>
          <a:lstStyle/>
          <a:p>
            <a:endParaRPr lang="en-MY"/>
          </a:p>
        </p:txBody>
      </p:sp>
      <p:sp>
        <p:nvSpPr>
          <p:cNvPr id="23" name="Text 18"/>
          <p:cNvSpPr/>
          <p:nvPr/>
        </p:nvSpPr>
        <p:spPr>
          <a:xfrm>
            <a:off x="6995160" y="3703320"/>
            <a:ext cx="4389120" cy="530352"/>
          </a:xfrm>
          <a:prstGeom prst="rect">
            <a:avLst/>
          </a:prstGeom>
          <a:noFill/>
          <a:ln/>
        </p:spPr>
        <p:txBody>
          <a:bodyPr wrap="square" lIns="0" tIns="0" rIns="0" bIns="0" rtlCol="0" anchor="ctr"/>
          <a:lstStyle/>
          <a:p>
            <a:pPr marL="0" indent="0">
              <a:buNone/>
            </a:pPr>
            <a:r>
              <a:rPr lang="en-US" sz="1250" b="1" dirty="0">
                <a:solidFill>
                  <a:srgbClr val="23283A"/>
                </a:solidFill>
                <a:latin typeface="Calibri" pitchFamily="34" charset="0"/>
                <a:ea typeface="Calibri" pitchFamily="34" charset="-122"/>
                <a:cs typeface="Calibri" pitchFamily="34" charset="-120"/>
              </a:rPr>
              <a:t>Check each boot component — </a:t>
            </a:r>
            <a:r>
              <a:rPr lang="en-US" sz="1250" dirty="0">
                <a:solidFill>
                  <a:srgbClr val="5B6472"/>
                </a:solidFill>
                <a:latin typeface="Calibri" pitchFamily="34" charset="0"/>
                <a:ea typeface="Calibri" pitchFamily="34" charset="-122"/>
                <a:cs typeface="Calibri" pitchFamily="34" charset="-120"/>
              </a:rPr>
              <a:t>authentic &amp; unmodified</a:t>
            </a:r>
            <a:endParaRPr lang="en-US" sz="1250" dirty="0"/>
          </a:p>
        </p:txBody>
      </p:sp>
      <p:sp>
        <p:nvSpPr>
          <p:cNvPr id="24" name="Shape 19"/>
          <p:cNvSpPr/>
          <p:nvPr/>
        </p:nvSpPr>
        <p:spPr>
          <a:xfrm>
            <a:off x="6720840" y="4334256"/>
            <a:ext cx="128016" cy="128016"/>
          </a:xfrm>
          <a:prstGeom prst="ellipse">
            <a:avLst/>
          </a:prstGeom>
          <a:solidFill>
            <a:srgbClr val="F2931F"/>
          </a:solidFill>
          <a:ln/>
        </p:spPr>
        <p:txBody>
          <a:bodyPr/>
          <a:lstStyle/>
          <a:p>
            <a:endParaRPr lang="en-MY"/>
          </a:p>
        </p:txBody>
      </p:sp>
      <p:sp>
        <p:nvSpPr>
          <p:cNvPr id="25" name="Text 20"/>
          <p:cNvSpPr/>
          <p:nvPr/>
        </p:nvSpPr>
        <p:spPr>
          <a:xfrm>
            <a:off x="6995160" y="4270248"/>
            <a:ext cx="4389120" cy="530352"/>
          </a:xfrm>
          <a:prstGeom prst="rect">
            <a:avLst/>
          </a:prstGeom>
          <a:noFill/>
          <a:ln/>
        </p:spPr>
        <p:txBody>
          <a:bodyPr wrap="square" lIns="0" tIns="0" rIns="0" bIns="0" rtlCol="0" anchor="ctr"/>
          <a:lstStyle/>
          <a:p>
            <a:pPr marL="0" indent="0">
              <a:buNone/>
            </a:pPr>
            <a:r>
              <a:rPr lang="en-US" sz="1250" b="1" dirty="0">
                <a:solidFill>
                  <a:srgbClr val="23283A"/>
                </a:solidFill>
                <a:latin typeface="Calibri" pitchFamily="34" charset="0"/>
                <a:ea typeface="Calibri" pitchFamily="34" charset="-122"/>
                <a:cs typeface="Calibri" pitchFamily="34" charset="-120"/>
              </a:rPr>
              <a:t>Detect rootkits / tampering — </a:t>
            </a:r>
            <a:endParaRPr lang="en-US" sz="1250" dirty="0"/>
          </a:p>
        </p:txBody>
      </p:sp>
      <p:sp>
        <p:nvSpPr>
          <p:cNvPr id="26" name="Shape 21"/>
          <p:cNvSpPr/>
          <p:nvPr/>
        </p:nvSpPr>
        <p:spPr>
          <a:xfrm>
            <a:off x="6720840" y="4901184"/>
            <a:ext cx="128016" cy="128016"/>
          </a:xfrm>
          <a:prstGeom prst="ellipse">
            <a:avLst/>
          </a:prstGeom>
          <a:solidFill>
            <a:srgbClr val="F2931F"/>
          </a:solidFill>
          <a:ln/>
        </p:spPr>
        <p:txBody>
          <a:bodyPr/>
          <a:lstStyle/>
          <a:p>
            <a:endParaRPr lang="en-MY"/>
          </a:p>
        </p:txBody>
      </p:sp>
      <p:sp>
        <p:nvSpPr>
          <p:cNvPr id="27" name="Text 22"/>
          <p:cNvSpPr/>
          <p:nvPr/>
        </p:nvSpPr>
        <p:spPr>
          <a:xfrm>
            <a:off x="6995160" y="4837176"/>
            <a:ext cx="4389120" cy="530352"/>
          </a:xfrm>
          <a:prstGeom prst="rect">
            <a:avLst/>
          </a:prstGeom>
          <a:noFill/>
          <a:ln/>
        </p:spPr>
        <p:txBody>
          <a:bodyPr wrap="square" lIns="0" tIns="0" rIns="0" bIns="0" rtlCol="0" anchor="ctr"/>
          <a:lstStyle/>
          <a:p>
            <a:pPr marL="0" indent="0">
              <a:buNone/>
            </a:pPr>
            <a:r>
              <a:rPr lang="en-US" sz="1250" b="1" dirty="0">
                <a:solidFill>
                  <a:srgbClr val="23283A"/>
                </a:solidFill>
                <a:latin typeface="Calibri" pitchFamily="34" charset="0"/>
                <a:ea typeface="Calibri" pitchFamily="34" charset="-122"/>
                <a:cs typeface="Calibri" pitchFamily="34" charset="-120"/>
              </a:rPr>
              <a:t>Trusted foundation — </a:t>
            </a:r>
            <a:r>
              <a:rPr lang="en-US" sz="1250" dirty="0">
                <a:solidFill>
                  <a:srgbClr val="5B6472"/>
                </a:solidFill>
                <a:latin typeface="Calibri" pitchFamily="34" charset="0"/>
                <a:ea typeface="Calibri" pitchFamily="34" charset="-122"/>
                <a:cs typeface="Calibri" pitchFamily="34" charset="-120"/>
              </a:rPr>
              <a:t>basis for Lesson 8 patterns</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262F65"/>
        </a:solidFill>
        <a:effectLst/>
      </p:bgPr>
    </p:bg>
    <p:spTree>
      <p:nvGrpSpPr>
        <p:cNvPr id="1" name=""/>
        <p:cNvGrpSpPr/>
        <p:nvPr/>
      </p:nvGrpSpPr>
      <p:grpSpPr>
        <a:xfrm>
          <a:off x="0" y="0"/>
          <a:ext cx="0" cy="0"/>
          <a:chOff x="0" y="0"/>
          <a:chExt cx="0" cy="0"/>
        </a:xfrm>
      </p:grpSpPr>
      <p:sp>
        <p:nvSpPr>
          <p:cNvPr id="2" name="Shape 0"/>
          <p:cNvSpPr/>
          <p:nvPr/>
        </p:nvSpPr>
        <p:spPr>
          <a:xfrm>
            <a:off x="-1280160" y="3931920"/>
            <a:ext cx="4023360" cy="4023360"/>
          </a:xfrm>
          <a:prstGeom prst="ellipse">
            <a:avLst/>
          </a:prstGeom>
          <a:solidFill>
            <a:srgbClr val="293E7B">
              <a:alpha val="45000"/>
            </a:srgbClr>
          </a:solidFill>
          <a:ln/>
        </p:spPr>
        <p:txBody>
          <a:bodyPr/>
          <a:lstStyle/>
          <a:p>
            <a:endParaRPr lang="en-MY"/>
          </a:p>
        </p:txBody>
      </p:sp>
      <p:pic>
        <p:nvPicPr>
          <p:cNvPr id="3" name="Image 0" descr="preencoded.png"/>
          <p:cNvPicPr>
            <a:picLocks noChangeAspect="1"/>
          </p:cNvPicPr>
          <p:nvPr/>
        </p:nvPicPr>
        <p:blipFill>
          <a:blip r:embed="rId3"/>
          <a:stretch>
            <a:fillRect/>
          </a:stretch>
        </p:blipFill>
        <p:spPr>
          <a:xfrm>
            <a:off x="7360920" y="1412421"/>
            <a:ext cx="4343400" cy="4033157"/>
          </a:xfrm>
          <a:prstGeom prst="rect">
            <a:avLst/>
          </a:prstGeom>
        </p:spPr>
      </p:pic>
      <p:sp>
        <p:nvSpPr>
          <p:cNvPr id="4" name="Text 1"/>
          <p:cNvSpPr/>
          <p:nvPr/>
        </p:nvSpPr>
        <p:spPr>
          <a:xfrm>
            <a:off x="640080" y="960120"/>
            <a:ext cx="4572000" cy="2194560"/>
          </a:xfrm>
          <a:prstGeom prst="rect">
            <a:avLst/>
          </a:prstGeom>
          <a:noFill/>
          <a:ln/>
        </p:spPr>
        <p:txBody>
          <a:bodyPr wrap="square" lIns="0" tIns="0" rIns="0" bIns="0" rtlCol="0" anchor="ctr"/>
          <a:lstStyle/>
          <a:p>
            <a:pPr marL="0" indent="0">
              <a:buNone/>
            </a:pPr>
            <a:r>
              <a:rPr lang="en-US" sz="14000" b="1" dirty="0">
                <a:solidFill>
                  <a:srgbClr val="FABA32"/>
                </a:solidFill>
                <a:latin typeface="Cambria" pitchFamily="34" charset="0"/>
                <a:ea typeface="Cambria" pitchFamily="34" charset="-122"/>
                <a:cs typeface="Cambria" pitchFamily="34" charset="-120"/>
              </a:rPr>
              <a:t>05</a:t>
            </a:r>
            <a:endParaRPr lang="en-US" sz="14000" dirty="0"/>
          </a:p>
        </p:txBody>
      </p:sp>
      <p:sp>
        <p:nvSpPr>
          <p:cNvPr id="5" name="Text 2"/>
          <p:cNvSpPr/>
          <p:nvPr/>
        </p:nvSpPr>
        <p:spPr>
          <a:xfrm>
            <a:off x="713232" y="3429000"/>
            <a:ext cx="6400800" cy="457200"/>
          </a:xfrm>
          <a:prstGeom prst="rect">
            <a:avLst/>
          </a:prstGeom>
          <a:noFill/>
          <a:ln/>
        </p:spPr>
        <p:txBody>
          <a:bodyPr wrap="square" lIns="0" tIns="0" rIns="0" bIns="0" rtlCol="0" anchor="ctr"/>
          <a:lstStyle/>
          <a:p>
            <a:pPr marL="0" indent="0">
              <a:buNone/>
            </a:pPr>
            <a:r>
              <a:rPr lang="en-US" sz="1500" b="1" kern="0" spc="300" dirty="0">
                <a:solidFill>
                  <a:srgbClr val="FABA32"/>
                </a:solidFill>
                <a:latin typeface="Calibri" pitchFamily="34" charset="0"/>
                <a:ea typeface="Calibri" pitchFamily="34" charset="-122"/>
                <a:cs typeface="Calibri" pitchFamily="34" charset="-120"/>
              </a:rPr>
              <a:t>PART 5</a:t>
            </a:r>
            <a:endParaRPr lang="en-US" sz="1500" dirty="0"/>
          </a:p>
        </p:txBody>
      </p:sp>
      <p:sp>
        <p:nvSpPr>
          <p:cNvPr id="6" name="Text 3"/>
          <p:cNvSpPr/>
          <p:nvPr/>
        </p:nvSpPr>
        <p:spPr>
          <a:xfrm>
            <a:off x="713232" y="3840480"/>
            <a:ext cx="6309360" cy="1828800"/>
          </a:xfrm>
          <a:prstGeom prst="rect">
            <a:avLst/>
          </a:prstGeom>
          <a:noFill/>
          <a:ln/>
        </p:spPr>
        <p:txBody>
          <a:bodyPr wrap="square" lIns="0" tIns="0" rIns="0" bIns="0" rtlCol="0" anchor="t"/>
          <a:lstStyle/>
          <a:p>
            <a:pPr marL="0" indent="0">
              <a:buNone/>
            </a:pPr>
            <a:r>
              <a:rPr lang="en-US" sz="3200" b="1" dirty="0">
                <a:solidFill>
                  <a:srgbClr val="FFFFFF"/>
                </a:solidFill>
                <a:latin typeface="Cambria" pitchFamily="34" charset="0"/>
                <a:ea typeface="Cambria" pitchFamily="34" charset="-122"/>
                <a:cs typeface="Cambria" pitchFamily="34" charset="-120"/>
              </a:rPr>
              <a:t>Detection, Case Study &amp; Practice</a:t>
            </a:r>
            <a:endParaRPr lang="en-US" sz="3200" dirty="0"/>
          </a:p>
        </p:txBody>
      </p:sp>
      <p:pic>
        <p:nvPicPr>
          <p:cNvPr id="7" name="Image 1" descr="/sessions/inspiring-busy-dijkstra/mnt/outputs/build/assets/logo_white_trim.png"/>
          <p:cNvPicPr>
            <a:picLocks noChangeAspect="1"/>
          </p:cNvPicPr>
          <p:nvPr/>
        </p:nvPicPr>
        <p:blipFill>
          <a:blip r:embed="rId4"/>
          <a:stretch>
            <a:fillRect/>
          </a:stretch>
        </p:blipFill>
        <p:spPr>
          <a:xfrm>
            <a:off x="713232" y="5989320"/>
            <a:ext cx="1417320" cy="643963"/>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marL="0" indent="0">
              <a:buNone/>
            </a:pPr>
            <a:r>
              <a:rPr lang="en-US" sz="1150" b="1" kern="0" spc="200" dirty="0">
                <a:solidFill>
                  <a:srgbClr val="F2931F"/>
                </a:solidFill>
                <a:latin typeface="Calibri" pitchFamily="34" charset="0"/>
                <a:ea typeface="Calibri" pitchFamily="34" charset="-122"/>
                <a:cs typeface="Calibri" pitchFamily="34" charset="-120"/>
              </a:rPr>
              <a:t>WHEN PREVENTION FAILS</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marL="0" indent="0">
              <a:buNone/>
            </a:pPr>
            <a:r>
              <a:rPr lang="en-US" sz="2600" b="1" dirty="0">
                <a:solidFill>
                  <a:srgbClr val="262F65"/>
                </a:solidFill>
                <a:latin typeface="Cambria" pitchFamily="34" charset="0"/>
                <a:ea typeface="Cambria" pitchFamily="34" charset="-122"/>
                <a:cs typeface="Cambria" pitchFamily="34" charset="-120"/>
              </a:rPr>
              <a:t>Firewalls, IDS/IPS &amp; honeypots</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marL="0" indent="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15</a:t>
            </a:r>
            <a:endParaRPr lang="en-US" sz="900" dirty="0"/>
          </a:p>
        </p:txBody>
      </p:sp>
      <p:sp>
        <p:nvSpPr>
          <p:cNvPr id="7" name="Shape 4"/>
          <p:cNvSpPr/>
          <p:nvPr/>
        </p:nvSpPr>
        <p:spPr>
          <a:xfrm>
            <a:off x="640080" y="1783080"/>
            <a:ext cx="2535860" cy="3108960"/>
          </a:xfrm>
          <a:prstGeom prst="roundRect">
            <a:avLst>
              <a:gd name="adj" fmla="val 3245"/>
            </a:avLst>
          </a:prstGeom>
          <a:solidFill>
            <a:srgbClr val="F4F6FB"/>
          </a:solidFill>
          <a:ln/>
          <a:effectLst>
            <a:outerShdw blurRad="88900" dist="38100" dir="5400000" algn="bl" rotWithShape="0">
              <a:srgbClr val="8894AD">
                <a:alpha val="28000"/>
              </a:srgbClr>
            </a:outerShdw>
          </a:effectLst>
        </p:spPr>
        <p:txBody>
          <a:bodyPr/>
          <a:lstStyle/>
          <a:p>
            <a:endParaRPr lang="en-MY"/>
          </a:p>
        </p:txBody>
      </p:sp>
      <p:sp>
        <p:nvSpPr>
          <p:cNvPr id="8" name="Shape 5"/>
          <p:cNvSpPr/>
          <p:nvPr/>
        </p:nvSpPr>
        <p:spPr>
          <a:xfrm>
            <a:off x="1450810" y="2103120"/>
            <a:ext cx="914400" cy="914400"/>
          </a:xfrm>
          <a:prstGeom prst="ellipse">
            <a:avLst/>
          </a:prstGeom>
          <a:solidFill>
            <a:srgbClr val="262F65"/>
          </a:solidFill>
          <a:ln/>
        </p:spPr>
        <p:txBody>
          <a:bodyPr/>
          <a:lstStyle/>
          <a:p>
            <a:endParaRPr lang="en-MY"/>
          </a:p>
        </p:txBody>
      </p:sp>
      <p:pic>
        <p:nvPicPr>
          <p:cNvPr id="9" name="Image 0" descr="preencoded.png"/>
          <p:cNvPicPr>
            <a:picLocks noChangeAspect="1"/>
          </p:cNvPicPr>
          <p:nvPr/>
        </p:nvPicPr>
        <p:blipFill>
          <a:blip r:embed="rId3"/>
          <a:stretch>
            <a:fillRect/>
          </a:stretch>
        </p:blipFill>
        <p:spPr>
          <a:xfrm>
            <a:off x="1670266" y="2322576"/>
            <a:ext cx="475488" cy="475488"/>
          </a:xfrm>
          <a:prstGeom prst="rect">
            <a:avLst/>
          </a:prstGeom>
        </p:spPr>
      </p:pic>
      <p:sp>
        <p:nvSpPr>
          <p:cNvPr id="10" name="Text 6"/>
          <p:cNvSpPr/>
          <p:nvPr/>
        </p:nvSpPr>
        <p:spPr>
          <a:xfrm>
            <a:off x="749808" y="3154680"/>
            <a:ext cx="2316404" cy="640080"/>
          </a:xfrm>
          <a:prstGeom prst="rect">
            <a:avLst/>
          </a:prstGeom>
          <a:noFill/>
          <a:ln/>
        </p:spPr>
        <p:txBody>
          <a:bodyPr wrap="square" lIns="0" tIns="0" rIns="0" bIns="0" rtlCol="0" anchor="t"/>
          <a:lstStyle/>
          <a:p>
            <a:pPr marL="0" indent="0" algn="ctr">
              <a:buNone/>
            </a:pPr>
            <a:r>
              <a:rPr lang="en-US" sz="1700" b="1" dirty="0">
                <a:solidFill>
                  <a:srgbClr val="262F65"/>
                </a:solidFill>
                <a:latin typeface="Cambria" pitchFamily="34" charset="0"/>
                <a:ea typeface="Cambria" pitchFamily="34" charset="-122"/>
                <a:cs typeface="Cambria" pitchFamily="34" charset="-120"/>
              </a:rPr>
              <a:t>Firewalls</a:t>
            </a:r>
            <a:endParaRPr lang="en-US" sz="1700" dirty="0"/>
          </a:p>
        </p:txBody>
      </p:sp>
      <p:sp>
        <p:nvSpPr>
          <p:cNvPr id="11" name="Text 7"/>
          <p:cNvSpPr/>
          <p:nvPr/>
        </p:nvSpPr>
        <p:spPr>
          <a:xfrm>
            <a:off x="804672" y="3794760"/>
            <a:ext cx="2206676" cy="1005840"/>
          </a:xfrm>
          <a:prstGeom prst="rect">
            <a:avLst/>
          </a:prstGeom>
          <a:noFill/>
          <a:ln/>
        </p:spPr>
        <p:txBody>
          <a:bodyPr wrap="square" lIns="0" tIns="0" rIns="0" bIns="0" rtlCol="0" anchor="t"/>
          <a:lstStyle/>
          <a:p>
            <a:pPr marL="0" indent="0" algn="ctr">
              <a:buNone/>
            </a:pPr>
            <a:r>
              <a:rPr lang="en-US" sz="1250" dirty="0">
                <a:solidFill>
                  <a:srgbClr val="23283A"/>
                </a:solidFill>
                <a:latin typeface="Calibri" pitchFamily="34" charset="0"/>
                <a:ea typeface="Calibri" pitchFamily="34" charset="-122"/>
                <a:cs typeface="Calibri" pitchFamily="34" charset="-120"/>
              </a:rPr>
              <a:t>Filter traffic against rules — block unauthorised access.</a:t>
            </a:r>
            <a:endParaRPr lang="en-US" sz="1250" dirty="0"/>
          </a:p>
        </p:txBody>
      </p:sp>
      <p:sp>
        <p:nvSpPr>
          <p:cNvPr id="12" name="Shape 8"/>
          <p:cNvSpPr/>
          <p:nvPr/>
        </p:nvSpPr>
        <p:spPr>
          <a:xfrm>
            <a:off x="3431972" y="1783080"/>
            <a:ext cx="2535860" cy="3108960"/>
          </a:xfrm>
          <a:prstGeom prst="roundRect">
            <a:avLst>
              <a:gd name="adj" fmla="val 3245"/>
            </a:avLst>
          </a:prstGeom>
          <a:solidFill>
            <a:srgbClr val="F4F6FB"/>
          </a:solidFill>
          <a:ln/>
          <a:effectLst>
            <a:outerShdw blurRad="88900" dist="38100" dir="5400000" algn="bl" rotWithShape="0">
              <a:srgbClr val="8894AD">
                <a:alpha val="28000"/>
              </a:srgbClr>
            </a:outerShdw>
          </a:effectLst>
        </p:spPr>
        <p:txBody>
          <a:bodyPr/>
          <a:lstStyle/>
          <a:p>
            <a:endParaRPr lang="en-MY"/>
          </a:p>
        </p:txBody>
      </p:sp>
      <p:sp>
        <p:nvSpPr>
          <p:cNvPr id="13" name="Shape 9"/>
          <p:cNvSpPr/>
          <p:nvPr/>
        </p:nvSpPr>
        <p:spPr>
          <a:xfrm>
            <a:off x="4242702" y="2103120"/>
            <a:ext cx="914400" cy="914400"/>
          </a:xfrm>
          <a:prstGeom prst="ellipse">
            <a:avLst/>
          </a:prstGeom>
          <a:solidFill>
            <a:srgbClr val="F2931F"/>
          </a:solidFill>
          <a:ln/>
        </p:spPr>
        <p:txBody>
          <a:bodyPr/>
          <a:lstStyle/>
          <a:p>
            <a:endParaRPr lang="en-MY"/>
          </a:p>
        </p:txBody>
      </p:sp>
      <p:pic>
        <p:nvPicPr>
          <p:cNvPr id="14" name="Image 1" descr="preencoded.png"/>
          <p:cNvPicPr>
            <a:picLocks noChangeAspect="1"/>
          </p:cNvPicPr>
          <p:nvPr/>
        </p:nvPicPr>
        <p:blipFill>
          <a:blip r:embed="rId4"/>
          <a:stretch>
            <a:fillRect/>
          </a:stretch>
        </p:blipFill>
        <p:spPr>
          <a:xfrm>
            <a:off x="4462158" y="2322576"/>
            <a:ext cx="475488" cy="475488"/>
          </a:xfrm>
          <a:prstGeom prst="rect">
            <a:avLst/>
          </a:prstGeom>
        </p:spPr>
      </p:pic>
      <p:sp>
        <p:nvSpPr>
          <p:cNvPr id="15" name="Text 10"/>
          <p:cNvSpPr/>
          <p:nvPr/>
        </p:nvSpPr>
        <p:spPr>
          <a:xfrm>
            <a:off x="3541700" y="3154680"/>
            <a:ext cx="2316404" cy="640080"/>
          </a:xfrm>
          <a:prstGeom prst="rect">
            <a:avLst/>
          </a:prstGeom>
          <a:noFill/>
          <a:ln/>
        </p:spPr>
        <p:txBody>
          <a:bodyPr wrap="square" lIns="0" tIns="0" rIns="0" bIns="0" rtlCol="0" anchor="t"/>
          <a:lstStyle/>
          <a:p>
            <a:pPr marL="0" indent="0" algn="ctr">
              <a:buNone/>
            </a:pPr>
            <a:r>
              <a:rPr lang="en-US" sz="1700" b="1" dirty="0">
                <a:solidFill>
                  <a:srgbClr val="262F65"/>
                </a:solidFill>
                <a:latin typeface="Cambria" pitchFamily="34" charset="0"/>
                <a:ea typeface="Cambria" pitchFamily="34" charset="-122"/>
                <a:cs typeface="Cambria" pitchFamily="34" charset="-120"/>
              </a:rPr>
              <a:t>IDS</a:t>
            </a:r>
            <a:endParaRPr lang="en-US" sz="1700" dirty="0"/>
          </a:p>
        </p:txBody>
      </p:sp>
      <p:sp>
        <p:nvSpPr>
          <p:cNvPr id="16" name="Text 11"/>
          <p:cNvSpPr/>
          <p:nvPr/>
        </p:nvSpPr>
        <p:spPr>
          <a:xfrm>
            <a:off x="3596564" y="3794760"/>
            <a:ext cx="2206676" cy="1005840"/>
          </a:xfrm>
          <a:prstGeom prst="rect">
            <a:avLst/>
          </a:prstGeom>
          <a:noFill/>
          <a:ln/>
        </p:spPr>
        <p:txBody>
          <a:bodyPr wrap="square" lIns="0" tIns="0" rIns="0" bIns="0" rtlCol="0" anchor="t"/>
          <a:lstStyle/>
          <a:p>
            <a:pPr marL="0" indent="0" algn="ctr">
              <a:buNone/>
            </a:pPr>
            <a:r>
              <a:rPr lang="en-US" sz="1250" dirty="0">
                <a:solidFill>
                  <a:srgbClr val="23283A"/>
                </a:solidFill>
                <a:latin typeface="Calibri" pitchFamily="34" charset="0"/>
                <a:ea typeface="Calibri" pitchFamily="34" charset="-122"/>
                <a:cs typeface="Calibri" pitchFamily="34" charset="-120"/>
              </a:rPr>
              <a:t>Detect suspicious activity and alert admins.</a:t>
            </a:r>
            <a:endParaRPr lang="en-US" sz="1250" dirty="0"/>
          </a:p>
        </p:txBody>
      </p:sp>
      <p:sp>
        <p:nvSpPr>
          <p:cNvPr id="17" name="Shape 12"/>
          <p:cNvSpPr/>
          <p:nvPr/>
        </p:nvSpPr>
        <p:spPr>
          <a:xfrm>
            <a:off x="6223864" y="1783080"/>
            <a:ext cx="2535860" cy="3108960"/>
          </a:xfrm>
          <a:prstGeom prst="roundRect">
            <a:avLst>
              <a:gd name="adj" fmla="val 3245"/>
            </a:avLst>
          </a:prstGeom>
          <a:solidFill>
            <a:srgbClr val="F4F6FB"/>
          </a:solidFill>
          <a:ln/>
          <a:effectLst>
            <a:outerShdw blurRad="88900" dist="38100" dir="5400000" algn="bl" rotWithShape="0">
              <a:srgbClr val="8894AD">
                <a:alpha val="28000"/>
              </a:srgbClr>
            </a:outerShdw>
          </a:effectLst>
        </p:spPr>
        <p:txBody>
          <a:bodyPr/>
          <a:lstStyle/>
          <a:p>
            <a:endParaRPr lang="en-MY"/>
          </a:p>
        </p:txBody>
      </p:sp>
      <p:sp>
        <p:nvSpPr>
          <p:cNvPr id="18" name="Shape 13"/>
          <p:cNvSpPr/>
          <p:nvPr/>
        </p:nvSpPr>
        <p:spPr>
          <a:xfrm>
            <a:off x="7034594" y="2103120"/>
            <a:ext cx="914400" cy="914400"/>
          </a:xfrm>
          <a:prstGeom prst="ellipse">
            <a:avLst/>
          </a:prstGeom>
          <a:solidFill>
            <a:srgbClr val="293E7B"/>
          </a:solidFill>
          <a:ln/>
        </p:spPr>
        <p:txBody>
          <a:bodyPr/>
          <a:lstStyle/>
          <a:p>
            <a:endParaRPr lang="en-MY"/>
          </a:p>
        </p:txBody>
      </p:sp>
      <p:pic>
        <p:nvPicPr>
          <p:cNvPr id="19" name="Image 2" descr="preencoded.png"/>
          <p:cNvPicPr>
            <a:picLocks noChangeAspect="1"/>
          </p:cNvPicPr>
          <p:nvPr/>
        </p:nvPicPr>
        <p:blipFill>
          <a:blip r:embed="rId5"/>
          <a:stretch>
            <a:fillRect/>
          </a:stretch>
        </p:blipFill>
        <p:spPr>
          <a:xfrm>
            <a:off x="7254050" y="2322576"/>
            <a:ext cx="475488" cy="475488"/>
          </a:xfrm>
          <a:prstGeom prst="rect">
            <a:avLst/>
          </a:prstGeom>
        </p:spPr>
      </p:pic>
      <p:sp>
        <p:nvSpPr>
          <p:cNvPr id="20" name="Text 14"/>
          <p:cNvSpPr/>
          <p:nvPr/>
        </p:nvSpPr>
        <p:spPr>
          <a:xfrm>
            <a:off x="6333592" y="3154680"/>
            <a:ext cx="2316404" cy="640080"/>
          </a:xfrm>
          <a:prstGeom prst="rect">
            <a:avLst/>
          </a:prstGeom>
          <a:noFill/>
          <a:ln/>
        </p:spPr>
        <p:txBody>
          <a:bodyPr wrap="square" lIns="0" tIns="0" rIns="0" bIns="0" rtlCol="0" anchor="t"/>
          <a:lstStyle/>
          <a:p>
            <a:pPr marL="0" indent="0" algn="ctr">
              <a:buNone/>
            </a:pPr>
            <a:r>
              <a:rPr lang="en-US" sz="1700" b="1" dirty="0">
                <a:solidFill>
                  <a:srgbClr val="262F65"/>
                </a:solidFill>
                <a:latin typeface="Cambria" pitchFamily="34" charset="0"/>
                <a:ea typeface="Cambria" pitchFamily="34" charset="-122"/>
                <a:cs typeface="Cambria" pitchFamily="34" charset="-120"/>
              </a:rPr>
              <a:t>IPS</a:t>
            </a:r>
            <a:endParaRPr lang="en-US" sz="1700" dirty="0"/>
          </a:p>
        </p:txBody>
      </p:sp>
      <p:sp>
        <p:nvSpPr>
          <p:cNvPr id="21" name="Text 15"/>
          <p:cNvSpPr/>
          <p:nvPr/>
        </p:nvSpPr>
        <p:spPr>
          <a:xfrm>
            <a:off x="6388456" y="3794760"/>
            <a:ext cx="2206676" cy="1005840"/>
          </a:xfrm>
          <a:prstGeom prst="rect">
            <a:avLst/>
          </a:prstGeom>
          <a:noFill/>
          <a:ln/>
        </p:spPr>
        <p:txBody>
          <a:bodyPr wrap="square" lIns="0" tIns="0" rIns="0" bIns="0" rtlCol="0" anchor="t"/>
          <a:lstStyle/>
          <a:p>
            <a:pPr marL="0" indent="0" algn="ctr">
              <a:buNone/>
            </a:pPr>
            <a:r>
              <a:rPr lang="en-US" sz="1250" dirty="0">
                <a:solidFill>
                  <a:srgbClr val="23283A"/>
                </a:solidFill>
                <a:latin typeface="Calibri" pitchFamily="34" charset="0"/>
                <a:ea typeface="Calibri" pitchFamily="34" charset="-122"/>
                <a:cs typeface="Calibri" pitchFamily="34" charset="-120"/>
              </a:rPr>
              <a:t>Detect AND automatically block threats in real time.</a:t>
            </a:r>
            <a:endParaRPr lang="en-US" sz="1250" dirty="0"/>
          </a:p>
        </p:txBody>
      </p:sp>
      <p:sp>
        <p:nvSpPr>
          <p:cNvPr id="22" name="Shape 16"/>
          <p:cNvSpPr/>
          <p:nvPr/>
        </p:nvSpPr>
        <p:spPr>
          <a:xfrm>
            <a:off x="9015755" y="1783080"/>
            <a:ext cx="2535860" cy="3108960"/>
          </a:xfrm>
          <a:prstGeom prst="roundRect">
            <a:avLst>
              <a:gd name="adj" fmla="val 3245"/>
            </a:avLst>
          </a:prstGeom>
          <a:solidFill>
            <a:srgbClr val="F4F6FB"/>
          </a:solidFill>
          <a:ln/>
          <a:effectLst>
            <a:outerShdw blurRad="88900" dist="38100" dir="5400000" algn="bl" rotWithShape="0">
              <a:srgbClr val="8894AD">
                <a:alpha val="28000"/>
              </a:srgbClr>
            </a:outerShdw>
          </a:effectLst>
        </p:spPr>
        <p:txBody>
          <a:bodyPr/>
          <a:lstStyle/>
          <a:p>
            <a:endParaRPr lang="en-MY"/>
          </a:p>
        </p:txBody>
      </p:sp>
      <p:sp>
        <p:nvSpPr>
          <p:cNvPr id="23" name="Shape 17"/>
          <p:cNvSpPr/>
          <p:nvPr/>
        </p:nvSpPr>
        <p:spPr>
          <a:xfrm>
            <a:off x="9826485" y="2103120"/>
            <a:ext cx="914400" cy="914400"/>
          </a:xfrm>
          <a:prstGeom prst="ellipse">
            <a:avLst/>
          </a:prstGeom>
          <a:solidFill>
            <a:srgbClr val="262F65"/>
          </a:solidFill>
          <a:ln/>
        </p:spPr>
        <p:txBody>
          <a:bodyPr/>
          <a:lstStyle/>
          <a:p>
            <a:endParaRPr lang="en-MY"/>
          </a:p>
        </p:txBody>
      </p:sp>
      <p:pic>
        <p:nvPicPr>
          <p:cNvPr id="24" name="Image 3" descr="preencoded.png"/>
          <p:cNvPicPr>
            <a:picLocks noChangeAspect="1"/>
          </p:cNvPicPr>
          <p:nvPr/>
        </p:nvPicPr>
        <p:blipFill>
          <a:blip r:embed="rId6"/>
          <a:stretch>
            <a:fillRect/>
          </a:stretch>
        </p:blipFill>
        <p:spPr>
          <a:xfrm>
            <a:off x="10045941" y="2322576"/>
            <a:ext cx="475488" cy="475488"/>
          </a:xfrm>
          <a:prstGeom prst="rect">
            <a:avLst/>
          </a:prstGeom>
        </p:spPr>
      </p:pic>
      <p:sp>
        <p:nvSpPr>
          <p:cNvPr id="25" name="Text 18"/>
          <p:cNvSpPr/>
          <p:nvPr/>
        </p:nvSpPr>
        <p:spPr>
          <a:xfrm>
            <a:off x="9125483" y="3154680"/>
            <a:ext cx="2316404" cy="640080"/>
          </a:xfrm>
          <a:prstGeom prst="rect">
            <a:avLst/>
          </a:prstGeom>
          <a:noFill/>
          <a:ln/>
        </p:spPr>
        <p:txBody>
          <a:bodyPr wrap="square" lIns="0" tIns="0" rIns="0" bIns="0" rtlCol="0" anchor="t"/>
          <a:lstStyle/>
          <a:p>
            <a:pPr marL="0" indent="0" algn="ctr">
              <a:buNone/>
            </a:pPr>
            <a:r>
              <a:rPr lang="en-US" sz="1700" b="1" dirty="0">
                <a:solidFill>
                  <a:srgbClr val="262F65"/>
                </a:solidFill>
                <a:latin typeface="Cambria" pitchFamily="34" charset="0"/>
                <a:ea typeface="Cambria" pitchFamily="34" charset="-122"/>
                <a:cs typeface="Cambria" pitchFamily="34" charset="-120"/>
              </a:rPr>
              <a:t>Honeypots</a:t>
            </a:r>
            <a:endParaRPr lang="en-US" sz="1700" dirty="0"/>
          </a:p>
        </p:txBody>
      </p:sp>
      <p:sp>
        <p:nvSpPr>
          <p:cNvPr id="26" name="Text 19"/>
          <p:cNvSpPr/>
          <p:nvPr/>
        </p:nvSpPr>
        <p:spPr>
          <a:xfrm>
            <a:off x="9180347" y="3794760"/>
            <a:ext cx="2206676" cy="1005840"/>
          </a:xfrm>
          <a:prstGeom prst="rect">
            <a:avLst/>
          </a:prstGeom>
          <a:noFill/>
          <a:ln/>
        </p:spPr>
        <p:txBody>
          <a:bodyPr wrap="square" lIns="0" tIns="0" rIns="0" bIns="0" rtlCol="0" anchor="t"/>
          <a:lstStyle/>
          <a:p>
            <a:pPr marL="0" indent="0" algn="ctr">
              <a:buNone/>
            </a:pPr>
            <a:r>
              <a:rPr lang="en-US" sz="1250" dirty="0">
                <a:solidFill>
                  <a:srgbClr val="23283A"/>
                </a:solidFill>
                <a:latin typeface="Calibri" pitchFamily="34" charset="0"/>
                <a:ea typeface="Calibri" pitchFamily="34" charset="-122"/>
                <a:cs typeface="Calibri" pitchFamily="34" charset="-120"/>
              </a:rPr>
              <a:t>Decoys that attract attackers — detect early, study behaviour.</a:t>
            </a:r>
            <a:endParaRPr lang="en-US" sz="1250" dirty="0"/>
          </a:p>
        </p:txBody>
      </p:sp>
      <p:sp>
        <p:nvSpPr>
          <p:cNvPr id="27" name="Text 20"/>
          <p:cNvSpPr/>
          <p:nvPr/>
        </p:nvSpPr>
        <p:spPr>
          <a:xfrm>
            <a:off x="640080" y="5074920"/>
            <a:ext cx="10881360" cy="457200"/>
          </a:xfrm>
          <a:prstGeom prst="rect">
            <a:avLst/>
          </a:prstGeom>
          <a:noFill/>
          <a:ln/>
        </p:spPr>
        <p:txBody>
          <a:bodyPr wrap="square" lIns="0" tIns="0" rIns="0" bIns="0" rtlCol="0" anchor="ctr"/>
          <a:lstStyle/>
          <a:p>
            <a:pPr marL="0" indent="0" algn="ctr">
              <a:buNone/>
            </a:pPr>
            <a:r>
              <a:rPr lang="en-US" sz="1400" i="1" dirty="0">
                <a:solidFill>
                  <a:srgbClr val="262F65"/>
                </a:solidFill>
                <a:latin typeface="Calibri" pitchFamily="34" charset="0"/>
                <a:ea typeface="Calibri" pitchFamily="34" charset="-122"/>
                <a:cs typeface="Calibri" pitchFamily="34" charset="-120"/>
              </a:rPr>
              <a:t>Prevention plus detection — defense in depth for access; all feed the SIEM (Lesson 6).</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marL="0" indent="0">
              <a:buNone/>
            </a:pPr>
            <a:r>
              <a:rPr lang="en-US" sz="1150" b="1" kern="0" spc="200" dirty="0">
                <a:solidFill>
                  <a:srgbClr val="F2931F"/>
                </a:solidFill>
                <a:latin typeface="Calibri" pitchFamily="34" charset="0"/>
                <a:ea typeface="Calibri" pitchFamily="34" charset="-122"/>
                <a:cs typeface="Calibri" pitchFamily="34" charset="-120"/>
              </a:rPr>
              <a:t>APPLY IT</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marL="0" indent="0">
              <a:buNone/>
            </a:pPr>
            <a:r>
              <a:rPr lang="en-US" sz="2600" b="1" dirty="0">
                <a:solidFill>
                  <a:srgbClr val="262F65"/>
                </a:solidFill>
                <a:latin typeface="Cambria" pitchFamily="34" charset="0"/>
                <a:ea typeface="Cambria" pitchFamily="34" charset="-122"/>
                <a:cs typeface="Cambria" pitchFamily="34" charset="-120"/>
              </a:rPr>
              <a:t>Case study — the weak-password breach</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marL="0" indent="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16</a:t>
            </a:r>
            <a:endParaRPr lang="en-US" sz="900" dirty="0"/>
          </a:p>
        </p:txBody>
      </p:sp>
      <p:sp>
        <p:nvSpPr>
          <p:cNvPr id="7" name="Shape 4"/>
          <p:cNvSpPr/>
          <p:nvPr/>
        </p:nvSpPr>
        <p:spPr>
          <a:xfrm>
            <a:off x="640080" y="1691640"/>
            <a:ext cx="10881360" cy="1600200"/>
          </a:xfrm>
          <a:prstGeom prst="roundRect">
            <a:avLst>
              <a:gd name="adj" fmla="val 5143"/>
            </a:avLst>
          </a:prstGeom>
          <a:solidFill>
            <a:srgbClr val="262F65"/>
          </a:solidFill>
          <a:ln/>
          <a:effectLst>
            <a:outerShdw blurRad="88900" dist="38100" dir="5400000" algn="bl" rotWithShape="0">
              <a:srgbClr val="8894AD">
                <a:alpha val="28000"/>
              </a:srgbClr>
            </a:outerShdw>
          </a:effectLst>
        </p:spPr>
        <p:txBody>
          <a:bodyPr/>
          <a:lstStyle/>
          <a:p>
            <a:endParaRPr lang="en-MY"/>
          </a:p>
        </p:txBody>
      </p:sp>
      <p:sp>
        <p:nvSpPr>
          <p:cNvPr id="8" name="Shape 5"/>
          <p:cNvSpPr/>
          <p:nvPr/>
        </p:nvSpPr>
        <p:spPr>
          <a:xfrm>
            <a:off x="960120" y="2011680"/>
            <a:ext cx="960120" cy="960120"/>
          </a:xfrm>
          <a:prstGeom prst="ellipse">
            <a:avLst/>
          </a:prstGeom>
          <a:solidFill>
            <a:srgbClr val="E8403A"/>
          </a:solidFill>
          <a:ln/>
        </p:spPr>
        <p:txBody>
          <a:bodyPr/>
          <a:lstStyle/>
          <a:p>
            <a:endParaRPr lang="en-MY"/>
          </a:p>
        </p:txBody>
      </p:sp>
      <p:pic>
        <p:nvPicPr>
          <p:cNvPr id="9" name="Image 0" descr="preencoded.png"/>
          <p:cNvPicPr>
            <a:picLocks noChangeAspect="1"/>
          </p:cNvPicPr>
          <p:nvPr/>
        </p:nvPicPr>
        <p:blipFill>
          <a:blip r:embed="rId3"/>
          <a:stretch>
            <a:fillRect/>
          </a:stretch>
        </p:blipFill>
        <p:spPr>
          <a:xfrm>
            <a:off x="1190549" y="2242109"/>
            <a:ext cx="499262" cy="499262"/>
          </a:xfrm>
          <a:prstGeom prst="rect">
            <a:avLst/>
          </a:prstGeom>
        </p:spPr>
      </p:pic>
      <p:sp>
        <p:nvSpPr>
          <p:cNvPr id="10" name="Text 6"/>
          <p:cNvSpPr/>
          <p:nvPr/>
        </p:nvSpPr>
        <p:spPr>
          <a:xfrm>
            <a:off x="2194560" y="1874520"/>
            <a:ext cx="9052560" cy="128016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A weak password policy let an attacker guess an account's credentials. From that one account they reached sensitive systems — a breach that began with a single weak password.</a:t>
            </a:r>
            <a:endParaRPr lang="en-US" sz="1500" dirty="0"/>
          </a:p>
        </p:txBody>
      </p:sp>
      <p:sp>
        <p:nvSpPr>
          <p:cNvPr id="11" name="Shape 7"/>
          <p:cNvSpPr/>
          <p:nvPr/>
        </p:nvSpPr>
        <p:spPr>
          <a:xfrm>
            <a:off x="640080" y="3566160"/>
            <a:ext cx="5349240" cy="1737360"/>
          </a:xfrm>
          <a:prstGeom prst="roundRect">
            <a:avLst>
              <a:gd name="adj" fmla="val 4737"/>
            </a:avLst>
          </a:prstGeom>
          <a:solidFill>
            <a:srgbClr val="F4F6FB"/>
          </a:solidFill>
          <a:ln/>
          <a:effectLst>
            <a:outerShdw blurRad="88900" dist="38100" dir="5400000" algn="bl" rotWithShape="0">
              <a:srgbClr val="8894AD">
                <a:alpha val="28000"/>
              </a:srgbClr>
            </a:outerShdw>
          </a:effectLst>
        </p:spPr>
        <p:txBody>
          <a:bodyPr/>
          <a:lstStyle/>
          <a:p>
            <a:endParaRPr lang="en-MY"/>
          </a:p>
        </p:txBody>
      </p:sp>
      <p:sp>
        <p:nvSpPr>
          <p:cNvPr id="12" name="Text 8"/>
          <p:cNvSpPr/>
          <p:nvPr/>
        </p:nvSpPr>
        <p:spPr>
          <a:xfrm>
            <a:off x="914400" y="3749040"/>
            <a:ext cx="4800600" cy="457200"/>
          </a:xfrm>
          <a:prstGeom prst="rect">
            <a:avLst/>
          </a:prstGeom>
          <a:noFill/>
          <a:ln/>
        </p:spPr>
        <p:txBody>
          <a:bodyPr wrap="square" lIns="0" tIns="0" rIns="0" bIns="0" rtlCol="0" anchor="t"/>
          <a:lstStyle/>
          <a:p>
            <a:pPr marL="0" indent="0">
              <a:buNone/>
            </a:pPr>
            <a:r>
              <a:rPr lang="en-US" sz="1600" b="1" dirty="0">
                <a:solidFill>
                  <a:srgbClr val="F2931F"/>
                </a:solidFill>
                <a:latin typeface="Calibri" pitchFamily="34" charset="0"/>
                <a:ea typeface="Calibri" pitchFamily="34" charset="-122"/>
                <a:cs typeface="Calibri" pitchFamily="34" charset="-120"/>
              </a:rPr>
              <a:t>What failed?</a:t>
            </a:r>
            <a:endParaRPr lang="en-US" sz="1600" dirty="0"/>
          </a:p>
        </p:txBody>
      </p:sp>
      <p:sp>
        <p:nvSpPr>
          <p:cNvPr id="13" name="Text 9"/>
          <p:cNvSpPr/>
          <p:nvPr/>
        </p:nvSpPr>
        <p:spPr>
          <a:xfrm>
            <a:off x="914400" y="4206240"/>
            <a:ext cx="4800600" cy="1051560"/>
          </a:xfrm>
          <a:prstGeom prst="rect">
            <a:avLst/>
          </a:prstGeom>
          <a:noFill/>
          <a:ln/>
        </p:spPr>
        <p:txBody>
          <a:bodyPr wrap="square" lIns="0" tIns="0" rIns="0" bIns="0" rtlCol="0" anchor="t"/>
          <a:lstStyle/>
          <a:p>
            <a:pPr marL="0" indent="0">
              <a:buNone/>
            </a:pPr>
            <a:r>
              <a:rPr lang="en-US" sz="1300" dirty="0">
                <a:solidFill>
                  <a:srgbClr val="23283A"/>
                </a:solidFill>
                <a:latin typeface="Calibri" pitchFamily="34" charset="0"/>
                <a:ea typeface="Calibri" pitchFamily="34" charset="-122"/>
                <a:cs typeface="Calibri" pitchFamily="34" charset="-120"/>
              </a:rPr>
              <a:t>Weak authentication · no MFA · over-broad permissions on the account.</a:t>
            </a:r>
            <a:endParaRPr lang="en-US" sz="1300" dirty="0"/>
          </a:p>
        </p:txBody>
      </p:sp>
      <p:sp>
        <p:nvSpPr>
          <p:cNvPr id="14" name="Shape 10"/>
          <p:cNvSpPr/>
          <p:nvPr/>
        </p:nvSpPr>
        <p:spPr>
          <a:xfrm>
            <a:off x="6355080" y="3566160"/>
            <a:ext cx="5349240" cy="1737360"/>
          </a:xfrm>
          <a:prstGeom prst="roundRect">
            <a:avLst>
              <a:gd name="adj" fmla="val 4737"/>
            </a:avLst>
          </a:prstGeom>
          <a:solidFill>
            <a:srgbClr val="F4F6FB"/>
          </a:solidFill>
          <a:ln/>
          <a:effectLst>
            <a:outerShdw blurRad="88900" dist="38100" dir="5400000" algn="bl" rotWithShape="0">
              <a:srgbClr val="8894AD">
                <a:alpha val="28000"/>
              </a:srgbClr>
            </a:outerShdw>
          </a:effectLst>
        </p:spPr>
        <p:txBody>
          <a:bodyPr/>
          <a:lstStyle/>
          <a:p>
            <a:endParaRPr lang="en-MY"/>
          </a:p>
        </p:txBody>
      </p:sp>
      <p:sp>
        <p:nvSpPr>
          <p:cNvPr id="15" name="Text 11"/>
          <p:cNvSpPr/>
          <p:nvPr/>
        </p:nvSpPr>
        <p:spPr>
          <a:xfrm>
            <a:off x="6629400" y="3749040"/>
            <a:ext cx="4800600" cy="457200"/>
          </a:xfrm>
          <a:prstGeom prst="rect">
            <a:avLst/>
          </a:prstGeom>
          <a:noFill/>
          <a:ln/>
        </p:spPr>
        <p:txBody>
          <a:bodyPr wrap="square" lIns="0" tIns="0" rIns="0" bIns="0" rtlCol="0" anchor="t"/>
          <a:lstStyle/>
          <a:p>
            <a:pPr marL="0" indent="0">
              <a:buNone/>
            </a:pPr>
            <a:r>
              <a:rPr lang="en-US" sz="1600" b="1" dirty="0">
                <a:solidFill>
                  <a:srgbClr val="F2931F"/>
                </a:solidFill>
                <a:latin typeface="Calibri" pitchFamily="34" charset="0"/>
                <a:ea typeface="Calibri" pitchFamily="34" charset="-122"/>
                <a:cs typeface="Calibri" pitchFamily="34" charset="-120"/>
              </a:rPr>
              <a:t>How to improve?</a:t>
            </a:r>
            <a:endParaRPr lang="en-US" sz="1600" dirty="0"/>
          </a:p>
        </p:txBody>
      </p:sp>
      <p:sp>
        <p:nvSpPr>
          <p:cNvPr id="16" name="Text 12"/>
          <p:cNvSpPr/>
          <p:nvPr/>
        </p:nvSpPr>
        <p:spPr>
          <a:xfrm>
            <a:off x="6629400" y="4206240"/>
            <a:ext cx="4800600" cy="1051560"/>
          </a:xfrm>
          <a:prstGeom prst="rect">
            <a:avLst/>
          </a:prstGeom>
          <a:noFill/>
          <a:ln/>
        </p:spPr>
        <p:txBody>
          <a:bodyPr wrap="square" lIns="0" tIns="0" rIns="0" bIns="0" rtlCol="0" anchor="t"/>
          <a:lstStyle/>
          <a:p>
            <a:pPr marL="0" indent="0">
              <a:buNone/>
            </a:pPr>
            <a:r>
              <a:rPr lang="en-US" sz="1300" dirty="0">
                <a:solidFill>
                  <a:srgbClr val="23283A"/>
                </a:solidFill>
                <a:latin typeface="Calibri" pitchFamily="34" charset="0"/>
                <a:ea typeface="Calibri" pitchFamily="34" charset="-122"/>
                <a:cs typeface="Calibri" pitchFamily="34" charset="-120"/>
              </a:rPr>
              <a:t>Enforce MFA &amp; strong passwords · least privilege · monitor &amp; lock on brute force · review access.</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marL="0" indent="0">
              <a:buNone/>
            </a:pPr>
            <a:r>
              <a:rPr lang="en-US" sz="1150" b="1" kern="0" spc="200" dirty="0">
                <a:solidFill>
                  <a:srgbClr val="F2931F"/>
                </a:solidFill>
                <a:latin typeface="Calibri" pitchFamily="34" charset="0"/>
                <a:ea typeface="Calibri" pitchFamily="34" charset="-122"/>
                <a:cs typeface="Calibri" pitchFamily="34" charset="-120"/>
              </a:rPr>
              <a:t>BASELINE</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marL="0" indent="0">
              <a:buNone/>
            </a:pPr>
            <a:r>
              <a:rPr lang="en-US" sz="2600" b="1" dirty="0">
                <a:solidFill>
                  <a:srgbClr val="262F65"/>
                </a:solidFill>
                <a:latin typeface="Cambria" pitchFamily="34" charset="0"/>
                <a:ea typeface="Cambria" pitchFamily="34" charset="-122"/>
                <a:cs typeface="Cambria" pitchFamily="34" charset="-120"/>
              </a:rPr>
              <a:t>Best practices — enforcing access control</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marL="0" indent="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17</a:t>
            </a:r>
            <a:endParaRPr lang="en-US" sz="900" dirty="0"/>
          </a:p>
        </p:txBody>
      </p:sp>
      <p:sp>
        <p:nvSpPr>
          <p:cNvPr id="7" name="Shape 4"/>
          <p:cNvSpPr/>
          <p:nvPr/>
        </p:nvSpPr>
        <p:spPr>
          <a:xfrm>
            <a:off x="640080" y="1737360"/>
            <a:ext cx="5257800" cy="1234440"/>
          </a:xfrm>
          <a:prstGeom prst="roundRect">
            <a:avLst>
              <a:gd name="adj" fmla="val 6667"/>
            </a:avLst>
          </a:prstGeom>
          <a:solidFill>
            <a:srgbClr val="F4F6FB"/>
          </a:solidFill>
          <a:ln/>
          <a:effectLst>
            <a:outerShdw blurRad="88900" dist="38100" dir="5400000" algn="bl" rotWithShape="0">
              <a:srgbClr val="8894AD">
                <a:alpha val="28000"/>
              </a:srgbClr>
            </a:outerShdw>
          </a:effectLst>
        </p:spPr>
        <p:txBody>
          <a:bodyPr/>
          <a:lstStyle/>
          <a:p>
            <a:endParaRPr lang="en-MY"/>
          </a:p>
        </p:txBody>
      </p:sp>
      <p:sp>
        <p:nvSpPr>
          <p:cNvPr id="8" name="Shape 5"/>
          <p:cNvSpPr/>
          <p:nvPr/>
        </p:nvSpPr>
        <p:spPr>
          <a:xfrm>
            <a:off x="896112" y="2011680"/>
            <a:ext cx="685800" cy="685800"/>
          </a:xfrm>
          <a:prstGeom prst="ellipse">
            <a:avLst/>
          </a:prstGeom>
          <a:solidFill>
            <a:srgbClr val="262F65"/>
          </a:solidFill>
          <a:ln/>
        </p:spPr>
        <p:txBody>
          <a:bodyPr/>
          <a:lstStyle/>
          <a:p>
            <a:endParaRPr lang="en-MY"/>
          </a:p>
        </p:txBody>
      </p:sp>
      <p:pic>
        <p:nvPicPr>
          <p:cNvPr id="9" name="Image 0" descr="preencoded.png"/>
          <p:cNvPicPr>
            <a:picLocks noChangeAspect="1"/>
          </p:cNvPicPr>
          <p:nvPr/>
        </p:nvPicPr>
        <p:blipFill>
          <a:blip r:embed="rId3"/>
          <a:stretch>
            <a:fillRect/>
          </a:stretch>
        </p:blipFill>
        <p:spPr>
          <a:xfrm>
            <a:off x="1060704" y="2176272"/>
            <a:ext cx="356616" cy="356616"/>
          </a:xfrm>
          <a:prstGeom prst="rect">
            <a:avLst/>
          </a:prstGeom>
        </p:spPr>
      </p:pic>
      <p:sp>
        <p:nvSpPr>
          <p:cNvPr id="10" name="Text 6"/>
          <p:cNvSpPr/>
          <p:nvPr/>
        </p:nvSpPr>
        <p:spPr>
          <a:xfrm>
            <a:off x="1783080" y="1938528"/>
            <a:ext cx="3886200" cy="411480"/>
          </a:xfrm>
          <a:prstGeom prst="rect">
            <a:avLst/>
          </a:prstGeom>
          <a:noFill/>
          <a:ln/>
        </p:spPr>
        <p:txBody>
          <a:bodyPr wrap="square" lIns="0" tIns="0" rIns="0" bIns="0" rtlCol="0" anchor="t"/>
          <a:lstStyle/>
          <a:p>
            <a:pPr marL="0" indent="0">
              <a:buNone/>
            </a:pPr>
            <a:r>
              <a:rPr lang="en-US" sz="1450" b="1" dirty="0">
                <a:solidFill>
                  <a:srgbClr val="262F65"/>
                </a:solidFill>
                <a:latin typeface="Calibri" pitchFamily="34" charset="0"/>
                <a:ea typeface="Calibri" pitchFamily="34" charset="-122"/>
                <a:cs typeface="Calibri" pitchFamily="34" charset="-120"/>
              </a:rPr>
              <a:t>Enforce least privilege</a:t>
            </a:r>
            <a:endParaRPr lang="en-US" sz="1450" dirty="0"/>
          </a:p>
        </p:txBody>
      </p:sp>
      <p:sp>
        <p:nvSpPr>
          <p:cNvPr id="11" name="Text 7"/>
          <p:cNvSpPr/>
          <p:nvPr/>
        </p:nvSpPr>
        <p:spPr>
          <a:xfrm>
            <a:off x="1783080" y="2359152"/>
            <a:ext cx="3886200" cy="502920"/>
          </a:xfrm>
          <a:prstGeom prst="rect">
            <a:avLst/>
          </a:prstGeom>
          <a:noFill/>
          <a:ln/>
        </p:spPr>
        <p:txBody>
          <a:bodyPr wrap="square" lIns="0" tIns="0" rIns="0" bIns="0" rtlCol="0" anchor="t"/>
          <a:lstStyle/>
          <a:p>
            <a:pPr marL="0" indent="0">
              <a:buNone/>
            </a:pPr>
            <a:r>
              <a:rPr lang="en-US" sz="1200" dirty="0">
                <a:solidFill>
                  <a:srgbClr val="5B6472"/>
                </a:solidFill>
                <a:latin typeface="Calibri" pitchFamily="34" charset="0"/>
                <a:ea typeface="Calibri" pitchFamily="34" charset="-122"/>
                <a:cs typeface="Calibri" pitchFamily="34" charset="-120"/>
              </a:rPr>
              <a:t>People and machine identities.</a:t>
            </a:r>
            <a:endParaRPr lang="en-US" sz="1200" dirty="0"/>
          </a:p>
        </p:txBody>
      </p:sp>
      <p:sp>
        <p:nvSpPr>
          <p:cNvPr id="12" name="Shape 8"/>
          <p:cNvSpPr/>
          <p:nvPr/>
        </p:nvSpPr>
        <p:spPr>
          <a:xfrm>
            <a:off x="6217920" y="1737360"/>
            <a:ext cx="5257800" cy="1234440"/>
          </a:xfrm>
          <a:prstGeom prst="roundRect">
            <a:avLst>
              <a:gd name="adj" fmla="val 6667"/>
            </a:avLst>
          </a:prstGeom>
          <a:solidFill>
            <a:srgbClr val="F4F6FB"/>
          </a:solidFill>
          <a:ln/>
          <a:effectLst>
            <a:outerShdw blurRad="88900" dist="38100" dir="5400000" algn="bl" rotWithShape="0">
              <a:srgbClr val="8894AD">
                <a:alpha val="28000"/>
              </a:srgbClr>
            </a:outerShdw>
          </a:effectLst>
        </p:spPr>
        <p:txBody>
          <a:bodyPr/>
          <a:lstStyle/>
          <a:p>
            <a:endParaRPr lang="en-MY"/>
          </a:p>
        </p:txBody>
      </p:sp>
      <p:sp>
        <p:nvSpPr>
          <p:cNvPr id="13" name="Shape 9"/>
          <p:cNvSpPr/>
          <p:nvPr/>
        </p:nvSpPr>
        <p:spPr>
          <a:xfrm>
            <a:off x="6473952" y="2011680"/>
            <a:ext cx="685800" cy="685800"/>
          </a:xfrm>
          <a:prstGeom prst="ellipse">
            <a:avLst/>
          </a:prstGeom>
          <a:solidFill>
            <a:srgbClr val="F2931F"/>
          </a:solidFill>
          <a:ln/>
        </p:spPr>
        <p:txBody>
          <a:bodyPr/>
          <a:lstStyle/>
          <a:p>
            <a:endParaRPr lang="en-MY"/>
          </a:p>
        </p:txBody>
      </p:sp>
      <p:pic>
        <p:nvPicPr>
          <p:cNvPr id="14" name="Image 1" descr="preencoded.png"/>
          <p:cNvPicPr>
            <a:picLocks noChangeAspect="1"/>
          </p:cNvPicPr>
          <p:nvPr/>
        </p:nvPicPr>
        <p:blipFill>
          <a:blip r:embed="rId4"/>
          <a:stretch>
            <a:fillRect/>
          </a:stretch>
        </p:blipFill>
        <p:spPr>
          <a:xfrm>
            <a:off x="6638544" y="2176272"/>
            <a:ext cx="356616" cy="356616"/>
          </a:xfrm>
          <a:prstGeom prst="rect">
            <a:avLst/>
          </a:prstGeom>
        </p:spPr>
      </p:pic>
      <p:sp>
        <p:nvSpPr>
          <p:cNvPr id="15" name="Text 10"/>
          <p:cNvSpPr/>
          <p:nvPr/>
        </p:nvSpPr>
        <p:spPr>
          <a:xfrm>
            <a:off x="7360920" y="1938528"/>
            <a:ext cx="3886200" cy="411480"/>
          </a:xfrm>
          <a:prstGeom prst="rect">
            <a:avLst/>
          </a:prstGeom>
          <a:noFill/>
          <a:ln/>
        </p:spPr>
        <p:txBody>
          <a:bodyPr wrap="square" lIns="0" tIns="0" rIns="0" bIns="0" rtlCol="0" anchor="t"/>
          <a:lstStyle/>
          <a:p>
            <a:pPr marL="0" indent="0">
              <a:buNone/>
            </a:pPr>
            <a:r>
              <a:rPr lang="en-US" sz="1450" b="1" dirty="0">
                <a:solidFill>
                  <a:srgbClr val="262F65"/>
                </a:solidFill>
                <a:latin typeface="Calibri" pitchFamily="34" charset="0"/>
                <a:ea typeface="Calibri" pitchFamily="34" charset="-122"/>
                <a:cs typeface="Calibri" pitchFamily="34" charset="-120"/>
              </a:rPr>
              <a:t>Use MFA as baseline</a:t>
            </a:r>
            <a:endParaRPr lang="en-US" sz="1450" dirty="0"/>
          </a:p>
        </p:txBody>
      </p:sp>
      <p:sp>
        <p:nvSpPr>
          <p:cNvPr id="16" name="Text 11"/>
          <p:cNvSpPr/>
          <p:nvPr/>
        </p:nvSpPr>
        <p:spPr>
          <a:xfrm>
            <a:off x="7360920" y="2359152"/>
            <a:ext cx="3886200" cy="502920"/>
          </a:xfrm>
          <a:prstGeom prst="rect">
            <a:avLst/>
          </a:prstGeom>
          <a:noFill/>
          <a:ln/>
        </p:spPr>
        <p:txBody>
          <a:bodyPr wrap="square" lIns="0" tIns="0" rIns="0" bIns="0" rtlCol="0" anchor="t"/>
          <a:lstStyle/>
          <a:p>
            <a:pPr marL="0" indent="0">
              <a:buNone/>
            </a:pPr>
            <a:r>
              <a:rPr lang="en-US" sz="1200" dirty="0">
                <a:solidFill>
                  <a:srgbClr val="5B6472"/>
                </a:solidFill>
                <a:latin typeface="Calibri" pitchFamily="34" charset="0"/>
                <a:ea typeface="Calibri" pitchFamily="34" charset="-122"/>
                <a:cs typeface="Calibri" pitchFamily="34" charset="-120"/>
              </a:rPr>
              <a:t>For all sensitive access.</a:t>
            </a:r>
            <a:endParaRPr lang="en-US" sz="1200" dirty="0"/>
          </a:p>
        </p:txBody>
      </p:sp>
      <p:sp>
        <p:nvSpPr>
          <p:cNvPr id="17" name="Shape 12"/>
          <p:cNvSpPr/>
          <p:nvPr/>
        </p:nvSpPr>
        <p:spPr>
          <a:xfrm>
            <a:off x="640080" y="3136392"/>
            <a:ext cx="5257800" cy="1234440"/>
          </a:xfrm>
          <a:prstGeom prst="roundRect">
            <a:avLst>
              <a:gd name="adj" fmla="val 6667"/>
            </a:avLst>
          </a:prstGeom>
          <a:solidFill>
            <a:srgbClr val="F4F6FB"/>
          </a:solidFill>
          <a:ln/>
          <a:effectLst>
            <a:outerShdw blurRad="88900" dist="38100" dir="5400000" algn="bl" rotWithShape="0">
              <a:srgbClr val="8894AD">
                <a:alpha val="28000"/>
              </a:srgbClr>
            </a:outerShdw>
          </a:effectLst>
        </p:spPr>
        <p:txBody>
          <a:bodyPr/>
          <a:lstStyle/>
          <a:p>
            <a:endParaRPr lang="en-MY"/>
          </a:p>
        </p:txBody>
      </p:sp>
      <p:sp>
        <p:nvSpPr>
          <p:cNvPr id="18" name="Shape 13"/>
          <p:cNvSpPr/>
          <p:nvPr/>
        </p:nvSpPr>
        <p:spPr>
          <a:xfrm>
            <a:off x="896112" y="3410712"/>
            <a:ext cx="685800" cy="685800"/>
          </a:xfrm>
          <a:prstGeom prst="ellipse">
            <a:avLst/>
          </a:prstGeom>
          <a:solidFill>
            <a:srgbClr val="293E7B"/>
          </a:solidFill>
          <a:ln/>
        </p:spPr>
        <p:txBody>
          <a:bodyPr/>
          <a:lstStyle/>
          <a:p>
            <a:endParaRPr lang="en-MY"/>
          </a:p>
        </p:txBody>
      </p:sp>
      <p:pic>
        <p:nvPicPr>
          <p:cNvPr id="19" name="Image 2" descr="preencoded.png"/>
          <p:cNvPicPr>
            <a:picLocks noChangeAspect="1"/>
          </p:cNvPicPr>
          <p:nvPr/>
        </p:nvPicPr>
        <p:blipFill>
          <a:blip r:embed="rId5"/>
          <a:stretch>
            <a:fillRect/>
          </a:stretch>
        </p:blipFill>
        <p:spPr>
          <a:xfrm>
            <a:off x="1060704" y="3575304"/>
            <a:ext cx="356616" cy="356616"/>
          </a:xfrm>
          <a:prstGeom prst="rect">
            <a:avLst/>
          </a:prstGeom>
        </p:spPr>
      </p:pic>
      <p:sp>
        <p:nvSpPr>
          <p:cNvPr id="20" name="Text 14"/>
          <p:cNvSpPr/>
          <p:nvPr/>
        </p:nvSpPr>
        <p:spPr>
          <a:xfrm>
            <a:off x="1783080" y="3337560"/>
            <a:ext cx="3886200" cy="411480"/>
          </a:xfrm>
          <a:prstGeom prst="rect">
            <a:avLst/>
          </a:prstGeom>
          <a:noFill/>
          <a:ln/>
        </p:spPr>
        <p:txBody>
          <a:bodyPr wrap="square" lIns="0" tIns="0" rIns="0" bIns="0" rtlCol="0" anchor="t"/>
          <a:lstStyle/>
          <a:p>
            <a:pPr marL="0" indent="0">
              <a:buNone/>
            </a:pPr>
            <a:r>
              <a:rPr lang="en-US" sz="1450" b="1" dirty="0">
                <a:solidFill>
                  <a:srgbClr val="262F65"/>
                </a:solidFill>
                <a:latin typeface="Calibri" pitchFamily="34" charset="0"/>
                <a:ea typeface="Calibri" pitchFamily="34" charset="-122"/>
                <a:cs typeface="Calibri" pitchFamily="34" charset="-120"/>
              </a:rPr>
              <a:t>Review access regularly</a:t>
            </a:r>
            <a:endParaRPr lang="en-US" sz="1450" dirty="0"/>
          </a:p>
        </p:txBody>
      </p:sp>
      <p:sp>
        <p:nvSpPr>
          <p:cNvPr id="21" name="Text 15"/>
          <p:cNvSpPr/>
          <p:nvPr/>
        </p:nvSpPr>
        <p:spPr>
          <a:xfrm>
            <a:off x="1783080" y="3758184"/>
            <a:ext cx="3886200" cy="502920"/>
          </a:xfrm>
          <a:prstGeom prst="rect">
            <a:avLst/>
          </a:prstGeom>
          <a:noFill/>
          <a:ln/>
        </p:spPr>
        <p:txBody>
          <a:bodyPr wrap="square" lIns="0" tIns="0" rIns="0" bIns="0" rtlCol="0" anchor="t"/>
          <a:lstStyle/>
          <a:p>
            <a:pPr marL="0" indent="0">
              <a:buNone/>
            </a:pPr>
            <a:r>
              <a:rPr lang="en-US" sz="1200" dirty="0">
                <a:solidFill>
                  <a:srgbClr val="5B6472"/>
                </a:solidFill>
                <a:latin typeface="Calibri" pitchFamily="34" charset="0"/>
                <a:ea typeface="Calibri" pitchFamily="34" charset="-122"/>
                <a:cs typeface="Calibri" pitchFamily="34" charset="-120"/>
              </a:rPr>
              <a:t>Fight permission creep.</a:t>
            </a:r>
            <a:endParaRPr lang="en-US" sz="1200" dirty="0"/>
          </a:p>
        </p:txBody>
      </p:sp>
      <p:sp>
        <p:nvSpPr>
          <p:cNvPr id="22" name="Shape 16"/>
          <p:cNvSpPr/>
          <p:nvPr/>
        </p:nvSpPr>
        <p:spPr>
          <a:xfrm>
            <a:off x="6217920" y="3136392"/>
            <a:ext cx="5257800" cy="1234440"/>
          </a:xfrm>
          <a:prstGeom prst="roundRect">
            <a:avLst>
              <a:gd name="adj" fmla="val 6667"/>
            </a:avLst>
          </a:prstGeom>
          <a:solidFill>
            <a:srgbClr val="F4F6FB"/>
          </a:solidFill>
          <a:ln/>
          <a:effectLst>
            <a:outerShdw blurRad="88900" dist="38100" dir="5400000" algn="bl" rotWithShape="0">
              <a:srgbClr val="8894AD">
                <a:alpha val="28000"/>
              </a:srgbClr>
            </a:outerShdw>
          </a:effectLst>
        </p:spPr>
        <p:txBody>
          <a:bodyPr/>
          <a:lstStyle/>
          <a:p>
            <a:endParaRPr lang="en-MY"/>
          </a:p>
        </p:txBody>
      </p:sp>
      <p:sp>
        <p:nvSpPr>
          <p:cNvPr id="23" name="Shape 17"/>
          <p:cNvSpPr/>
          <p:nvPr/>
        </p:nvSpPr>
        <p:spPr>
          <a:xfrm>
            <a:off x="6473952" y="3410712"/>
            <a:ext cx="685800" cy="685800"/>
          </a:xfrm>
          <a:prstGeom prst="ellipse">
            <a:avLst/>
          </a:prstGeom>
          <a:solidFill>
            <a:srgbClr val="262F65"/>
          </a:solidFill>
          <a:ln/>
        </p:spPr>
        <p:txBody>
          <a:bodyPr/>
          <a:lstStyle/>
          <a:p>
            <a:endParaRPr lang="en-MY"/>
          </a:p>
        </p:txBody>
      </p:sp>
      <p:pic>
        <p:nvPicPr>
          <p:cNvPr id="24" name="Image 3" descr="preencoded.png"/>
          <p:cNvPicPr>
            <a:picLocks noChangeAspect="1"/>
          </p:cNvPicPr>
          <p:nvPr/>
        </p:nvPicPr>
        <p:blipFill>
          <a:blip r:embed="rId6"/>
          <a:stretch>
            <a:fillRect/>
          </a:stretch>
        </p:blipFill>
        <p:spPr>
          <a:xfrm>
            <a:off x="6638544" y="3575304"/>
            <a:ext cx="356616" cy="356616"/>
          </a:xfrm>
          <a:prstGeom prst="rect">
            <a:avLst/>
          </a:prstGeom>
        </p:spPr>
      </p:pic>
      <p:sp>
        <p:nvSpPr>
          <p:cNvPr id="25" name="Text 18"/>
          <p:cNvSpPr/>
          <p:nvPr/>
        </p:nvSpPr>
        <p:spPr>
          <a:xfrm>
            <a:off x="7360920" y="3337560"/>
            <a:ext cx="3886200" cy="411480"/>
          </a:xfrm>
          <a:prstGeom prst="rect">
            <a:avLst/>
          </a:prstGeom>
          <a:noFill/>
          <a:ln/>
        </p:spPr>
        <p:txBody>
          <a:bodyPr wrap="square" lIns="0" tIns="0" rIns="0" bIns="0" rtlCol="0" anchor="t"/>
          <a:lstStyle/>
          <a:p>
            <a:pPr marL="0" indent="0">
              <a:buNone/>
            </a:pPr>
            <a:r>
              <a:rPr lang="en-US" sz="1450" b="1" dirty="0">
                <a:solidFill>
                  <a:srgbClr val="262F65"/>
                </a:solidFill>
                <a:latin typeface="Calibri" pitchFamily="34" charset="0"/>
                <a:ea typeface="Calibri" pitchFamily="34" charset="-122"/>
                <a:cs typeface="Calibri" pitchFamily="34" charset="-120"/>
              </a:rPr>
              <a:t>Monitor activity</a:t>
            </a:r>
            <a:endParaRPr lang="en-US" sz="1450" dirty="0"/>
          </a:p>
        </p:txBody>
      </p:sp>
      <p:sp>
        <p:nvSpPr>
          <p:cNvPr id="26" name="Text 19"/>
          <p:cNvSpPr/>
          <p:nvPr/>
        </p:nvSpPr>
        <p:spPr>
          <a:xfrm>
            <a:off x="7360920" y="3758184"/>
            <a:ext cx="3886200" cy="502920"/>
          </a:xfrm>
          <a:prstGeom prst="rect">
            <a:avLst/>
          </a:prstGeom>
          <a:noFill/>
          <a:ln/>
        </p:spPr>
        <p:txBody>
          <a:bodyPr wrap="square" lIns="0" tIns="0" rIns="0" bIns="0" rtlCol="0" anchor="t"/>
          <a:lstStyle/>
          <a:p>
            <a:pPr marL="0" indent="0">
              <a:buNone/>
            </a:pPr>
            <a:r>
              <a:rPr lang="en-US" sz="1200" dirty="0">
                <a:solidFill>
                  <a:srgbClr val="5B6472"/>
                </a:solidFill>
                <a:latin typeface="Calibri" pitchFamily="34" charset="0"/>
                <a:ea typeface="Calibri" pitchFamily="34" charset="-122"/>
                <a:cs typeface="Calibri" pitchFamily="34" charset="-120"/>
              </a:rPr>
              <a:t>Detect misuse early.</a:t>
            </a:r>
            <a:endParaRPr lang="en-US" sz="1200" dirty="0"/>
          </a:p>
        </p:txBody>
      </p:sp>
      <p:sp>
        <p:nvSpPr>
          <p:cNvPr id="27" name="Shape 20"/>
          <p:cNvSpPr/>
          <p:nvPr/>
        </p:nvSpPr>
        <p:spPr>
          <a:xfrm>
            <a:off x="640080" y="4535424"/>
            <a:ext cx="5257800" cy="1234440"/>
          </a:xfrm>
          <a:prstGeom prst="roundRect">
            <a:avLst>
              <a:gd name="adj" fmla="val 6667"/>
            </a:avLst>
          </a:prstGeom>
          <a:solidFill>
            <a:srgbClr val="F4F6FB"/>
          </a:solidFill>
          <a:ln/>
          <a:effectLst>
            <a:outerShdw blurRad="88900" dist="38100" dir="5400000" algn="bl" rotWithShape="0">
              <a:srgbClr val="8894AD">
                <a:alpha val="28000"/>
              </a:srgbClr>
            </a:outerShdw>
          </a:effectLst>
        </p:spPr>
        <p:txBody>
          <a:bodyPr/>
          <a:lstStyle/>
          <a:p>
            <a:endParaRPr lang="en-MY"/>
          </a:p>
        </p:txBody>
      </p:sp>
      <p:sp>
        <p:nvSpPr>
          <p:cNvPr id="28" name="Shape 21"/>
          <p:cNvSpPr/>
          <p:nvPr/>
        </p:nvSpPr>
        <p:spPr>
          <a:xfrm>
            <a:off x="896112" y="4809744"/>
            <a:ext cx="685800" cy="685800"/>
          </a:xfrm>
          <a:prstGeom prst="ellipse">
            <a:avLst/>
          </a:prstGeom>
          <a:solidFill>
            <a:srgbClr val="F2931F"/>
          </a:solidFill>
          <a:ln/>
        </p:spPr>
        <p:txBody>
          <a:bodyPr/>
          <a:lstStyle/>
          <a:p>
            <a:endParaRPr lang="en-MY"/>
          </a:p>
        </p:txBody>
      </p:sp>
      <p:pic>
        <p:nvPicPr>
          <p:cNvPr id="29" name="Image 4" descr="preencoded.png"/>
          <p:cNvPicPr>
            <a:picLocks noChangeAspect="1"/>
          </p:cNvPicPr>
          <p:nvPr/>
        </p:nvPicPr>
        <p:blipFill>
          <a:blip r:embed="rId7"/>
          <a:stretch>
            <a:fillRect/>
          </a:stretch>
        </p:blipFill>
        <p:spPr>
          <a:xfrm>
            <a:off x="1060704" y="4974336"/>
            <a:ext cx="356616" cy="356616"/>
          </a:xfrm>
          <a:prstGeom prst="rect">
            <a:avLst/>
          </a:prstGeom>
        </p:spPr>
      </p:pic>
      <p:sp>
        <p:nvSpPr>
          <p:cNvPr id="30" name="Text 22"/>
          <p:cNvSpPr/>
          <p:nvPr/>
        </p:nvSpPr>
        <p:spPr>
          <a:xfrm>
            <a:off x="1783080" y="4736592"/>
            <a:ext cx="3886200" cy="411480"/>
          </a:xfrm>
          <a:prstGeom prst="rect">
            <a:avLst/>
          </a:prstGeom>
          <a:noFill/>
          <a:ln/>
        </p:spPr>
        <p:txBody>
          <a:bodyPr wrap="square" lIns="0" tIns="0" rIns="0" bIns="0" rtlCol="0" anchor="t"/>
          <a:lstStyle/>
          <a:p>
            <a:pPr marL="0" indent="0">
              <a:buNone/>
            </a:pPr>
            <a:r>
              <a:rPr lang="en-US" sz="1450" b="1" dirty="0">
                <a:solidFill>
                  <a:srgbClr val="262F65"/>
                </a:solidFill>
                <a:latin typeface="Calibri" pitchFamily="34" charset="0"/>
                <a:ea typeface="Calibri" pitchFamily="34" charset="-122"/>
                <a:cs typeface="Calibri" pitchFamily="34" charset="-120"/>
              </a:rPr>
              <a:t>Harden systems</a:t>
            </a:r>
            <a:endParaRPr lang="en-US" sz="1450" dirty="0"/>
          </a:p>
        </p:txBody>
      </p:sp>
      <p:sp>
        <p:nvSpPr>
          <p:cNvPr id="31" name="Text 23"/>
          <p:cNvSpPr/>
          <p:nvPr/>
        </p:nvSpPr>
        <p:spPr>
          <a:xfrm>
            <a:off x="1783080" y="5157216"/>
            <a:ext cx="3886200" cy="502920"/>
          </a:xfrm>
          <a:prstGeom prst="rect">
            <a:avLst/>
          </a:prstGeom>
          <a:noFill/>
          <a:ln/>
        </p:spPr>
        <p:txBody>
          <a:bodyPr wrap="square" lIns="0" tIns="0" rIns="0" bIns="0" rtlCol="0" anchor="t"/>
          <a:lstStyle/>
          <a:p>
            <a:pPr marL="0" indent="0">
              <a:buNone/>
            </a:pPr>
            <a:r>
              <a:rPr lang="en-US" sz="1200" dirty="0">
                <a:solidFill>
                  <a:srgbClr val="5B6472"/>
                </a:solidFill>
                <a:latin typeface="Calibri" pitchFamily="34" charset="0"/>
                <a:ea typeface="Calibri" pitchFamily="34" charset="-122"/>
                <a:cs typeface="Calibri" pitchFamily="34" charset="-120"/>
              </a:rPr>
              <a:t>Reduce what intruders exploit.</a:t>
            </a:r>
            <a:endParaRPr lang="en-US" sz="1200" dirty="0"/>
          </a:p>
        </p:txBody>
      </p:sp>
      <p:sp>
        <p:nvSpPr>
          <p:cNvPr id="32" name="Shape 24"/>
          <p:cNvSpPr/>
          <p:nvPr/>
        </p:nvSpPr>
        <p:spPr>
          <a:xfrm>
            <a:off x="6217920" y="4535424"/>
            <a:ext cx="5257800" cy="1234440"/>
          </a:xfrm>
          <a:prstGeom prst="roundRect">
            <a:avLst>
              <a:gd name="adj" fmla="val 6667"/>
            </a:avLst>
          </a:prstGeom>
          <a:solidFill>
            <a:srgbClr val="F4F6FB"/>
          </a:solidFill>
          <a:ln/>
          <a:effectLst>
            <a:outerShdw blurRad="88900" dist="38100" dir="5400000" algn="bl" rotWithShape="0">
              <a:srgbClr val="8894AD">
                <a:alpha val="28000"/>
              </a:srgbClr>
            </a:outerShdw>
          </a:effectLst>
        </p:spPr>
        <p:txBody>
          <a:bodyPr/>
          <a:lstStyle/>
          <a:p>
            <a:endParaRPr lang="en-MY"/>
          </a:p>
        </p:txBody>
      </p:sp>
      <p:sp>
        <p:nvSpPr>
          <p:cNvPr id="33" name="Shape 25"/>
          <p:cNvSpPr/>
          <p:nvPr/>
        </p:nvSpPr>
        <p:spPr>
          <a:xfrm>
            <a:off x="6473952" y="4809744"/>
            <a:ext cx="685800" cy="685800"/>
          </a:xfrm>
          <a:prstGeom prst="ellipse">
            <a:avLst/>
          </a:prstGeom>
          <a:solidFill>
            <a:srgbClr val="293E7B"/>
          </a:solidFill>
          <a:ln/>
        </p:spPr>
        <p:txBody>
          <a:bodyPr/>
          <a:lstStyle/>
          <a:p>
            <a:endParaRPr lang="en-MY"/>
          </a:p>
        </p:txBody>
      </p:sp>
      <p:pic>
        <p:nvPicPr>
          <p:cNvPr id="34" name="Image 5" descr="preencoded.png"/>
          <p:cNvPicPr>
            <a:picLocks noChangeAspect="1"/>
          </p:cNvPicPr>
          <p:nvPr/>
        </p:nvPicPr>
        <p:blipFill>
          <a:blip r:embed="rId8"/>
          <a:stretch>
            <a:fillRect/>
          </a:stretch>
        </p:blipFill>
        <p:spPr>
          <a:xfrm>
            <a:off x="6638544" y="4974336"/>
            <a:ext cx="356616" cy="356616"/>
          </a:xfrm>
          <a:prstGeom prst="rect">
            <a:avLst/>
          </a:prstGeom>
        </p:spPr>
      </p:pic>
      <p:sp>
        <p:nvSpPr>
          <p:cNvPr id="35" name="Text 26"/>
          <p:cNvSpPr/>
          <p:nvPr/>
        </p:nvSpPr>
        <p:spPr>
          <a:xfrm>
            <a:off x="7360920" y="4736592"/>
            <a:ext cx="3886200" cy="411480"/>
          </a:xfrm>
          <a:prstGeom prst="rect">
            <a:avLst/>
          </a:prstGeom>
          <a:noFill/>
          <a:ln/>
        </p:spPr>
        <p:txBody>
          <a:bodyPr wrap="square" lIns="0" tIns="0" rIns="0" bIns="0" rtlCol="0" anchor="t"/>
          <a:lstStyle/>
          <a:p>
            <a:pPr marL="0" indent="0">
              <a:buNone/>
            </a:pPr>
            <a:r>
              <a:rPr lang="en-US" sz="1450" b="1" dirty="0">
                <a:solidFill>
                  <a:srgbClr val="262F65"/>
                </a:solidFill>
                <a:latin typeface="Calibri" pitchFamily="34" charset="0"/>
                <a:ea typeface="Calibri" pitchFamily="34" charset="-122"/>
                <a:cs typeface="Calibri" pitchFamily="34" charset="-120"/>
              </a:rPr>
              <a:t>Secure remote access</a:t>
            </a:r>
            <a:endParaRPr lang="en-US" sz="1450" dirty="0"/>
          </a:p>
        </p:txBody>
      </p:sp>
      <p:sp>
        <p:nvSpPr>
          <p:cNvPr id="36" name="Text 27"/>
          <p:cNvSpPr/>
          <p:nvPr/>
        </p:nvSpPr>
        <p:spPr>
          <a:xfrm>
            <a:off x="7360920" y="5157216"/>
            <a:ext cx="3886200" cy="502920"/>
          </a:xfrm>
          <a:prstGeom prst="rect">
            <a:avLst/>
          </a:prstGeom>
          <a:noFill/>
          <a:ln/>
        </p:spPr>
        <p:txBody>
          <a:bodyPr wrap="square" lIns="0" tIns="0" rIns="0" bIns="0" rtlCol="0" anchor="t"/>
          <a:lstStyle/>
          <a:p>
            <a:pPr marL="0" indent="0">
              <a:buNone/>
            </a:pPr>
            <a:r>
              <a:rPr lang="en-US" sz="1200" dirty="0">
                <a:solidFill>
                  <a:srgbClr val="5B6472"/>
                </a:solidFill>
                <a:latin typeface="Calibri" pitchFamily="34" charset="0"/>
                <a:ea typeface="Calibri" pitchFamily="34" charset="-122"/>
                <a:cs typeface="Calibri" pitchFamily="34" charset="-120"/>
              </a:rPr>
              <a:t>VPN + MFA, tightly limited.</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marL="0" indent="0">
              <a:buNone/>
            </a:pPr>
            <a:r>
              <a:rPr lang="en-US" sz="1150" b="1" kern="0" spc="200" dirty="0">
                <a:solidFill>
                  <a:srgbClr val="F2931F"/>
                </a:solidFill>
                <a:latin typeface="Calibri" pitchFamily="34" charset="0"/>
                <a:ea typeface="Calibri" pitchFamily="34" charset="-122"/>
                <a:cs typeface="Calibri" pitchFamily="34" charset="-120"/>
              </a:rPr>
              <a:t>RECAP</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marL="0" indent="0">
              <a:buNone/>
            </a:pPr>
            <a:r>
              <a:rPr lang="en-US" sz="2600" b="1" dirty="0">
                <a:solidFill>
                  <a:srgbClr val="262F65"/>
                </a:solidFill>
                <a:latin typeface="Cambria" pitchFamily="34" charset="0"/>
                <a:ea typeface="Cambria" pitchFamily="34" charset="-122"/>
                <a:cs typeface="Cambria" pitchFamily="34" charset="-120"/>
              </a:rPr>
              <a:t>Key takeaways</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marL="0" indent="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18</a:t>
            </a:r>
            <a:endParaRPr lang="en-US" sz="900" dirty="0"/>
          </a:p>
        </p:txBody>
      </p:sp>
      <p:sp>
        <p:nvSpPr>
          <p:cNvPr id="7" name="Shape 4"/>
          <p:cNvSpPr/>
          <p:nvPr/>
        </p:nvSpPr>
        <p:spPr>
          <a:xfrm>
            <a:off x="640080" y="1783080"/>
            <a:ext cx="10881360" cy="896112"/>
          </a:xfrm>
          <a:prstGeom prst="roundRect">
            <a:avLst>
              <a:gd name="adj" fmla="val 9184"/>
            </a:avLst>
          </a:prstGeom>
          <a:solidFill>
            <a:srgbClr val="F4F6FB"/>
          </a:solidFill>
          <a:ln/>
          <a:effectLst>
            <a:outerShdw blurRad="88900" dist="38100" dir="5400000" algn="bl" rotWithShape="0">
              <a:srgbClr val="8894AD">
                <a:alpha val="28000"/>
              </a:srgbClr>
            </a:outerShdw>
          </a:effectLst>
        </p:spPr>
        <p:txBody>
          <a:bodyPr/>
          <a:lstStyle/>
          <a:p>
            <a:endParaRPr lang="en-MY"/>
          </a:p>
        </p:txBody>
      </p:sp>
      <p:sp>
        <p:nvSpPr>
          <p:cNvPr id="8" name="Shape 5"/>
          <p:cNvSpPr/>
          <p:nvPr/>
        </p:nvSpPr>
        <p:spPr>
          <a:xfrm>
            <a:off x="868680" y="1956816"/>
            <a:ext cx="548640" cy="548640"/>
          </a:xfrm>
          <a:prstGeom prst="ellipse">
            <a:avLst/>
          </a:prstGeom>
          <a:solidFill>
            <a:srgbClr val="262F65"/>
          </a:solidFill>
          <a:ln/>
        </p:spPr>
        <p:txBody>
          <a:bodyPr/>
          <a:lstStyle/>
          <a:p>
            <a:endParaRPr lang="en-MY"/>
          </a:p>
        </p:txBody>
      </p:sp>
      <p:pic>
        <p:nvPicPr>
          <p:cNvPr id="9" name="Image 0" descr="preencoded.png"/>
          <p:cNvPicPr>
            <a:picLocks noChangeAspect="1"/>
          </p:cNvPicPr>
          <p:nvPr/>
        </p:nvPicPr>
        <p:blipFill>
          <a:blip r:embed="rId3"/>
          <a:stretch>
            <a:fillRect/>
          </a:stretch>
        </p:blipFill>
        <p:spPr>
          <a:xfrm>
            <a:off x="1000354" y="2088490"/>
            <a:ext cx="285293" cy="285293"/>
          </a:xfrm>
          <a:prstGeom prst="rect">
            <a:avLst/>
          </a:prstGeom>
        </p:spPr>
      </p:pic>
      <p:sp>
        <p:nvSpPr>
          <p:cNvPr id="10" name="Text 6"/>
          <p:cNvSpPr/>
          <p:nvPr/>
        </p:nvSpPr>
        <p:spPr>
          <a:xfrm>
            <a:off x="1600200" y="1856232"/>
            <a:ext cx="9692640" cy="749808"/>
          </a:xfrm>
          <a:prstGeom prst="rect">
            <a:avLst/>
          </a:prstGeom>
          <a:noFill/>
          <a:ln/>
        </p:spPr>
        <p:txBody>
          <a:bodyPr wrap="square" lIns="0" tIns="0" rIns="0" bIns="0" rtlCol="0" anchor="ctr"/>
          <a:lstStyle/>
          <a:p>
            <a:pPr marL="0" indent="0">
              <a:buNone/>
            </a:pPr>
            <a:r>
              <a:rPr lang="en-US" sz="1600" b="1" dirty="0">
                <a:solidFill>
                  <a:srgbClr val="F2931F"/>
                </a:solidFill>
                <a:latin typeface="Calibri" pitchFamily="34" charset="0"/>
                <a:ea typeface="Calibri" pitchFamily="34" charset="-122"/>
                <a:cs typeface="Calibri" pitchFamily="34" charset="-120"/>
              </a:rPr>
              <a:t>1   </a:t>
            </a:r>
            <a:r>
              <a:rPr lang="en-US" sz="1350" dirty="0">
                <a:solidFill>
                  <a:srgbClr val="23283A"/>
                </a:solidFill>
                <a:latin typeface="Calibri" pitchFamily="34" charset="0"/>
                <a:ea typeface="Calibri" pitchFamily="34" charset="-122"/>
                <a:cs typeface="Calibri" pitchFamily="34" charset="-120"/>
              </a:rPr>
              <a:t>Identity is the perimeter — access control is where most cloud breaches are won or lost.</a:t>
            </a:r>
            <a:endParaRPr lang="en-US" sz="1350" dirty="0"/>
          </a:p>
        </p:txBody>
      </p:sp>
      <p:sp>
        <p:nvSpPr>
          <p:cNvPr id="11" name="Shape 7"/>
          <p:cNvSpPr/>
          <p:nvPr/>
        </p:nvSpPr>
        <p:spPr>
          <a:xfrm>
            <a:off x="640080" y="2807208"/>
            <a:ext cx="10881360" cy="896112"/>
          </a:xfrm>
          <a:prstGeom prst="roundRect">
            <a:avLst>
              <a:gd name="adj" fmla="val 9184"/>
            </a:avLst>
          </a:prstGeom>
          <a:solidFill>
            <a:srgbClr val="F4F6FB"/>
          </a:solidFill>
          <a:ln/>
          <a:effectLst>
            <a:outerShdw blurRad="88900" dist="38100" dir="5400000" algn="bl" rotWithShape="0">
              <a:srgbClr val="8894AD">
                <a:alpha val="28000"/>
              </a:srgbClr>
            </a:outerShdw>
          </a:effectLst>
        </p:spPr>
        <p:txBody>
          <a:bodyPr/>
          <a:lstStyle/>
          <a:p>
            <a:endParaRPr lang="en-MY"/>
          </a:p>
        </p:txBody>
      </p:sp>
      <p:sp>
        <p:nvSpPr>
          <p:cNvPr id="12" name="Shape 8"/>
          <p:cNvSpPr/>
          <p:nvPr/>
        </p:nvSpPr>
        <p:spPr>
          <a:xfrm>
            <a:off x="868680" y="2980944"/>
            <a:ext cx="548640" cy="548640"/>
          </a:xfrm>
          <a:prstGeom prst="ellipse">
            <a:avLst/>
          </a:prstGeom>
          <a:solidFill>
            <a:srgbClr val="293E7B"/>
          </a:solidFill>
          <a:ln/>
        </p:spPr>
        <p:txBody>
          <a:bodyPr/>
          <a:lstStyle/>
          <a:p>
            <a:endParaRPr lang="en-MY"/>
          </a:p>
        </p:txBody>
      </p:sp>
      <p:pic>
        <p:nvPicPr>
          <p:cNvPr id="13" name="Image 1" descr="preencoded.png"/>
          <p:cNvPicPr>
            <a:picLocks noChangeAspect="1"/>
          </p:cNvPicPr>
          <p:nvPr/>
        </p:nvPicPr>
        <p:blipFill>
          <a:blip r:embed="rId4"/>
          <a:stretch>
            <a:fillRect/>
          </a:stretch>
        </p:blipFill>
        <p:spPr>
          <a:xfrm>
            <a:off x="1000354" y="3112618"/>
            <a:ext cx="285293" cy="285293"/>
          </a:xfrm>
          <a:prstGeom prst="rect">
            <a:avLst/>
          </a:prstGeom>
        </p:spPr>
      </p:pic>
      <p:sp>
        <p:nvSpPr>
          <p:cNvPr id="14" name="Text 9"/>
          <p:cNvSpPr/>
          <p:nvPr/>
        </p:nvSpPr>
        <p:spPr>
          <a:xfrm>
            <a:off x="1600200" y="2880360"/>
            <a:ext cx="9692640" cy="749808"/>
          </a:xfrm>
          <a:prstGeom prst="rect">
            <a:avLst/>
          </a:prstGeom>
          <a:noFill/>
          <a:ln/>
        </p:spPr>
        <p:txBody>
          <a:bodyPr wrap="square" lIns="0" tIns="0" rIns="0" bIns="0" rtlCol="0" anchor="ctr"/>
          <a:lstStyle/>
          <a:p>
            <a:pPr marL="0" indent="0">
              <a:buNone/>
            </a:pPr>
            <a:r>
              <a:rPr lang="en-US" sz="1600" b="1" dirty="0">
                <a:solidFill>
                  <a:srgbClr val="F2931F"/>
                </a:solidFill>
                <a:latin typeface="Calibri" pitchFamily="34" charset="0"/>
                <a:ea typeface="Calibri" pitchFamily="34" charset="-122"/>
                <a:cs typeface="Calibri" pitchFamily="34" charset="-120"/>
              </a:rPr>
              <a:t>2   </a:t>
            </a:r>
            <a:r>
              <a:rPr lang="en-US" sz="1350" dirty="0">
                <a:solidFill>
                  <a:srgbClr val="23283A"/>
                </a:solidFill>
                <a:latin typeface="Calibri" pitchFamily="34" charset="0"/>
                <a:ea typeface="Calibri" pitchFamily="34" charset="-122"/>
                <a:cs typeface="Calibri" pitchFamily="34" charset="-120"/>
              </a:rPr>
              <a:t>Authentication (who you are) and authorization (what you may do) are distinct — both must be strong.</a:t>
            </a:r>
            <a:endParaRPr lang="en-US" sz="1350" dirty="0"/>
          </a:p>
        </p:txBody>
      </p:sp>
      <p:sp>
        <p:nvSpPr>
          <p:cNvPr id="15" name="Shape 10"/>
          <p:cNvSpPr/>
          <p:nvPr/>
        </p:nvSpPr>
        <p:spPr>
          <a:xfrm>
            <a:off x="640080" y="3831336"/>
            <a:ext cx="10881360" cy="896112"/>
          </a:xfrm>
          <a:prstGeom prst="roundRect">
            <a:avLst>
              <a:gd name="adj" fmla="val 9184"/>
            </a:avLst>
          </a:prstGeom>
          <a:solidFill>
            <a:srgbClr val="F4F6FB"/>
          </a:solidFill>
          <a:ln/>
          <a:effectLst>
            <a:outerShdw blurRad="88900" dist="38100" dir="5400000" algn="bl" rotWithShape="0">
              <a:srgbClr val="8894AD">
                <a:alpha val="28000"/>
              </a:srgbClr>
            </a:outerShdw>
          </a:effectLst>
        </p:spPr>
        <p:txBody>
          <a:bodyPr/>
          <a:lstStyle/>
          <a:p>
            <a:endParaRPr lang="en-MY"/>
          </a:p>
        </p:txBody>
      </p:sp>
      <p:sp>
        <p:nvSpPr>
          <p:cNvPr id="16" name="Shape 11"/>
          <p:cNvSpPr/>
          <p:nvPr/>
        </p:nvSpPr>
        <p:spPr>
          <a:xfrm>
            <a:off x="868680" y="4005072"/>
            <a:ext cx="548640" cy="548640"/>
          </a:xfrm>
          <a:prstGeom prst="ellipse">
            <a:avLst/>
          </a:prstGeom>
          <a:solidFill>
            <a:srgbClr val="F2931F"/>
          </a:solidFill>
          <a:ln/>
        </p:spPr>
        <p:txBody>
          <a:bodyPr/>
          <a:lstStyle/>
          <a:p>
            <a:endParaRPr lang="en-MY"/>
          </a:p>
        </p:txBody>
      </p:sp>
      <p:pic>
        <p:nvPicPr>
          <p:cNvPr id="17" name="Image 2" descr="preencoded.png"/>
          <p:cNvPicPr>
            <a:picLocks noChangeAspect="1"/>
          </p:cNvPicPr>
          <p:nvPr/>
        </p:nvPicPr>
        <p:blipFill>
          <a:blip r:embed="rId5"/>
          <a:stretch>
            <a:fillRect/>
          </a:stretch>
        </p:blipFill>
        <p:spPr>
          <a:xfrm>
            <a:off x="1000354" y="4136746"/>
            <a:ext cx="285293" cy="285293"/>
          </a:xfrm>
          <a:prstGeom prst="rect">
            <a:avLst/>
          </a:prstGeom>
        </p:spPr>
      </p:pic>
      <p:sp>
        <p:nvSpPr>
          <p:cNvPr id="18" name="Text 12"/>
          <p:cNvSpPr/>
          <p:nvPr/>
        </p:nvSpPr>
        <p:spPr>
          <a:xfrm>
            <a:off x="1600200" y="3904488"/>
            <a:ext cx="9692640" cy="749808"/>
          </a:xfrm>
          <a:prstGeom prst="rect">
            <a:avLst/>
          </a:prstGeom>
          <a:noFill/>
          <a:ln/>
        </p:spPr>
        <p:txBody>
          <a:bodyPr wrap="square" lIns="0" tIns="0" rIns="0" bIns="0" rtlCol="0" anchor="ctr"/>
          <a:lstStyle/>
          <a:p>
            <a:pPr marL="0" indent="0">
              <a:buNone/>
            </a:pPr>
            <a:r>
              <a:rPr lang="en-US" sz="1600" b="1" dirty="0">
                <a:solidFill>
                  <a:srgbClr val="F2931F"/>
                </a:solidFill>
                <a:latin typeface="Calibri" pitchFamily="34" charset="0"/>
                <a:ea typeface="Calibri" pitchFamily="34" charset="-122"/>
                <a:cs typeface="Calibri" pitchFamily="34" charset="-120"/>
              </a:rPr>
              <a:t>3   </a:t>
            </a:r>
            <a:r>
              <a:rPr lang="en-US" sz="1350" dirty="0">
                <a:solidFill>
                  <a:srgbClr val="23283A"/>
                </a:solidFill>
                <a:latin typeface="Calibri" pitchFamily="34" charset="0"/>
                <a:ea typeface="Calibri" pitchFamily="34" charset="-122"/>
                <a:cs typeface="Calibri" pitchFamily="34" charset="-120"/>
              </a:rPr>
              <a:t>Access control spans compute, network and storage — secure all three, least privilege throughout.</a:t>
            </a:r>
            <a:endParaRPr lang="en-US" sz="1350" dirty="0"/>
          </a:p>
        </p:txBody>
      </p:sp>
      <p:sp>
        <p:nvSpPr>
          <p:cNvPr id="19" name="Shape 13"/>
          <p:cNvSpPr/>
          <p:nvPr/>
        </p:nvSpPr>
        <p:spPr>
          <a:xfrm>
            <a:off x="640080" y="4855464"/>
            <a:ext cx="10881360" cy="896112"/>
          </a:xfrm>
          <a:prstGeom prst="roundRect">
            <a:avLst>
              <a:gd name="adj" fmla="val 9184"/>
            </a:avLst>
          </a:prstGeom>
          <a:solidFill>
            <a:srgbClr val="F4F6FB"/>
          </a:solidFill>
          <a:ln/>
          <a:effectLst>
            <a:outerShdw blurRad="88900" dist="38100" dir="5400000" algn="bl" rotWithShape="0">
              <a:srgbClr val="8894AD">
                <a:alpha val="28000"/>
              </a:srgbClr>
            </a:outerShdw>
          </a:effectLst>
        </p:spPr>
        <p:txBody>
          <a:bodyPr/>
          <a:lstStyle/>
          <a:p>
            <a:endParaRPr lang="en-MY"/>
          </a:p>
        </p:txBody>
      </p:sp>
      <p:sp>
        <p:nvSpPr>
          <p:cNvPr id="20" name="Shape 14"/>
          <p:cNvSpPr/>
          <p:nvPr/>
        </p:nvSpPr>
        <p:spPr>
          <a:xfrm>
            <a:off x="868680" y="5029200"/>
            <a:ext cx="548640" cy="548640"/>
          </a:xfrm>
          <a:prstGeom prst="ellipse">
            <a:avLst/>
          </a:prstGeom>
          <a:solidFill>
            <a:srgbClr val="FABA32"/>
          </a:solidFill>
          <a:ln/>
        </p:spPr>
        <p:txBody>
          <a:bodyPr/>
          <a:lstStyle/>
          <a:p>
            <a:endParaRPr lang="en-MY"/>
          </a:p>
        </p:txBody>
      </p:sp>
      <p:pic>
        <p:nvPicPr>
          <p:cNvPr id="21" name="Image 3" descr="preencoded.png"/>
          <p:cNvPicPr>
            <a:picLocks noChangeAspect="1"/>
          </p:cNvPicPr>
          <p:nvPr/>
        </p:nvPicPr>
        <p:blipFill>
          <a:blip r:embed="rId6"/>
          <a:stretch>
            <a:fillRect/>
          </a:stretch>
        </p:blipFill>
        <p:spPr>
          <a:xfrm>
            <a:off x="1000354" y="5160874"/>
            <a:ext cx="285293" cy="285293"/>
          </a:xfrm>
          <a:prstGeom prst="rect">
            <a:avLst/>
          </a:prstGeom>
        </p:spPr>
      </p:pic>
      <p:sp>
        <p:nvSpPr>
          <p:cNvPr id="22" name="Text 15"/>
          <p:cNvSpPr/>
          <p:nvPr/>
        </p:nvSpPr>
        <p:spPr>
          <a:xfrm>
            <a:off x="1600200" y="4928616"/>
            <a:ext cx="9692640" cy="749808"/>
          </a:xfrm>
          <a:prstGeom prst="rect">
            <a:avLst/>
          </a:prstGeom>
          <a:noFill/>
          <a:ln/>
        </p:spPr>
        <p:txBody>
          <a:bodyPr wrap="square" lIns="0" tIns="0" rIns="0" bIns="0" rtlCol="0" anchor="ctr"/>
          <a:lstStyle/>
          <a:p>
            <a:pPr marL="0" indent="0">
              <a:buNone/>
            </a:pPr>
            <a:r>
              <a:rPr lang="en-US" sz="1600" b="1" dirty="0">
                <a:solidFill>
                  <a:srgbClr val="F2931F"/>
                </a:solidFill>
                <a:latin typeface="Calibri" pitchFamily="34" charset="0"/>
                <a:ea typeface="Calibri" pitchFamily="34" charset="-122"/>
                <a:cs typeface="Calibri" pitchFamily="34" charset="-120"/>
              </a:rPr>
              <a:t>4   </a:t>
            </a:r>
            <a:r>
              <a:rPr lang="en-US" sz="1350" dirty="0">
                <a:solidFill>
                  <a:srgbClr val="23283A"/>
                </a:solidFill>
                <a:latin typeface="Calibri" pitchFamily="34" charset="0"/>
                <a:ea typeface="Calibri" pitchFamily="34" charset="-122"/>
                <a:cs typeface="Calibri" pitchFamily="34" charset="-120"/>
              </a:rPr>
              <a:t>Hardening and detection (IDS/IPS, honeypots) back up access control when prevention slips.</a:t>
            </a:r>
            <a:endParaRPr lang="en-US" sz="13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262F65"/>
        </a:solidFill>
        <a:effectLst/>
      </p:bgPr>
    </p:bg>
    <p:spTree>
      <p:nvGrpSpPr>
        <p:cNvPr id="1" name=""/>
        <p:cNvGrpSpPr/>
        <p:nvPr/>
      </p:nvGrpSpPr>
      <p:grpSpPr>
        <a:xfrm>
          <a:off x="0" y="0"/>
          <a:ext cx="0" cy="0"/>
          <a:chOff x="0" y="0"/>
          <a:chExt cx="0" cy="0"/>
        </a:xfrm>
      </p:grpSpPr>
      <p:sp>
        <p:nvSpPr>
          <p:cNvPr id="2" name="Shape 0"/>
          <p:cNvSpPr/>
          <p:nvPr/>
        </p:nvSpPr>
        <p:spPr>
          <a:xfrm>
            <a:off x="9509760" y="4206240"/>
            <a:ext cx="4206240" cy="4206240"/>
          </a:xfrm>
          <a:prstGeom prst="ellipse">
            <a:avLst/>
          </a:prstGeom>
          <a:solidFill>
            <a:srgbClr val="293E7B">
              <a:alpha val="45000"/>
            </a:srgbClr>
          </a:solidFill>
          <a:ln/>
        </p:spPr>
        <p:txBody>
          <a:bodyPr/>
          <a:lstStyle/>
          <a:p>
            <a:endParaRPr lang="en-MY"/>
          </a:p>
        </p:txBody>
      </p:sp>
      <p:sp>
        <p:nvSpPr>
          <p:cNvPr id="3" name="Shape 1"/>
          <p:cNvSpPr/>
          <p:nvPr/>
        </p:nvSpPr>
        <p:spPr>
          <a:xfrm>
            <a:off x="640080" y="1280160"/>
            <a:ext cx="1188720" cy="1188720"/>
          </a:xfrm>
          <a:prstGeom prst="ellipse">
            <a:avLst/>
          </a:prstGeom>
          <a:solidFill>
            <a:srgbClr val="FABA32"/>
          </a:solidFill>
          <a:ln/>
        </p:spPr>
        <p:txBody>
          <a:bodyPr/>
          <a:lstStyle/>
          <a:p>
            <a:endParaRPr lang="en-MY"/>
          </a:p>
        </p:txBody>
      </p:sp>
      <p:pic>
        <p:nvPicPr>
          <p:cNvPr id="4" name="Image 0" descr="preencoded.png"/>
          <p:cNvPicPr>
            <a:picLocks noChangeAspect="1"/>
          </p:cNvPicPr>
          <p:nvPr/>
        </p:nvPicPr>
        <p:blipFill>
          <a:blip r:embed="rId3"/>
          <a:stretch>
            <a:fillRect/>
          </a:stretch>
        </p:blipFill>
        <p:spPr>
          <a:xfrm>
            <a:off x="925373" y="1565453"/>
            <a:ext cx="618134" cy="618134"/>
          </a:xfrm>
          <a:prstGeom prst="rect">
            <a:avLst/>
          </a:prstGeom>
        </p:spPr>
      </p:pic>
      <p:sp>
        <p:nvSpPr>
          <p:cNvPr id="5" name="Text 2"/>
          <p:cNvSpPr/>
          <p:nvPr/>
        </p:nvSpPr>
        <p:spPr>
          <a:xfrm>
            <a:off x="640080" y="2651760"/>
            <a:ext cx="10058400" cy="822960"/>
          </a:xfrm>
          <a:prstGeom prst="rect">
            <a:avLst/>
          </a:prstGeom>
          <a:noFill/>
          <a:ln/>
        </p:spPr>
        <p:txBody>
          <a:bodyPr wrap="square" lIns="0" tIns="0" rIns="0" bIns="0"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Discussion &amp; Q&amp;A</a:t>
            </a:r>
            <a:endParaRPr lang="en-US" sz="3600" dirty="0"/>
          </a:p>
        </p:txBody>
      </p:sp>
      <p:sp>
        <p:nvSpPr>
          <p:cNvPr id="6" name="Text 3"/>
          <p:cNvSpPr/>
          <p:nvPr/>
        </p:nvSpPr>
        <p:spPr>
          <a:xfrm>
            <a:off x="640080" y="3611880"/>
            <a:ext cx="10058400" cy="1463040"/>
          </a:xfrm>
          <a:prstGeom prst="rect">
            <a:avLst/>
          </a:prstGeom>
          <a:noFill/>
          <a:ln/>
        </p:spPr>
        <p:txBody>
          <a:bodyPr wrap="square" lIns="0" tIns="0" rIns="0" bIns="0" rtlCol="0" anchor="t"/>
          <a:lstStyle/>
          <a:p>
            <a:pPr marL="342900" indent="-342900">
              <a:lnSpc>
                <a:spcPct val="130000"/>
              </a:lnSpc>
              <a:buSzPct val="100000"/>
              <a:buChar char="•"/>
            </a:pPr>
            <a:r>
              <a:rPr lang="en-US" sz="1650" dirty="0">
                <a:solidFill>
                  <a:srgbClr val="B6E0F2"/>
                </a:solidFill>
                <a:latin typeface="Calibri" pitchFamily="34" charset="0"/>
                <a:ea typeface="Calibri" pitchFamily="34" charset="-122"/>
                <a:cs typeface="Calibri" pitchFamily="34" charset="-120"/>
              </a:rPr>
              <a:t>Is MFA enough on its own to prevent account attacks? Why or why not?</a:t>
            </a:r>
            <a:endParaRPr lang="en-US" sz="1650" dirty="0"/>
          </a:p>
          <a:p>
            <a:pPr marL="0" indent="0">
              <a:lnSpc>
                <a:spcPct val="130000"/>
              </a:lnSpc>
              <a:buNone/>
            </a:pPr>
            <a:r>
              <a:rPr lang="en-US" sz="1650" dirty="0">
                <a:solidFill>
                  <a:srgbClr val="B6E0F2"/>
                </a:solidFill>
                <a:latin typeface="Calibri" pitchFamily="34" charset="0"/>
                <a:ea typeface="Calibri" pitchFamily="34" charset="-122"/>
                <a:cs typeface="Calibri" pitchFamily="34" charset="-120"/>
              </a:rPr>
              <a:t>Which access control — authentication, authorization, or monitoring — would you strengthen first, and why?</a:t>
            </a:r>
            <a:endParaRPr lang="en-US" sz="1650" dirty="0"/>
          </a:p>
        </p:txBody>
      </p:sp>
      <p:sp>
        <p:nvSpPr>
          <p:cNvPr id="7" name="Text 4"/>
          <p:cNvSpPr/>
          <p:nvPr/>
        </p:nvSpPr>
        <p:spPr>
          <a:xfrm>
            <a:off x="640080" y="5760720"/>
            <a:ext cx="10789920" cy="457200"/>
          </a:xfrm>
          <a:prstGeom prst="rect">
            <a:avLst/>
          </a:prstGeom>
          <a:noFill/>
          <a:ln/>
        </p:spPr>
        <p:txBody>
          <a:bodyPr wrap="square" lIns="0" tIns="0" rIns="0" bIns="0" rtlCol="0" anchor="ctr"/>
          <a:lstStyle/>
          <a:p>
            <a:pPr marL="0" indent="0">
              <a:buNone/>
            </a:pPr>
            <a:r>
              <a:rPr lang="en-US" sz="1300" i="1" dirty="0">
                <a:solidFill>
                  <a:srgbClr val="FABA32"/>
                </a:solidFill>
                <a:latin typeface="Calibri" pitchFamily="34" charset="0"/>
                <a:ea typeface="Calibri" pitchFamily="34" charset="-122"/>
                <a:cs typeface="Calibri" pitchFamily="34" charset="-120"/>
              </a:rPr>
              <a:t>Next week — Lesson 7:  Introduction to Identity Management in Cloud Computing (SSO · federation · provisioning)</a:t>
            </a:r>
            <a:endParaRPr lang="en-US" sz="1300" dirty="0"/>
          </a:p>
        </p:txBody>
      </p:sp>
      <p:pic>
        <p:nvPicPr>
          <p:cNvPr id="8" name="Image 1" descr="/sessions/inspiring-busy-dijkstra/mnt/outputs/build/assets/logo_white_trim.png"/>
          <p:cNvPicPr>
            <a:picLocks noChangeAspect="1"/>
          </p:cNvPicPr>
          <p:nvPr/>
        </p:nvPicPr>
        <p:blipFill>
          <a:blip r:embed="rId4"/>
          <a:stretch>
            <a:fillRect/>
          </a:stretch>
        </p:blipFill>
        <p:spPr>
          <a:xfrm>
            <a:off x="10195560" y="502920"/>
            <a:ext cx="1417320" cy="64396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4371</Words>
  <Application>Microsoft Office PowerPoint</Application>
  <PresentationFormat>Widescreen</PresentationFormat>
  <Paragraphs>301</Paragraphs>
  <Slides>25</Slides>
  <Notes>25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5 — Enforcing Access Control for Cloud Infrastructure</dc:title>
  <dc:subject>PptxGenJS Presentation</dc:subject>
  <dc:creator>Prof. Dr. Shahrulniza Musa</dc:creator>
  <cp:lastModifiedBy>noor hazlina abdul mutalib</cp:lastModifiedBy>
  <cp:revision>1</cp:revision>
  <dcterms:created xsi:type="dcterms:W3CDTF">2026-07-09T09:48:45Z</dcterms:created>
  <dcterms:modified xsi:type="dcterms:W3CDTF">2026-08-23T23:56:28Z</dcterms:modified>
</cp:coreProperties>
</file>