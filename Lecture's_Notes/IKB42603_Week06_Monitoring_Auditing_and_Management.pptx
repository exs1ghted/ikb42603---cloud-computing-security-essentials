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6. By now students understand isolation (Lesson 3), data protection (Lesson 4) and access control (Lesson 5). Today we add the fourth pillar: the ability to SEE what is happening and RESPOND when something goes wrong. Frame it plainly — prevention will eventually fail, so detection and response are what limit the damage. Walk the six outcomes. Note the assessment link: this lesson maps to CLO2 (constructing secure cloud operations and safeguarding data integrity), which is examined through the Lab Assignment; tamper-proof logging in particular is an integrity control. Also mention the Week 6 Test on CLO1 happens this week, so this is a busy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Constructive-alignment slide for the external examiner and MQF accreditation. Lesson 6 maps to CLO2 — constructing secure cloud operations that safeguard data integrity (tamper-proof logging is an integrity control) — aligned to PLO2, MQF Level iii(a), Bloom P3, with the VBE3 integrity value and SC8 problem-solving skill, assessed through the Lab Assignment. Note the Week 6 Test on CLO1 also falls this week, so both CLO1 and CLO2 are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provocation: 'You can't secure what you can't see.' On-premises, you owned the wires and could tap them. In the cloud, visibility is something the provider grants you through telemetry — so monitoring becomes a design decision, not a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the four things monitoring delivers, straight from the CCSK security-monitoring domain. Visibility: continuous insight into activity across your cloud — the 'see and hear' of the environment. Detection: spotting anomalies and attacks early, before they become breaches. Accountability: an audit trail of who did what and when, essential for both security and compliance. Forensics: the evidence you need to investigate an incident after the fact — and evidence is only useful if it was collected before the incident and cannot be tampered with. Stress the last point because it motivates tamper-proof logging later. The recurring theme: logs and events are foundational to security, compliance and risk management all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CCSK Domain 6, the factors that drive complexity. Management plane: the cloud console and APIs control everything administratively — like a captain steering a ship. A single compromised admin credential can reconfigure the whole estate, so the management plane must be monitored above all else. Ephemerality: cloud resources are short-lived — a container or VM may exist for minutes, so if you did not capture its logs while it lived, the evidence is gone. Cloud sprawl: workloads spread across many services and multiple providers, dispersing the data you need to watch. Volume &amp; velocity: the sheer amount of telemetry overwhelms manual review. Shared responsibility: the model means the provider logs some things and you must log others — and the split varies per service, so gaps appear exactly where nobody thought they were responsible. These five are why we need architecture and automation, not just 'turn on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material of monitoring. Before we can build detection, we need to know what data the cloud actually produces and where it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distinction the CCSK material draws clearly and students often blur. Logs are detailed, durable records of all system activity — every Create, Read, Update and Delete operation — stored for long-term analysis. They are rich and good for forensics, but delivery can be delayed and quality varies. Events are lightweight signals of key state changes — typically Create, Update, Delete — triggered in near real time by specific conditions. They are immediate, often available seconds after the activity, but lack the full context of a log; they are what fires an alert. The practical takeaway: use events to know something happened NOW and to trigger response, and use logs to reconstruct exactly WHAT happened afterwards. A good monitoring pipeline uses both — events for speed, logs for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Telemetry is how you 'see and hear' the cloud. Group the sources into the layers CCSK uses. Management-plane logs record administrative actions — every console login, every API call that creates or changes resources; this is your highest-value source because it captures who is doing what to the environment itself, including console authentication failures. Service and application logs capture interactions with specific managed services — load-balancer logs, storage-access logs, database query logs. Resource logs come from the workloads themselves — the operating systems, VMs and software-defined networks recording provisioning, configuration changes and data transfers. Make the point that a complete monitoring strategy pulls from all three layers; relying on only one leaves blind spots. Tie back to shared responsibility: management-plane logs are usually provided by the CSP, but resource-level logging inside your VM is your job to enable.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telemetry is useless if it stays scattered. Now we design the pipeline that collects, centralises and analyses it — ending at the SIEM, the brain of a security operations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drawing the architecture, cover the decisions CCSK flags around storing logs. First, cost: storing large volumes in the cloud versus exporting them externally, plus the egress cost of moving logs out of the provider. Second, integration: your cloud logs often need to combine with logs from other sources, such as an on-premises SIEM, so a hybrid organisation must plan how the two meet. Third, retention: the provider's default retention window is frequently shorter than what compliance regimes — PCI DSS, ISO 27001, local regulation — require, so you must actively extend it. Warn students about the trap of leaving logs only in the CSP's native storage: you may then be locked into the CSP's own analysis tools, which may not integrate with your wider security tooling or meet performance needs. But moving everything back on-premises can be even more expensive in transfer and storage. The answer is usually a deliberate middle path — which is the cascading architecture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CCSK reference design for cloud log management and it is worth drawing on the board too. The idea is hierarchical: each environment — Development, Test and Production — generates its own logs and forwards them to a central log repository. That central system aggregates everything, filters out the noise and promotes the security-relevant records into a dedicated security/audit environment. Finally those curated logs feed the SIEM, which correlates across all environments to identify potential incidents. Explain WHY it cascades rather than sending everything straight to the SIEM: filtering and aggregating at each layer controls cost and noise, keeps the SIEM focused on security-relevant data, and gives you a single pane of glass across otherwise siloed environments. Point out the separate security/audit environment — isolating logs there protects their integrity, which sets up the tamper-proof-logging slide. Walk the arrows left to right and have students trace one log record's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SIEM properly. A SIEM ingests logs and events from across the whole estate and correlates them to surface security incidents that no single log would reveal on its own. Walk the four capabilities. Aggregation: collect and normalise data from many sources into a common format. Correlation: connect related events across sources — a failed login here, a privilege change there, an unusual data transfer moments later — into a single detected pattern. Alerting: notify analysts, and increasingly trigger automated response, when a rule or anomaly fires. Compliance reporting: produce the audit evidence regulators require. The key insight for students: the power of a SIEM is correlation — individually harmless events become a clear attack story when connected. Mention that modern cloud-native equivalents and CDR tools add analytics and machine learning on top, which we cover shortly. Note also that the SIEM is only as good as the telemetry feeding it — garbage in, garbage out — which is why the earlier architecture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integrity value that CLO2 assesses, so give it weight. The first thing a capable attacker does after breaking in is delete or edit the logs to hide their tracks — so logs are only useful if they cannot be altered. Cover the techniques. Write-once / immutable storage, often called WORM or object-lock, means records physically cannot be changed or deleted for a set retention period. Append-only design means new entries are added but existing ones are never modified. Cryptographic hashing chains each record to the previous one — like a blockchain — so any tampering breaks the chain and is instantly detectable. Access separation means the people who operate systems cannot also edit the audit logs; segregation of duties, and forwarding logs to that separate security/audit environment we saw, so an attacker who owns the workload does not own its logs. Time-stamping and synchronised clocks keep the sequence of events legally defensible. Land the point: an integrity-protected log is the difference between knowing what happened and merely guessing. This is exactly the kind of control the Lab Assignment expects students to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now see and trust our data. The final part turns that visibility into action — detecting intrusions, managing posture, and responding to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detection adapts to the cloud. Traditional network IDS/IPS watched traffic at a physical choke point; in the cloud you rarely control the wire, so detection shifts toward the telemetry we've collected and toward provider-native tooling. Signature-based detection matches known bad patterns — reliable for known threats, blind to new ones. Anomaly-based detection learns normal behaviour and flags deviations — catches novel attacks but generates false positives. Then introduce the cloud-native category CCSK highlights: Cloud Detection and Response, or CDR, tools that use advanced analytics, threat intelligence and machine learning to spot suspicious activity and indicators of compromise across cloud environments, then help investigate and respond quickly. The message: in the cloud, your 'sensors' are largely the logs and events from earlier in this lesson, and detection is increasingly analytics-driven rather than perimeter-based.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CCSK stresses that logs alone are not enough at cloud scale — you also need continuous posture management, which asks 'is my cloud configured securely right now?' rather than 'what happened?'. These tools are increasingly bundled under the umbrella term CNAPP, Cloud-Native Application Protection Platform. Walk the members. CSPM, Cloud Security Posture Management, continuously checks IaaS/PaaS configuration for misconfigurations, compliance violations and risks — this is the tool that would have caught the public storage bucket from Lesson 1. CIEM, Cloud Infrastructure Entitlement Management, governs identities and enforces least privilege by revealing who can access what. CDR we just met — detection and response. SSPM does the same posture job for SaaS applications, checking their configuration and entitlements. The unifying idea: posture management is proactive and preventive, detection is reactive; a mature program needs both. Note that CSPM often includes automated remediation, closing misconfigurations without waiting for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exists to trigger response, so end with the incident-response lifecycle, based on the NIST model but with cloud twists. Prepare: have the plan, the logging, and the access ready before anything happens — in the cloud, this means ensuring telemetry is on and immutable in advance, because you cannot collect evidence from a VM that has already been destroyed. Detect &amp; analyse: your SIEM and CDR tools raise and confirm the alert. Contain: limit the damage — in the cloud you can isolate a compromised instance instantly by changing its security group, snapshot it for forensics, or revoke the compromised credentials, all through the API. Eradicate: remove the attacker's foothold — terminate malicious resources, rotate all keys, patch the entry point. Recover: restore clean workloads from known-good images and backups — the cloud makes rebuilding from immutable infrastructure fast. Lessons learned: feed findings back into prepare, updating detections and closing the gap. Emphasise the cloud advantage: automation and API control make containment and recovery far faster than on-premises — if you have prepared. The lifecycle is a loop, not a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closing themes. First, auditing and accountability: the durable audit trail we've built is what proves compliance to frameworks like ISO 27001/27017, PCI DSS and local regulation — a topic we develop fully in Lessons 10 and 11. An auditor asks three questions your logs must answer: who did it, when, and can you prove the record wasn't altered — which is exactly why tamper-proof logging matters. Second, AI for security monitoring, which CCSK highlights as the response to overwhelming data volume. Machine learning enhances anomaly detection by spotting unusual patterns faster than rules; threat hunting by correlating huge, diverse data to surface emerging threats; automated response by shrinking the time between detection and mitigation; and analyst assistance by enriching logs, simulating attacks and reducing alert fatigue. The balanced view students should take: AI is a force-multiplier for the human analyst, not a replacement — it handles scale, humans handle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 the lesson into actionable rules. Enable logging everywhere by default, especially the management plane — you cannot analyse what you never captured. Centralise into a SIEM so correlation is possible across silos. Make logs tamper-proof and store them for the full compliance-required retention. Alert on what matters and tune out noise, or analysts will suffer alert fatigue and miss the real signal. Automate response for well-understood incidents to shrink reaction time. And rehearse incident response before you need it — an untested plan fails under pressure. Tell students these six are the operational checklist behind CLO2, and several map directly to criteria they'll be marked on in the Lab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scenario discussion. At 3 a.m. the SIEM correlates three events: a successful console login from an unfamiliar country, immediately followed by the creation of new access keys, then a large data export from a storage bucket. No single event was blocked; together they form a clear compromise. Ask the questions on the slide. How was it detected? Correlation in the SIEM across management-plane and service logs — none of the three alone would have fired. What contains it fastest? Revoke the new keys and the compromised session, isolate the bucket, snapshot for forensics — all via API in seconds. Why can we trust the evidence? Because the logs were immutable and forwarded to a separate audit environment the attacker couldn't reach. What was the prevention gap? No MFA and no anomaly alert on impossible-travel logins. This case deliberately exercises the whole lesson — telemetry, SIEM correlation, tamper-proof logs, containment. Let pairs report before you reveal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the five ideas. One: cloud monitoring is harder because of the management plane, ephemerality, sprawl and shared responsibility — so it must be designed, not assumed. Two: logs give depth, events give immediacy, and telemetry comes from the management plane, services and resources. Three: a cascading collection architecture feeding a SIEM turns scattered data into detected incidents through correlation. Four: logs are only trustworthy evidence if they are tamper-proof — immutable, append-only, hash-chained, access-separated. Five: monitoring exists to drive response — detect, contain, eradicate, recover, learn — and prepared automation makes cloud response fast. Ask students to state each in their own words. Preview: Lesson 7 turns to identity management — single sign-on, federation and provisioning — which is the other half of controlling who gets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lesson with the two discussion prompts — both are real trade-offs practitioners face. The first tests understanding of retention and export; the answer is to forward logs to your own long-term, immutable storage or SIEM. The second has no single right answer but should surface the argument that trustworthy evidence underpins everything else. Preview Lesson 7 on identity management, and remind students the Lab Assignment assessing CLO2 draws on the monitoring and integrity controls covered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49"/>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93E7B">
              <a:alpha val="45000"/>
            </a:srgbClr>
          </a:solidFill>
          <a:ln/>
        </p:spPr>
      </p:sp>
      <p:sp>
        <p:nvSpPr>
          <p:cNvPr id="3" name="Shape 1"/>
          <p:cNvSpPr/>
          <p:nvPr/>
        </p:nvSpPr>
        <p:spPr>
          <a:xfrm>
            <a:off x="10881360" y="4297680"/>
            <a:ext cx="3108960" cy="3108960"/>
          </a:xfrm>
          <a:prstGeom prst="ellipse">
            <a:avLst/>
          </a:prstGeom>
          <a:solidFill>
            <a:srgbClr val="FABA32">
              <a:alpha val="22000"/>
            </a:srgbClr>
          </a:solidFill>
          <a:ln/>
        </p:spPr>
      </p:sp>
      <p:pic>
        <p:nvPicPr>
          <p:cNvPr id="4" name="Image 0" descr="preencoded.png">    </p:cNvPr>
          <p:cNvPicPr>
            <a:picLocks noChangeAspect="1"/>
          </p:cNvPicPr>
          <p:nvPr/>
        </p:nvPicPr>
        <p:blipFill>
          <a:blip r:embed="rId1"/>
          <a:stretch>
            <a:fillRect/>
          </a:stretch>
        </p:blipFill>
        <p:spPr>
          <a:xfrm>
            <a:off x="7818120" y="502920"/>
            <a:ext cx="4114800" cy="3820886"/>
          </a:xfrm>
          <a:prstGeom prst="rect">
            <a:avLst/>
          </a:prstGeom>
        </p:spPr>
      </p:pic>
      <p:pic>
        <p:nvPicPr>
          <p:cNvPr id="5" name="Image 1" descr="/sessions/inspiring-busy-dijkstra/mnt/outputs/build/assets/logo_white_trim.png">    </p:cNvPr>
          <p:cNvPicPr>
            <a:picLocks noChangeAspect="1"/>
          </p:cNvPicPr>
          <p:nvPr/>
        </p:nvPicPr>
        <p:blipFill>
          <a:blip r:embed="rId2"/>
          <a:stretch>
            <a:fillRect/>
          </a:stretch>
        </p:blipFill>
        <p:spPr>
          <a:xfrm>
            <a:off x="640080" y="502920"/>
            <a:ext cx="2331720" cy="1059423"/>
          </a:xfrm>
          <a:prstGeom prst="rect">
            <a:avLst/>
          </a:prstGeom>
        </p:spPr>
      </p:pic>
      <p:sp>
        <p:nvSpPr>
          <p:cNvPr id="6" name="Shape 2"/>
          <p:cNvSpPr/>
          <p:nvPr/>
        </p:nvSpPr>
        <p:spPr>
          <a:xfrm>
            <a:off x="640080" y="2788920"/>
            <a:ext cx="3063240" cy="457200"/>
          </a:xfrm>
          <a:prstGeom prst="roundRect">
            <a:avLst>
              <a:gd name="adj" fmla="val 16000"/>
            </a:avLst>
          </a:prstGeom>
          <a:solidFill>
            <a:srgbClr val="FABA32"/>
          </a:solidFill>
          <a:ln/>
        </p:spPr>
      </p:sp>
      <p:sp>
        <p:nvSpPr>
          <p:cNvPr id="7" name="Text 3"/>
          <p:cNvSpPr/>
          <p:nvPr/>
        </p:nvSpPr>
        <p:spPr>
          <a:xfrm>
            <a:off x="640080" y="2788920"/>
            <a:ext cx="3063240" cy="457200"/>
          </a:xfrm>
          <a:prstGeom prst="rect">
            <a:avLst/>
          </a:prstGeom>
          <a:noFill/>
          <a:ln/>
        </p:spPr>
        <p:txBody>
          <a:bodyPr wrap="square" lIns="0" tIns="0" rIns="0" bIns="0" rtlCol="0" anchor="ctr"/>
          <a:lstStyle/>
          <a:p>
            <a:pPr algn="ctr" indent="0" marL="0">
              <a:buNone/>
            </a:pPr>
            <a:r>
              <a:rPr lang="en-US" sz="1200" b="1" dirty="0">
                <a:solidFill>
                  <a:srgbClr val="262F65"/>
                </a:solidFill>
                <a:latin typeface="Calibri" pitchFamily="34" charset="0"/>
                <a:ea typeface="Calibri" pitchFamily="34" charset="-122"/>
                <a:cs typeface="Calibri" pitchFamily="34" charset="-120"/>
              </a:rPr>
              <a:t>IKB42603  •  Cloud Security</a:t>
            </a:r>
            <a:endParaRPr lang="en-US" sz="1200" dirty="0"/>
          </a:p>
        </p:txBody>
      </p:sp>
      <p:sp>
        <p:nvSpPr>
          <p:cNvPr id="8" name="Text 4"/>
          <p:cNvSpPr/>
          <p:nvPr/>
        </p:nvSpPr>
        <p:spPr>
          <a:xfrm>
            <a:off x="640080" y="3566160"/>
            <a:ext cx="10058400" cy="36576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WEEK 6  ·  LESSON 6</a:t>
            </a:r>
            <a:endParaRPr lang="en-US" sz="1500" dirty="0"/>
          </a:p>
        </p:txBody>
      </p:sp>
      <p:sp>
        <p:nvSpPr>
          <p:cNvPr id="9" name="Text 5"/>
          <p:cNvSpPr/>
          <p:nvPr/>
        </p:nvSpPr>
        <p:spPr>
          <a:xfrm>
            <a:off x="640080" y="3931920"/>
            <a:ext cx="7040880" cy="1691640"/>
          </a:xfrm>
          <a:prstGeom prst="rect">
            <a:avLst/>
          </a:prstGeom>
          <a:noFill/>
          <a:ln/>
        </p:spPr>
        <p:txBody>
          <a:bodyPr wrap="square" lIns="0" tIns="0" rIns="0" bIns="0" rtlCol="0" anchor="t"/>
          <a:lstStyle/>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Monitoring, Auditing &amp; Management in the Cloud</a:t>
            </a:r>
            <a:endParaRPr lang="en-US" sz="3700" dirty="0"/>
          </a:p>
        </p:txBody>
      </p:sp>
      <p:sp>
        <p:nvSpPr>
          <p:cNvPr id="10" name="Text 6"/>
          <p:cNvSpPr/>
          <p:nvPr/>
        </p:nvSpPr>
        <p:spPr>
          <a:xfrm>
            <a:off x="640080" y="5623560"/>
            <a:ext cx="10424160" cy="640080"/>
          </a:xfrm>
          <a:prstGeom prst="rect">
            <a:avLst/>
          </a:prstGeom>
          <a:noFill/>
          <a:ln/>
        </p:spPr>
        <p:txBody>
          <a:bodyPr wrap="square" lIns="0" tIns="0" rIns="0" bIns="0" rtlCol="0" anchor="ctr"/>
          <a:lstStyle/>
          <a:p>
            <a:pPr indent="0" marL="0">
              <a:buNone/>
            </a:pPr>
            <a:r>
              <a:rPr lang="en-US" sz="1550" i="1" dirty="0">
                <a:solidFill>
                  <a:srgbClr val="B6E0F2"/>
                </a:solidFill>
                <a:latin typeface="Calibri" pitchFamily="34" charset="0"/>
                <a:ea typeface="Calibri" pitchFamily="34" charset="-122"/>
                <a:cs typeface="Calibri" pitchFamily="34" charset="-120"/>
              </a:rPr>
              <a:t>Logs &amp; telemetry · SIEM · Intrusion detection · Tamper-proof logs · Incident response</a:t>
            </a:r>
            <a:endParaRPr lang="en-US" sz="1550" dirty="0"/>
          </a:p>
        </p:txBody>
      </p:sp>
      <p:sp>
        <p:nvSpPr>
          <p:cNvPr id="11" name="Text 7"/>
          <p:cNvSpPr/>
          <p:nvPr/>
        </p:nvSpPr>
        <p:spPr>
          <a:xfrm>
            <a:off x="640080" y="6355080"/>
            <a:ext cx="10972800" cy="320040"/>
          </a:xfrm>
          <a:prstGeom prst="rect">
            <a:avLst/>
          </a:prstGeom>
          <a:noFill/>
          <a:ln/>
        </p:spPr>
        <p:txBody>
          <a:bodyPr wrap="square" lIns="0" tIns="0" rIns="0" bIns="0" rtlCol="0" anchor="ctr"/>
          <a:lstStyle/>
          <a:p>
            <a:pPr indent="0" marL="0">
              <a:buNone/>
            </a:pPr>
            <a:r>
              <a:rPr lang="en-US" sz="1100" dirty="0">
                <a:solidFill>
                  <a:srgbClr val="9AA6C9"/>
                </a:solidFill>
                <a:latin typeface="Calibri" pitchFamily="34" charset="0"/>
                <a:ea typeface="Calibri" pitchFamily="34" charset="-122"/>
                <a:cs typeface="Calibri" pitchFamily="34" charset="-120"/>
              </a:rPr>
              <a:t>Universiti Kuala Lumpur  ·  UniKL MIIT   |   Prof. Dr. Shahrulniza Musa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LEARNING OUTCOMES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you will be able to do</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
        <p:nvSpPr>
          <p:cNvPr id="7" name="Shape 4"/>
          <p:cNvSpPr/>
          <p:nvPr/>
        </p:nvSpPr>
        <p:spPr>
          <a:xfrm>
            <a:off x="1737360" y="160020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8" name="Text 5"/>
          <p:cNvSpPr/>
          <p:nvPr/>
        </p:nvSpPr>
        <p:spPr>
          <a:xfrm>
            <a:off x="1965960" y="1764792"/>
            <a:ext cx="4800600" cy="45720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1.  </a:t>
            </a:r>
            <a:pPr indent="0" marL="0">
              <a:buNone/>
            </a:pPr>
            <a:r>
              <a:rPr lang="en-US" sz="1500" b="1" dirty="0">
                <a:solidFill>
                  <a:srgbClr val="262F65"/>
                </a:solidFill>
                <a:latin typeface="Calibri" pitchFamily="34" charset="0"/>
                <a:ea typeface="Calibri" pitchFamily="34" charset="-122"/>
                <a:cs typeface="Calibri" pitchFamily="34" charset="-120"/>
              </a:rPr>
              <a:t>Explain why cloud monitoring differs</a:t>
            </a:r>
            <a:endParaRPr lang="en-US" sz="1500" dirty="0"/>
          </a:p>
        </p:txBody>
      </p:sp>
      <p:sp>
        <p:nvSpPr>
          <p:cNvPr id="9" name="Text 6"/>
          <p:cNvSpPr/>
          <p:nvPr/>
        </p:nvSpPr>
        <p:spPr>
          <a:xfrm>
            <a:off x="1965960" y="2258568"/>
            <a:ext cx="4800600" cy="64008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Management plane, ephemerality, sprawl, shared responsibility.</a:t>
            </a:r>
            <a:endParaRPr lang="en-US" sz="1250" dirty="0"/>
          </a:p>
        </p:txBody>
      </p:sp>
      <p:sp>
        <p:nvSpPr>
          <p:cNvPr id="10" name="Shape 7"/>
          <p:cNvSpPr/>
          <p:nvPr/>
        </p:nvSpPr>
        <p:spPr>
          <a:xfrm>
            <a:off x="7315200" y="160020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1" name="Text 8"/>
          <p:cNvSpPr/>
          <p:nvPr/>
        </p:nvSpPr>
        <p:spPr>
          <a:xfrm>
            <a:off x="7543800" y="1764792"/>
            <a:ext cx="4800600" cy="45720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2.  </a:t>
            </a:r>
            <a:pPr indent="0" marL="0">
              <a:buNone/>
            </a:pPr>
            <a:r>
              <a:rPr lang="en-US" sz="1500" b="1" dirty="0">
                <a:solidFill>
                  <a:srgbClr val="262F65"/>
                </a:solidFill>
                <a:latin typeface="Calibri" pitchFamily="34" charset="0"/>
                <a:ea typeface="Calibri" pitchFamily="34" charset="-122"/>
                <a:cs typeface="Calibri" pitchFamily="34" charset="-120"/>
              </a:rPr>
              <a:t>Distinguish logs, events &amp; telemetry</a:t>
            </a:r>
            <a:endParaRPr lang="en-US" sz="1500" dirty="0"/>
          </a:p>
        </p:txBody>
      </p:sp>
      <p:sp>
        <p:nvSpPr>
          <p:cNvPr id="12" name="Text 9"/>
          <p:cNvSpPr/>
          <p:nvPr/>
        </p:nvSpPr>
        <p:spPr>
          <a:xfrm>
            <a:off x="7543800" y="2258568"/>
            <a:ext cx="4800600" cy="64008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And the main cloud telemetry sources.</a:t>
            </a:r>
            <a:endParaRPr lang="en-US" sz="1250" dirty="0"/>
          </a:p>
        </p:txBody>
      </p:sp>
      <p:sp>
        <p:nvSpPr>
          <p:cNvPr id="13" name="Shape 10"/>
          <p:cNvSpPr/>
          <p:nvPr/>
        </p:nvSpPr>
        <p:spPr>
          <a:xfrm>
            <a:off x="1737360" y="315468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4" name="Text 11"/>
          <p:cNvSpPr/>
          <p:nvPr/>
        </p:nvSpPr>
        <p:spPr>
          <a:xfrm>
            <a:off x="1965960" y="3319272"/>
            <a:ext cx="4800600" cy="45720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3.  </a:t>
            </a:r>
            <a:pPr indent="0" marL="0">
              <a:buNone/>
            </a:pPr>
            <a:r>
              <a:rPr lang="en-US" sz="1500" b="1" dirty="0">
                <a:solidFill>
                  <a:srgbClr val="262F65"/>
                </a:solidFill>
                <a:latin typeface="Calibri" pitchFamily="34" charset="0"/>
                <a:ea typeface="Calibri" pitchFamily="34" charset="-122"/>
                <a:cs typeface="Calibri" pitchFamily="34" charset="-120"/>
              </a:rPr>
              <a:t>Design a log collection architecture</a:t>
            </a:r>
            <a:endParaRPr lang="en-US" sz="1500" dirty="0"/>
          </a:p>
        </p:txBody>
      </p:sp>
      <p:sp>
        <p:nvSpPr>
          <p:cNvPr id="15" name="Text 12"/>
          <p:cNvSpPr/>
          <p:nvPr/>
        </p:nvSpPr>
        <p:spPr>
          <a:xfrm>
            <a:off x="1965960" y="3813048"/>
            <a:ext cx="4800600" cy="64008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Cascading collection feeding a SIEM.</a:t>
            </a:r>
            <a:endParaRPr lang="en-US" sz="1250" dirty="0"/>
          </a:p>
        </p:txBody>
      </p:sp>
      <p:sp>
        <p:nvSpPr>
          <p:cNvPr id="16" name="Shape 13"/>
          <p:cNvSpPr/>
          <p:nvPr/>
        </p:nvSpPr>
        <p:spPr>
          <a:xfrm>
            <a:off x="7315200" y="315468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7" name="Text 14"/>
          <p:cNvSpPr/>
          <p:nvPr/>
        </p:nvSpPr>
        <p:spPr>
          <a:xfrm>
            <a:off x="7543800" y="3319272"/>
            <a:ext cx="4800600" cy="45720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4.  </a:t>
            </a:r>
            <a:pPr indent="0" marL="0">
              <a:buNone/>
            </a:pPr>
            <a:r>
              <a:rPr lang="en-US" sz="1500" b="1" dirty="0">
                <a:solidFill>
                  <a:srgbClr val="262F65"/>
                </a:solidFill>
                <a:latin typeface="Calibri" pitchFamily="34" charset="0"/>
                <a:ea typeface="Calibri" pitchFamily="34" charset="-122"/>
                <a:cs typeface="Calibri" pitchFamily="34" charset="-120"/>
              </a:rPr>
              <a:t>Describe SIEM &amp; intrusion detection</a:t>
            </a:r>
            <a:endParaRPr lang="en-US" sz="1500" dirty="0"/>
          </a:p>
        </p:txBody>
      </p:sp>
      <p:sp>
        <p:nvSpPr>
          <p:cNvPr id="18" name="Text 15"/>
          <p:cNvSpPr/>
          <p:nvPr/>
        </p:nvSpPr>
        <p:spPr>
          <a:xfrm>
            <a:off x="7543800" y="3813048"/>
            <a:ext cx="4800600" cy="64008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Correlation, alerting and cloud detection &amp; response.</a:t>
            </a:r>
            <a:endParaRPr lang="en-US" sz="1250" dirty="0"/>
          </a:p>
        </p:txBody>
      </p:sp>
      <p:sp>
        <p:nvSpPr>
          <p:cNvPr id="19" name="Shape 16"/>
          <p:cNvSpPr/>
          <p:nvPr/>
        </p:nvSpPr>
        <p:spPr>
          <a:xfrm>
            <a:off x="1737360" y="470916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0" name="Text 17"/>
          <p:cNvSpPr/>
          <p:nvPr/>
        </p:nvSpPr>
        <p:spPr>
          <a:xfrm>
            <a:off x="1965960" y="4873752"/>
            <a:ext cx="4800600" cy="45720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5.  </a:t>
            </a:r>
            <a:pPr indent="0" marL="0">
              <a:buNone/>
            </a:pPr>
            <a:r>
              <a:rPr lang="en-US" sz="1500" b="1" dirty="0">
                <a:solidFill>
                  <a:srgbClr val="262F65"/>
                </a:solidFill>
                <a:latin typeface="Calibri" pitchFamily="34" charset="0"/>
                <a:ea typeface="Calibri" pitchFamily="34" charset="-122"/>
                <a:cs typeface="Calibri" pitchFamily="34" charset="-120"/>
              </a:rPr>
              <a:t>Protect log integrity</a:t>
            </a:r>
            <a:endParaRPr lang="en-US" sz="1500" dirty="0"/>
          </a:p>
        </p:txBody>
      </p:sp>
      <p:sp>
        <p:nvSpPr>
          <p:cNvPr id="21" name="Text 18"/>
          <p:cNvSpPr/>
          <p:nvPr/>
        </p:nvSpPr>
        <p:spPr>
          <a:xfrm>
            <a:off x="1965960" y="5367528"/>
            <a:ext cx="4800600" cy="64008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Tamper-proof, immutable, append-only logging.</a:t>
            </a:r>
            <a:endParaRPr lang="en-US" sz="1250" dirty="0"/>
          </a:p>
        </p:txBody>
      </p:sp>
      <p:sp>
        <p:nvSpPr>
          <p:cNvPr id="22" name="Shape 19"/>
          <p:cNvSpPr/>
          <p:nvPr/>
        </p:nvSpPr>
        <p:spPr>
          <a:xfrm>
            <a:off x="7315200" y="470916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3" name="Text 20"/>
          <p:cNvSpPr/>
          <p:nvPr/>
        </p:nvSpPr>
        <p:spPr>
          <a:xfrm>
            <a:off x="7543800" y="4873752"/>
            <a:ext cx="4800600" cy="45720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6.  </a:t>
            </a:r>
            <a:pPr indent="0" marL="0">
              <a:buNone/>
            </a:pPr>
            <a:r>
              <a:rPr lang="en-US" sz="1500" b="1" dirty="0">
                <a:solidFill>
                  <a:srgbClr val="262F65"/>
                </a:solidFill>
                <a:latin typeface="Calibri" pitchFamily="34" charset="0"/>
                <a:ea typeface="Calibri" pitchFamily="34" charset="-122"/>
                <a:cs typeface="Calibri" pitchFamily="34" charset="-120"/>
              </a:rPr>
              <a:t>Run cloud incident response</a:t>
            </a:r>
            <a:endParaRPr lang="en-US" sz="1500" dirty="0"/>
          </a:p>
        </p:txBody>
      </p:sp>
      <p:sp>
        <p:nvSpPr>
          <p:cNvPr id="24" name="Text 21"/>
          <p:cNvSpPr/>
          <p:nvPr/>
        </p:nvSpPr>
        <p:spPr>
          <a:xfrm>
            <a:off x="7543800" y="5367528"/>
            <a:ext cx="4800600" cy="64008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Detect, contain, eradicate, recover, learn.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CONSTRUCTIVE ALIGNMENT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Curriculum alignment — CLO · PLO · MQF · clusters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508760"/>
            <a:ext cx="10881360" cy="1325880"/>
          </a:xfrm>
          <a:prstGeom prst="roundRect">
            <a:avLst>
              <a:gd name="adj" fmla="val 6207"/>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847088"/>
            <a:ext cx="1600200" cy="658368"/>
          </a:xfrm>
          <a:prstGeom prst="roundRect">
            <a:avLst>
              <a:gd name="adj" fmla="val 13889"/>
            </a:avLst>
          </a:prstGeom>
          <a:solidFill>
            <a:srgbClr val="FABA32"/>
          </a:solidFill>
          <a:ln/>
        </p:spPr>
      </p:sp>
      <p:sp>
        <p:nvSpPr>
          <p:cNvPr id="9" name="Text 6"/>
          <p:cNvSpPr/>
          <p:nvPr/>
        </p:nvSpPr>
        <p:spPr>
          <a:xfrm>
            <a:off x="960120" y="1847088"/>
            <a:ext cx="1600200" cy="658368"/>
          </a:xfrm>
          <a:prstGeom prst="rect">
            <a:avLst/>
          </a:prstGeom>
          <a:noFill/>
          <a:ln/>
        </p:spPr>
        <p:txBody>
          <a:bodyPr wrap="square" lIns="0" tIns="0" rIns="0" bIns="0" rtlCol="0" anchor="ctr"/>
          <a:lstStyle/>
          <a:p>
            <a:pPr algn="ctr" indent="0" marL="0">
              <a:buNone/>
            </a:pPr>
            <a:r>
              <a:rPr lang="en-US" sz="2100" b="1" dirty="0">
                <a:solidFill>
                  <a:srgbClr val="262F65"/>
                </a:solidFill>
                <a:latin typeface="Cambria" pitchFamily="34" charset="0"/>
                <a:ea typeface="Cambria" pitchFamily="34" charset="-122"/>
                <a:cs typeface="Cambria" pitchFamily="34" charset="-120"/>
              </a:rPr>
              <a:t>CLO 2</a:t>
            </a:r>
            <a:endParaRPr lang="en-US" sz="2100" dirty="0"/>
          </a:p>
        </p:txBody>
      </p:sp>
      <p:sp>
        <p:nvSpPr>
          <p:cNvPr id="10" name="Text 7"/>
          <p:cNvSpPr/>
          <p:nvPr/>
        </p:nvSpPr>
        <p:spPr>
          <a:xfrm>
            <a:off x="2788920" y="1691640"/>
            <a:ext cx="8366760" cy="96012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Construct secure cloud computing operations that safeguard data integrity.</a:t>
            </a:r>
            <a:endParaRPr lang="en-US" sz="1550" dirty="0"/>
          </a:p>
        </p:txBody>
      </p:sp>
      <p:sp>
        <p:nvSpPr>
          <p:cNvPr id="11" name="Shape 8"/>
          <p:cNvSpPr/>
          <p:nvPr/>
        </p:nvSpPr>
        <p:spPr>
          <a:xfrm>
            <a:off x="640080"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2" name="Shape 9"/>
          <p:cNvSpPr/>
          <p:nvPr/>
        </p:nvSpPr>
        <p:spPr>
          <a:xfrm>
            <a:off x="2002536" y="3383280"/>
            <a:ext cx="731520" cy="731520"/>
          </a:xfrm>
          <a:prstGeom prst="ellipse">
            <a:avLst/>
          </a:prstGeom>
          <a:solidFill>
            <a:srgbClr val="262F65"/>
          </a:solidFill>
          <a:ln/>
        </p:spPr>
      </p:sp>
      <p:pic>
        <p:nvPicPr>
          <p:cNvPr id="13" name="Image 0" descr="preencoded.png">    </p:cNvPr>
          <p:cNvPicPr>
            <a:picLocks noChangeAspect="1"/>
          </p:cNvPicPr>
          <p:nvPr/>
        </p:nvPicPr>
        <p:blipFill>
          <a:blip r:embed="rId1"/>
          <a:stretch>
            <a:fillRect/>
          </a:stretch>
        </p:blipFill>
        <p:spPr>
          <a:xfrm>
            <a:off x="2178101" y="3558845"/>
            <a:ext cx="380390" cy="380390"/>
          </a:xfrm>
          <a:prstGeom prst="rect">
            <a:avLst/>
          </a:prstGeom>
        </p:spPr>
      </p:pic>
      <p:sp>
        <p:nvSpPr>
          <p:cNvPr id="14" name="Text 10"/>
          <p:cNvSpPr/>
          <p:nvPr/>
        </p:nvSpPr>
        <p:spPr>
          <a:xfrm>
            <a:off x="731520"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Programme outcome</a:t>
            </a:r>
            <a:endParaRPr lang="en-US" sz="1300" dirty="0"/>
          </a:p>
        </p:txBody>
      </p:sp>
      <p:sp>
        <p:nvSpPr>
          <p:cNvPr id="15" name="Text 11"/>
          <p:cNvSpPr/>
          <p:nvPr/>
        </p:nvSpPr>
        <p:spPr>
          <a:xfrm>
            <a:off x="749808"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PLO2 · Cognitive Skills</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MQF Level iii(a)</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Bloom P3 (Precision)</a:t>
            </a:r>
            <a:endParaRPr lang="en-US" sz="1100" dirty="0"/>
          </a:p>
        </p:txBody>
      </p:sp>
      <p:sp>
        <p:nvSpPr>
          <p:cNvPr id="16" name="Shape 12"/>
          <p:cNvSpPr/>
          <p:nvPr/>
        </p:nvSpPr>
        <p:spPr>
          <a:xfrm>
            <a:off x="4352544"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7" name="Shape 13"/>
          <p:cNvSpPr/>
          <p:nvPr/>
        </p:nvSpPr>
        <p:spPr>
          <a:xfrm>
            <a:off x="5715000" y="3383280"/>
            <a:ext cx="731520" cy="731520"/>
          </a:xfrm>
          <a:prstGeom prst="ellipse">
            <a:avLst/>
          </a:prstGeom>
          <a:solidFill>
            <a:srgbClr val="F2931F"/>
          </a:solidFill>
          <a:ln/>
        </p:spPr>
      </p:sp>
      <p:pic>
        <p:nvPicPr>
          <p:cNvPr id="18" name="Image 1" descr="preencoded.png">    </p:cNvPr>
          <p:cNvPicPr>
            <a:picLocks noChangeAspect="1"/>
          </p:cNvPicPr>
          <p:nvPr/>
        </p:nvPicPr>
        <p:blipFill>
          <a:blip r:embed="rId2"/>
          <a:stretch>
            <a:fillRect/>
          </a:stretch>
        </p:blipFill>
        <p:spPr>
          <a:xfrm>
            <a:off x="5890565" y="3558845"/>
            <a:ext cx="380390" cy="380390"/>
          </a:xfrm>
          <a:prstGeom prst="rect">
            <a:avLst/>
          </a:prstGeom>
        </p:spPr>
      </p:pic>
      <p:sp>
        <p:nvSpPr>
          <p:cNvPr id="19" name="Text 14"/>
          <p:cNvSpPr/>
          <p:nvPr/>
        </p:nvSpPr>
        <p:spPr>
          <a:xfrm>
            <a:off x="4443984"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Values &amp; skills</a:t>
            </a:r>
            <a:endParaRPr lang="en-US" sz="1300" dirty="0"/>
          </a:p>
        </p:txBody>
      </p:sp>
      <p:sp>
        <p:nvSpPr>
          <p:cNvPr id="20" name="Text 15"/>
          <p:cNvSpPr/>
          <p:nvPr/>
        </p:nvSpPr>
        <p:spPr>
          <a:xfrm>
            <a:off x="4462272"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VBE3 · Integrity</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SC8 · Problem-Solving</a:t>
            </a:r>
            <a:endParaRPr lang="en-US" sz="1100" dirty="0"/>
          </a:p>
        </p:txBody>
      </p:sp>
      <p:sp>
        <p:nvSpPr>
          <p:cNvPr id="21" name="Shape 16"/>
          <p:cNvSpPr/>
          <p:nvPr/>
        </p:nvSpPr>
        <p:spPr>
          <a:xfrm>
            <a:off x="8065008"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22" name="Shape 17"/>
          <p:cNvSpPr/>
          <p:nvPr/>
        </p:nvSpPr>
        <p:spPr>
          <a:xfrm>
            <a:off x="9427464" y="3383280"/>
            <a:ext cx="731520" cy="731520"/>
          </a:xfrm>
          <a:prstGeom prst="ellipse">
            <a:avLst/>
          </a:prstGeom>
          <a:solidFill>
            <a:srgbClr val="262F65"/>
          </a:solidFill>
          <a:ln/>
        </p:spPr>
      </p:sp>
      <p:pic>
        <p:nvPicPr>
          <p:cNvPr id="23" name="Image 2" descr="preencoded.png">    </p:cNvPr>
          <p:cNvPicPr>
            <a:picLocks noChangeAspect="1"/>
          </p:cNvPicPr>
          <p:nvPr/>
        </p:nvPicPr>
        <p:blipFill>
          <a:blip r:embed="rId3"/>
          <a:stretch>
            <a:fillRect/>
          </a:stretch>
        </p:blipFill>
        <p:spPr>
          <a:xfrm>
            <a:off x="9603029" y="3558845"/>
            <a:ext cx="380390" cy="380390"/>
          </a:xfrm>
          <a:prstGeom prst="rect">
            <a:avLst/>
          </a:prstGeom>
        </p:spPr>
      </p:pic>
      <p:sp>
        <p:nvSpPr>
          <p:cNvPr id="24" name="Text 18"/>
          <p:cNvSpPr/>
          <p:nvPr/>
        </p:nvSpPr>
        <p:spPr>
          <a:xfrm>
            <a:off x="8156448"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Assessment</a:t>
            </a:r>
            <a:endParaRPr lang="en-US" sz="1300" dirty="0"/>
          </a:p>
        </p:txBody>
      </p:sp>
      <p:sp>
        <p:nvSpPr>
          <p:cNvPr id="25" name="Text 19"/>
          <p:cNvSpPr/>
          <p:nvPr/>
        </p:nvSpPr>
        <p:spPr>
          <a:xfrm>
            <a:off x="8174736"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Lab Assignment</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Test — CLO1 (this week)</a:t>
            </a:r>
            <a:endParaRPr lang="en-US" sz="1100" dirty="0"/>
          </a:p>
        </p:txBody>
      </p:sp>
      <p:sp>
        <p:nvSpPr>
          <p:cNvPr id="26" name="Text 20"/>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Constructive alignment: CLO → PLO → MQF, with VBE (values) and SC (skills) clusters, assessed as shown.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01</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1</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Why Monitoring Is Different in the Cloud</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PURPOSE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monitoring buys you</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640080" y="1783080"/>
            <a:ext cx="2606040" cy="3108960"/>
          </a:xfrm>
          <a:prstGeom prst="roundRect">
            <a:avLst>
              <a:gd name="adj" fmla="val 3158"/>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508760" y="210312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717243" y="2311603"/>
            <a:ext cx="451714" cy="451714"/>
          </a:xfrm>
          <a:prstGeom prst="rect">
            <a:avLst/>
          </a:prstGeom>
        </p:spPr>
      </p:pic>
      <p:sp>
        <p:nvSpPr>
          <p:cNvPr id="10" name="Text 6"/>
          <p:cNvSpPr/>
          <p:nvPr/>
        </p:nvSpPr>
        <p:spPr>
          <a:xfrm>
            <a:off x="777240" y="3108960"/>
            <a:ext cx="2331720" cy="457200"/>
          </a:xfrm>
          <a:prstGeom prst="rect">
            <a:avLst/>
          </a:prstGeom>
          <a:noFill/>
          <a:ln/>
        </p:spPr>
        <p:txBody>
          <a:bodyPr wrap="square" lIns="0" tIns="0" rIns="0" bIns="0" rtlCol="0" anchor="ctr"/>
          <a:lstStyle/>
          <a:p>
            <a:pPr algn="ctr" indent="0" marL="0">
              <a:buNone/>
            </a:pPr>
            <a:r>
              <a:rPr lang="en-US" sz="1600" b="1" dirty="0">
                <a:solidFill>
                  <a:srgbClr val="262F65"/>
                </a:solidFill>
                <a:latin typeface="Calibri" pitchFamily="34" charset="0"/>
                <a:ea typeface="Calibri" pitchFamily="34" charset="-122"/>
                <a:cs typeface="Calibri" pitchFamily="34" charset="-120"/>
              </a:rPr>
              <a:t>Visibility</a:t>
            </a:r>
            <a:endParaRPr lang="en-US" sz="1600" dirty="0"/>
          </a:p>
        </p:txBody>
      </p:sp>
      <p:sp>
        <p:nvSpPr>
          <p:cNvPr id="11" name="Text 7"/>
          <p:cNvSpPr/>
          <p:nvPr/>
        </p:nvSpPr>
        <p:spPr>
          <a:xfrm>
            <a:off x="822960" y="3611880"/>
            <a:ext cx="2240280" cy="1188720"/>
          </a:xfrm>
          <a:prstGeom prst="rect">
            <a:avLst/>
          </a:prstGeom>
          <a:noFill/>
          <a:ln/>
        </p:spPr>
        <p:txBody>
          <a:bodyPr wrap="square" lIns="0" tIns="0" rIns="0" bIns="0" rtlCol="0" anchor="t"/>
          <a:lstStyle/>
          <a:p>
            <a:pPr algn="ctr" indent="0" marL="0">
              <a:buNone/>
            </a:pPr>
            <a:r>
              <a:rPr lang="en-US" sz="1250" dirty="0">
                <a:solidFill>
                  <a:srgbClr val="5B6472"/>
                </a:solidFill>
                <a:latin typeface="Calibri" pitchFamily="34" charset="0"/>
                <a:ea typeface="Calibri" pitchFamily="34" charset="-122"/>
                <a:cs typeface="Calibri" pitchFamily="34" charset="-120"/>
              </a:rPr>
              <a:t>Continuous insight into activity across every cloud service.</a:t>
            </a:r>
            <a:endParaRPr lang="en-US" sz="1250" dirty="0"/>
          </a:p>
        </p:txBody>
      </p:sp>
      <p:sp>
        <p:nvSpPr>
          <p:cNvPr id="12" name="Shape 8"/>
          <p:cNvSpPr/>
          <p:nvPr/>
        </p:nvSpPr>
        <p:spPr>
          <a:xfrm>
            <a:off x="3502152" y="1783080"/>
            <a:ext cx="2606040" cy="3108960"/>
          </a:xfrm>
          <a:prstGeom prst="roundRect">
            <a:avLst>
              <a:gd name="adj" fmla="val 3158"/>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4370832" y="2103120"/>
            <a:ext cx="868680" cy="868680"/>
          </a:xfrm>
          <a:prstGeom prst="ellipse">
            <a:avLst/>
          </a:prstGeom>
          <a:solidFill>
            <a:srgbClr val="293E7B"/>
          </a:solidFill>
          <a:ln/>
        </p:spPr>
      </p:sp>
      <p:pic>
        <p:nvPicPr>
          <p:cNvPr id="14" name="Image 1" descr="preencoded.png">    </p:cNvPr>
          <p:cNvPicPr>
            <a:picLocks noChangeAspect="1"/>
          </p:cNvPicPr>
          <p:nvPr/>
        </p:nvPicPr>
        <p:blipFill>
          <a:blip r:embed="rId2"/>
          <a:stretch>
            <a:fillRect/>
          </a:stretch>
        </p:blipFill>
        <p:spPr>
          <a:xfrm>
            <a:off x="4579315" y="2311603"/>
            <a:ext cx="451714" cy="451714"/>
          </a:xfrm>
          <a:prstGeom prst="rect">
            <a:avLst/>
          </a:prstGeom>
        </p:spPr>
      </p:pic>
      <p:sp>
        <p:nvSpPr>
          <p:cNvPr id="15" name="Text 10"/>
          <p:cNvSpPr/>
          <p:nvPr/>
        </p:nvSpPr>
        <p:spPr>
          <a:xfrm>
            <a:off x="3639312" y="3108960"/>
            <a:ext cx="2331720" cy="457200"/>
          </a:xfrm>
          <a:prstGeom prst="rect">
            <a:avLst/>
          </a:prstGeom>
          <a:noFill/>
          <a:ln/>
        </p:spPr>
        <p:txBody>
          <a:bodyPr wrap="square" lIns="0" tIns="0" rIns="0" bIns="0" rtlCol="0" anchor="ctr"/>
          <a:lstStyle/>
          <a:p>
            <a:pPr algn="ctr" indent="0" marL="0">
              <a:buNone/>
            </a:pPr>
            <a:r>
              <a:rPr lang="en-US" sz="1600" b="1" dirty="0">
                <a:solidFill>
                  <a:srgbClr val="262F65"/>
                </a:solidFill>
                <a:latin typeface="Calibri" pitchFamily="34" charset="0"/>
                <a:ea typeface="Calibri" pitchFamily="34" charset="-122"/>
                <a:cs typeface="Calibri" pitchFamily="34" charset="-120"/>
              </a:rPr>
              <a:t>Detection</a:t>
            </a:r>
            <a:endParaRPr lang="en-US" sz="1600" dirty="0"/>
          </a:p>
        </p:txBody>
      </p:sp>
      <p:sp>
        <p:nvSpPr>
          <p:cNvPr id="16" name="Text 11"/>
          <p:cNvSpPr/>
          <p:nvPr/>
        </p:nvSpPr>
        <p:spPr>
          <a:xfrm>
            <a:off x="3685032" y="3611880"/>
            <a:ext cx="2240280" cy="1188720"/>
          </a:xfrm>
          <a:prstGeom prst="rect">
            <a:avLst/>
          </a:prstGeom>
          <a:noFill/>
          <a:ln/>
        </p:spPr>
        <p:txBody>
          <a:bodyPr wrap="square" lIns="0" tIns="0" rIns="0" bIns="0" rtlCol="0" anchor="t"/>
          <a:lstStyle/>
          <a:p>
            <a:pPr algn="ctr" indent="0" marL="0">
              <a:buNone/>
            </a:pPr>
            <a:r>
              <a:rPr lang="en-US" sz="1250" dirty="0">
                <a:solidFill>
                  <a:srgbClr val="5B6472"/>
                </a:solidFill>
                <a:latin typeface="Calibri" pitchFamily="34" charset="0"/>
                <a:ea typeface="Calibri" pitchFamily="34" charset="-122"/>
                <a:cs typeface="Calibri" pitchFamily="34" charset="-120"/>
              </a:rPr>
              <a:t>Spot anomalies and attacks early — before they become breaches.</a:t>
            </a:r>
            <a:endParaRPr lang="en-US" sz="1250" dirty="0"/>
          </a:p>
        </p:txBody>
      </p:sp>
      <p:sp>
        <p:nvSpPr>
          <p:cNvPr id="17" name="Shape 12"/>
          <p:cNvSpPr/>
          <p:nvPr/>
        </p:nvSpPr>
        <p:spPr>
          <a:xfrm>
            <a:off x="6364224" y="1783080"/>
            <a:ext cx="2606040" cy="3108960"/>
          </a:xfrm>
          <a:prstGeom prst="roundRect">
            <a:avLst>
              <a:gd name="adj" fmla="val 3158"/>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7232904" y="2103120"/>
            <a:ext cx="868680" cy="868680"/>
          </a:xfrm>
          <a:prstGeom prst="ellipse">
            <a:avLst/>
          </a:prstGeom>
          <a:solidFill>
            <a:srgbClr val="F2931F"/>
          </a:solidFill>
          <a:ln/>
        </p:spPr>
      </p:sp>
      <p:pic>
        <p:nvPicPr>
          <p:cNvPr id="19" name="Image 2" descr="preencoded.png">    </p:cNvPr>
          <p:cNvPicPr>
            <a:picLocks noChangeAspect="1"/>
          </p:cNvPicPr>
          <p:nvPr/>
        </p:nvPicPr>
        <p:blipFill>
          <a:blip r:embed="rId3"/>
          <a:stretch>
            <a:fillRect/>
          </a:stretch>
        </p:blipFill>
        <p:spPr>
          <a:xfrm>
            <a:off x="7441387" y="2311603"/>
            <a:ext cx="451714" cy="451714"/>
          </a:xfrm>
          <a:prstGeom prst="rect">
            <a:avLst/>
          </a:prstGeom>
        </p:spPr>
      </p:pic>
      <p:sp>
        <p:nvSpPr>
          <p:cNvPr id="20" name="Text 14"/>
          <p:cNvSpPr/>
          <p:nvPr/>
        </p:nvSpPr>
        <p:spPr>
          <a:xfrm>
            <a:off x="6501384" y="3108960"/>
            <a:ext cx="2331720" cy="457200"/>
          </a:xfrm>
          <a:prstGeom prst="rect">
            <a:avLst/>
          </a:prstGeom>
          <a:noFill/>
          <a:ln/>
        </p:spPr>
        <p:txBody>
          <a:bodyPr wrap="square" lIns="0" tIns="0" rIns="0" bIns="0" rtlCol="0" anchor="ctr"/>
          <a:lstStyle/>
          <a:p>
            <a:pPr algn="ctr" indent="0" marL="0">
              <a:buNone/>
            </a:pPr>
            <a:r>
              <a:rPr lang="en-US" sz="1600" b="1" dirty="0">
                <a:solidFill>
                  <a:srgbClr val="262F65"/>
                </a:solidFill>
                <a:latin typeface="Calibri" pitchFamily="34" charset="0"/>
                <a:ea typeface="Calibri" pitchFamily="34" charset="-122"/>
                <a:cs typeface="Calibri" pitchFamily="34" charset="-120"/>
              </a:rPr>
              <a:t>Accountability</a:t>
            </a:r>
            <a:endParaRPr lang="en-US" sz="1600" dirty="0"/>
          </a:p>
        </p:txBody>
      </p:sp>
      <p:sp>
        <p:nvSpPr>
          <p:cNvPr id="21" name="Text 15"/>
          <p:cNvSpPr/>
          <p:nvPr/>
        </p:nvSpPr>
        <p:spPr>
          <a:xfrm>
            <a:off x="6547104" y="3611880"/>
            <a:ext cx="2240280" cy="1188720"/>
          </a:xfrm>
          <a:prstGeom prst="rect">
            <a:avLst/>
          </a:prstGeom>
          <a:noFill/>
          <a:ln/>
        </p:spPr>
        <p:txBody>
          <a:bodyPr wrap="square" lIns="0" tIns="0" rIns="0" bIns="0" rtlCol="0" anchor="t"/>
          <a:lstStyle/>
          <a:p>
            <a:pPr algn="ctr" indent="0" marL="0">
              <a:buNone/>
            </a:pPr>
            <a:r>
              <a:rPr lang="en-US" sz="1250" dirty="0">
                <a:solidFill>
                  <a:srgbClr val="5B6472"/>
                </a:solidFill>
                <a:latin typeface="Calibri" pitchFamily="34" charset="0"/>
                <a:ea typeface="Calibri" pitchFamily="34" charset="-122"/>
                <a:cs typeface="Calibri" pitchFamily="34" charset="-120"/>
              </a:rPr>
              <a:t>An audit trail of who did what, when — for security &amp; compliance.</a:t>
            </a:r>
            <a:endParaRPr lang="en-US" sz="1250" dirty="0"/>
          </a:p>
        </p:txBody>
      </p:sp>
      <p:sp>
        <p:nvSpPr>
          <p:cNvPr id="22" name="Shape 16"/>
          <p:cNvSpPr/>
          <p:nvPr/>
        </p:nvSpPr>
        <p:spPr>
          <a:xfrm>
            <a:off x="9226296" y="1783080"/>
            <a:ext cx="2606040" cy="3108960"/>
          </a:xfrm>
          <a:prstGeom prst="roundRect">
            <a:avLst>
              <a:gd name="adj" fmla="val 3158"/>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10094976" y="2103120"/>
            <a:ext cx="868680" cy="868680"/>
          </a:xfrm>
          <a:prstGeom prst="ellipse">
            <a:avLst/>
          </a:prstGeom>
          <a:solidFill>
            <a:srgbClr val="FABA32"/>
          </a:solidFill>
          <a:ln/>
        </p:spPr>
      </p:sp>
      <p:pic>
        <p:nvPicPr>
          <p:cNvPr id="24" name="Image 3" descr="preencoded.png">    </p:cNvPr>
          <p:cNvPicPr>
            <a:picLocks noChangeAspect="1"/>
          </p:cNvPicPr>
          <p:nvPr/>
        </p:nvPicPr>
        <p:blipFill>
          <a:blip r:embed="rId4"/>
          <a:stretch>
            <a:fillRect/>
          </a:stretch>
        </p:blipFill>
        <p:spPr>
          <a:xfrm>
            <a:off x="10303459" y="2311603"/>
            <a:ext cx="451714" cy="451714"/>
          </a:xfrm>
          <a:prstGeom prst="rect">
            <a:avLst/>
          </a:prstGeom>
        </p:spPr>
      </p:pic>
      <p:sp>
        <p:nvSpPr>
          <p:cNvPr id="25" name="Text 18"/>
          <p:cNvSpPr/>
          <p:nvPr/>
        </p:nvSpPr>
        <p:spPr>
          <a:xfrm>
            <a:off x="9363456" y="3108960"/>
            <a:ext cx="2331720" cy="457200"/>
          </a:xfrm>
          <a:prstGeom prst="rect">
            <a:avLst/>
          </a:prstGeom>
          <a:noFill/>
          <a:ln/>
        </p:spPr>
        <p:txBody>
          <a:bodyPr wrap="square" lIns="0" tIns="0" rIns="0" bIns="0" rtlCol="0" anchor="ctr"/>
          <a:lstStyle/>
          <a:p>
            <a:pPr algn="ctr" indent="0" marL="0">
              <a:buNone/>
            </a:pPr>
            <a:r>
              <a:rPr lang="en-US" sz="1600" b="1" dirty="0">
                <a:solidFill>
                  <a:srgbClr val="262F65"/>
                </a:solidFill>
                <a:latin typeface="Calibri" pitchFamily="34" charset="0"/>
                <a:ea typeface="Calibri" pitchFamily="34" charset="-122"/>
                <a:cs typeface="Calibri" pitchFamily="34" charset="-120"/>
              </a:rPr>
              <a:t>Forensics</a:t>
            </a:r>
            <a:endParaRPr lang="en-US" sz="1600" dirty="0"/>
          </a:p>
        </p:txBody>
      </p:sp>
      <p:sp>
        <p:nvSpPr>
          <p:cNvPr id="26" name="Text 19"/>
          <p:cNvSpPr/>
          <p:nvPr/>
        </p:nvSpPr>
        <p:spPr>
          <a:xfrm>
            <a:off x="9409176" y="3611880"/>
            <a:ext cx="2240280" cy="1188720"/>
          </a:xfrm>
          <a:prstGeom prst="rect">
            <a:avLst/>
          </a:prstGeom>
          <a:noFill/>
          <a:ln/>
        </p:spPr>
        <p:txBody>
          <a:bodyPr wrap="square" lIns="0" tIns="0" rIns="0" bIns="0" rtlCol="0" anchor="t"/>
          <a:lstStyle/>
          <a:p>
            <a:pPr algn="ctr" indent="0" marL="0">
              <a:buNone/>
            </a:pPr>
            <a:r>
              <a:rPr lang="en-US" sz="1250" dirty="0">
                <a:solidFill>
                  <a:srgbClr val="5B6472"/>
                </a:solidFill>
                <a:latin typeface="Calibri" pitchFamily="34" charset="0"/>
                <a:ea typeface="Calibri" pitchFamily="34" charset="-122"/>
                <a:cs typeface="Calibri" pitchFamily="34" charset="-120"/>
              </a:rPr>
              <a:t>The evidence to investigate — only useful if collected beforehand.</a:t>
            </a:r>
            <a:endParaRPr lang="en-US" sz="1250" dirty="0"/>
          </a:p>
        </p:txBody>
      </p:sp>
      <p:sp>
        <p:nvSpPr>
          <p:cNvPr id="27" name="Text 20"/>
          <p:cNvSpPr/>
          <p:nvPr/>
        </p:nvSpPr>
        <p:spPr>
          <a:xfrm>
            <a:off x="640080" y="5212080"/>
            <a:ext cx="10881360" cy="548640"/>
          </a:xfrm>
          <a:prstGeom prst="rect">
            <a:avLst/>
          </a:prstGeom>
          <a:noFill/>
          <a:ln/>
        </p:spPr>
        <p:txBody>
          <a:bodyPr wrap="square" lIns="0" tIns="0" rIns="0" bIns="0" rtlCol="0" anchor="ctr"/>
          <a:lstStyle/>
          <a:p>
            <a:pPr algn="ctr" indent="0" marL="0">
              <a:buNone/>
            </a:pPr>
            <a:r>
              <a:rPr lang="en-US" sz="1550" i="1" dirty="0">
                <a:solidFill>
                  <a:srgbClr val="262F65"/>
                </a:solidFill>
                <a:latin typeface="Calibri" pitchFamily="34" charset="0"/>
                <a:ea typeface="Calibri" pitchFamily="34" charset="-122"/>
                <a:cs typeface="Calibri" pitchFamily="34" charset="-120"/>
              </a:rPr>
              <a:t>“You cannot secure — or prove compliance for — what you cannot see.”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CHALLENGE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Five things that make cloud monitoring hard</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1783080"/>
            <a:ext cx="2148840" cy="3840480"/>
          </a:xfrm>
          <a:prstGeom prst="roundRect">
            <a:avLst>
              <a:gd name="adj" fmla="val 3830"/>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325880" y="2103120"/>
            <a:ext cx="777240" cy="7772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512418" y="2289658"/>
            <a:ext cx="404165" cy="404165"/>
          </a:xfrm>
          <a:prstGeom prst="rect">
            <a:avLst/>
          </a:prstGeom>
        </p:spPr>
      </p:pic>
      <p:sp>
        <p:nvSpPr>
          <p:cNvPr id="10" name="Text 6"/>
          <p:cNvSpPr/>
          <p:nvPr/>
        </p:nvSpPr>
        <p:spPr>
          <a:xfrm>
            <a:off x="749808" y="3017520"/>
            <a:ext cx="1929384" cy="777240"/>
          </a:xfrm>
          <a:prstGeom prst="rect">
            <a:avLst/>
          </a:prstGeom>
          <a:noFill/>
          <a:ln/>
        </p:spPr>
        <p:txBody>
          <a:bodyPr wrap="square" lIns="0" tIns="0" rIns="0" bIns="0" rtlCol="0" anchor="t"/>
          <a:lstStyle/>
          <a:p>
            <a:pPr algn="ctr" indent="0" marL="0">
              <a:buNone/>
            </a:pPr>
            <a:r>
              <a:rPr lang="en-US" sz="1350" b="1" dirty="0">
                <a:solidFill>
                  <a:srgbClr val="262F65"/>
                </a:solidFill>
                <a:latin typeface="Calibri" pitchFamily="34" charset="0"/>
                <a:ea typeface="Calibri" pitchFamily="34" charset="-122"/>
                <a:cs typeface="Calibri" pitchFamily="34" charset="-120"/>
              </a:rPr>
              <a:t>Management plane</a:t>
            </a:r>
            <a:endParaRPr lang="en-US" sz="1350" dirty="0"/>
          </a:p>
        </p:txBody>
      </p:sp>
      <p:sp>
        <p:nvSpPr>
          <p:cNvPr id="11" name="Text 7"/>
          <p:cNvSpPr/>
          <p:nvPr/>
        </p:nvSpPr>
        <p:spPr>
          <a:xfrm>
            <a:off x="786384" y="3794760"/>
            <a:ext cx="1856232" cy="16916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One console/API controls everything — the prime target.</a:t>
            </a:r>
            <a:endParaRPr lang="en-US" sz="1150" dirty="0"/>
          </a:p>
        </p:txBody>
      </p:sp>
      <p:sp>
        <p:nvSpPr>
          <p:cNvPr id="12" name="Shape 8"/>
          <p:cNvSpPr/>
          <p:nvPr/>
        </p:nvSpPr>
        <p:spPr>
          <a:xfrm>
            <a:off x="2953512" y="1783080"/>
            <a:ext cx="2148840" cy="3840480"/>
          </a:xfrm>
          <a:prstGeom prst="roundRect">
            <a:avLst>
              <a:gd name="adj" fmla="val 3830"/>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3639312" y="2103120"/>
            <a:ext cx="777240" cy="777240"/>
          </a:xfrm>
          <a:prstGeom prst="ellipse">
            <a:avLst/>
          </a:prstGeom>
          <a:solidFill>
            <a:srgbClr val="293E7B"/>
          </a:solidFill>
          <a:ln/>
        </p:spPr>
      </p:sp>
      <p:pic>
        <p:nvPicPr>
          <p:cNvPr id="14" name="Image 1" descr="preencoded.png">    </p:cNvPr>
          <p:cNvPicPr>
            <a:picLocks noChangeAspect="1"/>
          </p:cNvPicPr>
          <p:nvPr/>
        </p:nvPicPr>
        <p:blipFill>
          <a:blip r:embed="rId2"/>
          <a:stretch>
            <a:fillRect/>
          </a:stretch>
        </p:blipFill>
        <p:spPr>
          <a:xfrm>
            <a:off x="3825850" y="2289658"/>
            <a:ext cx="404165" cy="404165"/>
          </a:xfrm>
          <a:prstGeom prst="rect">
            <a:avLst/>
          </a:prstGeom>
        </p:spPr>
      </p:pic>
      <p:sp>
        <p:nvSpPr>
          <p:cNvPr id="15" name="Text 10"/>
          <p:cNvSpPr/>
          <p:nvPr/>
        </p:nvSpPr>
        <p:spPr>
          <a:xfrm>
            <a:off x="3063240" y="3017520"/>
            <a:ext cx="1929384" cy="777240"/>
          </a:xfrm>
          <a:prstGeom prst="rect">
            <a:avLst/>
          </a:prstGeom>
          <a:noFill/>
          <a:ln/>
        </p:spPr>
        <p:txBody>
          <a:bodyPr wrap="square" lIns="0" tIns="0" rIns="0" bIns="0" rtlCol="0" anchor="t"/>
          <a:lstStyle/>
          <a:p>
            <a:pPr algn="ctr" indent="0" marL="0">
              <a:buNone/>
            </a:pPr>
            <a:r>
              <a:rPr lang="en-US" sz="1350" b="1" dirty="0">
                <a:solidFill>
                  <a:srgbClr val="262F65"/>
                </a:solidFill>
                <a:latin typeface="Calibri" pitchFamily="34" charset="0"/>
                <a:ea typeface="Calibri" pitchFamily="34" charset="-122"/>
                <a:cs typeface="Calibri" pitchFamily="34" charset="-120"/>
              </a:rPr>
              <a:t>Ephemerality</a:t>
            </a:r>
            <a:endParaRPr lang="en-US" sz="1350" dirty="0"/>
          </a:p>
        </p:txBody>
      </p:sp>
      <p:sp>
        <p:nvSpPr>
          <p:cNvPr id="16" name="Text 11"/>
          <p:cNvSpPr/>
          <p:nvPr/>
        </p:nvSpPr>
        <p:spPr>
          <a:xfrm>
            <a:off x="3099816" y="3794760"/>
            <a:ext cx="1856232" cy="16916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Resources live for minutes — capture logs or lose them.</a:t>
            </a:r>
            <a:endParaRPr lang="en-US" sz="1150" dirty="0"/>
          </a:p>
        </p:txBody>
      </p:sp>
      <p:sp>
        <p:nvSpPr>
          <p:cNvPr id="17" name="Shape 12"/>
          <p:cNvSpPr/>
          <p:nvPr/>
        </p:nvSpPr>
        <p:spPr>
          <a:xfrm>
            <a:off x="5266944" y="1783080"/>
            <a:ext cx="2148840" cy="3840480"/>
          </a:xfrm>
          <a:prstGeom prst="roundRect">
            <a:avLst>
              <a:gd name="adj" fmla="val 3830"/>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5952744" y="2103120"/>
            <a:ext cx="777240" cy="777240"/>
          </a:xfrm>
          <a:prstGeom prst="ellipse">
            <a:avLst/>
          </a:prstGeom>
          <a:solidFill>
            <a:srgbClr val="F2931F"/>
          </a:solidFill>
          <a:ln/>
        </p:spPr>
      </p:sp>
      <p:pic>
        <p:nvPicPr>
          <p:cNvPr id="19" name="Image 2" descr="preencoded.png">    </p:cNvPr>
          <p:cNvPicPr>
            <a:picLocks noChangeAspect="1"/>
          </p:cNvPicPr>
          <p:nvPr/>
        </p:nvPicPr>
        <p:blipFill>
          <a:blip r:embed="rId3"/>
          <a:stretch>
            <a:fillRect/>
          </a:stretch>
        </p:blipFill>
        <p:spPr>
          <a:xfrm>
            <a:off x="6139282" y="2289658"/>
            <a:ext cx="404165" cy="404165"/>
          </a:xfrm>
          <a:prstGeom prst="rect">
            <a:avLst/>
          </a:prstGeom>
        </p:spPr>
      </p:pic>
      <p:sp>
        <p:nvSpPr>
          <p:cNvPr id="20" name="Text 14"/>
          <p:cNvSpPr/>
          <p:nvPr/>
        </p:nvSpPr>
        <p:spPr>
          <a:xfrm>
            <a:off x="5376672" y="3017520"/>
            <a:ext cx="1929384" cy="777240"/>
          </a:xfrm>
          <a:prstGeom prst="rect">
            <a:avLst/>
          </a:prstGeom>
          <a:noFill/>
          <a:ln/>
        </p:spPr>
        <p:txBody>
          <a:bodyPr wrap="square" lIns="0" tIns="0" rIns="0" bIns="0" rtlCol="0" anchor="t"/>
          <a:lstStyle/>
          <a:p>
            <a:pPr algn="ctr" indent="0" marL="0">
              <a:buNone/>
            </a:pPr>
            <a:r>
              <a:rPr lang="en-US" sz="1350" b="1" dirty="0">
                <a:solidFill>
                  <a:srgbClr val="262F65"/>
                </a:solidFill>
                <a:latin typeface="Calibri" pitchFamily="34" charset="0"/>
                <a:ea typeface="Calibri" pitchFamily="34" charset="-122"/>
                <a:cs typeface="Calibri" pitchFamily="34" charset="-120"/>
              </a:rPr>
              <a:t>Cloud sprawl</a:t>
            </a:r>
            <a:endParaRPr lang="en-US" sz="1350" dirty="0"/>
          </a:p>
        </p:txBody>
      </p:sp>
      <p:sp>
        <p:nvSpPr>
          <p:cNvPr id="21" name="Text 15"/>
          <p:cNvSpPr/>
          <p:nvPr/>
        </p:nvSpPr>
        <p:spPr>
          <a:xfrm>
            <a:off x="5413248" y="3794760"/>
            <a:ext cx="1856232" cy="16916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Workloads scattered across services &amp; multiple CSPs.</a:t>
            </a:r>
            <a:endParaRPr lang="en-US" sz="1150" dirty="0"/>
          </a:p>
        </p:txBody>
      </p:sp>
      <p:sp>
        <p:nvSpPr>
          <p:cNvPr id="22" name="Shape 16"/>
          <p:cNvSpPr/>
          <p:nvPr/>
        </p:nvSpPr>
        <p:spPr>
          <a:xfrm>
            <a:off x="7580376" y="1783080"/>
            <a:ext cx="2148840" cy="3840480"/>
          </a:xfrm>
          <a:prstGeom prst="roundRect">
            <a:avLst>
              <a:gd name="adj" fmla="val 3830"/>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8266176" y="2103120"/>
            <a:ext cx="777240" cy="77724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8452714" y="2289658"/>
            <a:ext cx="404165" cy="404165"/>
          </a:xfrm>
          <a:prstGeom prst="rect">
            <a:avLst/>
          </a:prstGeom>
        </p:spPr>
      </p:pic>
      <p:sp>
        <p:nvSpPr>
          <p:cNvPr id="25" name="Text 18"/>
          <p:cNvSpPr/>
          <p:nvPr/>
        </p:nvSpPr>
        <p:spPr>
          <a:xfrm>
            <a:off x="7690104" y="3017520"/>
            <a:ext cx="1929384" cy="777240"/>
          </a:xfrm>
          <a:prstGeom prst="rect">
            <a:avLst/>
          </a:prstGeom>
          <a:noFill/>
          <a:ln/>
        </p:spPr>
        <p:txBody>
          <a:bodyPr wrap="square" lIns="0" tIns="0" rIns="0" bIns="0" rtlCol="0" anchor="t"/>
          <a:lstStyle/>
          <a:p>
            <a:pPr algn="ctr" indent="0" marL="0">
              <a:buNone/>
            </a:pPr>
            <a:r>
              <a:rPr lang="en-US" sz="1350" b="1" dirty="0">
                <a:solidFill>
                  <a:srgbClr val="262F65"/>
                </a:solidFill>
                <a:latin typeface="Calibri" pitchFamily="34" charset="0"/>
                <a:ea typeface="Calibri" pitchFamily="34" charset="-122"/>
                <a:cs typeface="Calibri" pitchFamily="34" charset="-120"/>
              </a:rPr>
              <a:t>Volume &amp; velocity</a:t>
            </a:r>
            <a:endParaRPr lang="en-US" sz="1350" dirty="0"/>
          </a:p>
        </p:txBody>
      </p:sp>
      <p:sp>
        <p:nvSpPr>
          <p:cNvPr id="26" name="Text 19"/>
          <p:cNvSpPr/>
          <p:nvPr/>
        </p:nvSpPr>
        <p:spPr>
          <a:xfrm>
            <a:off x="7726680" y="3794760"/>
            <a:ext cx="1856232" cy="16916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Telemetry floods in faster than humans can review.</a:t>
            </a:r>
            <a:endParaRPr lang="en-US" sz="1150" dirty="0"/>
          </a:p>
        </p:txBody>
      </p:sp>
      <p:sp>
        <p:nvSpPr>
          <p:cNvPr id="27" name="Shape 20"/>
          <p:cNvSpPr/>
          <p:nvPr/>
        </p:nvSpPr>
        <p:spPr>
          <a:xfrm>
            <a:off x="9893808" y="1783080"/>
            <a:ext cx="2148840" cy="3840480"/>
          </a:xfrm>
          <a:prstGeom prst="roundRect">
            <a:avLst>
              <a:gd name="adj" fmla="val 3830"/>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10579608" y="2103120"/>
            <a:ext cx="777240" cy="777240"/>
          </a:xfrm>
          <a:prstGeom prst="ellipse">
            <a:avLst/>
          </a:prstGeom>
          <a:solidFill>
            <a:srgbClr val="E8403A"/>
          </a:solidFill>
          <a:ln/>
        </p:spPr>
      </p:sp>
      <p:pic>
        <p:nvPicPr>
          <p:cNvPr id="29" name="Image 4" descr="preencoded.png">    </p:cNvPr>
          <p:cNvPicPr>
            <a:picLocks noChangeAspect="1"/>
          </p:cNvPicPr>
          <p:nvPr/>
        </p:nvPicPr>
        <p:blipFill>
          <a:blip r:embed="rId5"/>
          <a:stretch>
            <a:fillRect/>
          </a:stretch>
        </p:blipFill>
        <p:spPr>
          <a:xfrm>
            <a:off x="10766146" y="2289658"/>
            <a:ext cx="404165" cy="404165"/>
          </a:xfrm>
          <a:prstGeom prst="rect">
            <a:avLst/>
          </a:prstGeom>
        </p:spPr>
      </p:pic>
      <p:sp>
        <p:nvSpPr>
          <p:cNvPr id="30" name="Text 22"/>
          <p:cNvSpPr/>
          <p:nvPr/>
        </p:nvSpPr>
        <p:spPr>
          <a:xfrm>
            <a:off x="10003536" y="3017520"/>
            <a:ext cx="1929384" cy="777240"/>
          </a:xfrm>
          <a:prstGeom prst="rect">
            <a:avLst/>
          </a:prstGeom>
          <a:noFill/>
          <a:ln/>
        </p:spPr>
        <p:txBody>
          <a:bodyPr wrap="square" lIns="0" tIns="0" rIns="0" bIns="0" rtlCol="0" anchor="t"/>
          <a:lstStyle/>
          <a:p>
            <a:pPr algn="ctr" indent="0" marL="0">
              <a:buNone/>
            </a:pPr>
            <a:r>
              <a:rPr lang="en-US" sz="1350" b="1" dirty="0">
                <a:solidFill>
                  <a:srgbClr val="262F65"/>
                </a:solidFill>
                <a:latin typeface="Calibri" pitchFamily="34" charset="0"/>
                <a:ea typeface="Calibri" pitchFamily="34" charset="-122"/>
                <a:cs typeface="Calibri" pitchFamily="34" charset="-120"/>
              </a:rPr>
              <a:t>Shared responsibility</a:t>
            </a:r>
            <a:endParaRPr lang="en-US" sz="1350" dirty="0"/>
          </a:p>
        </p:txBody>
      </p:sp>
      <p:sp>
        <p:nvSpPr>
          <p:cNvPr id="31" name="Text 23"/>
          <p:cNvSpPr/>
          <p:nvPr/>
        </p:nvSpPr>
        <p:spPr>
          <a:xfrm>
            <a:off x="10040112" y="3794760"/>
            <a:ext cx="1856232" cy="16916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Who logs what varies per service — gaps appear.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02</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2</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Logs, Events &amp; Telemetry</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FOUNDATIONS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Logs vs events — different jobs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1737360"/>
            <a:ext cx="5349240" cy="4023360"/>
          </a:xfrm>
          <a:prstGeom prst="roundRect">
            <a:avLst>
              <a:gd name="adj" fmla="val 2045"/>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79576" y="2276856"/>
            <a:ext cx="475488" cy="475488"/>
          </a:xfrm>
          <a:prstGeom prst="rect">
            <a:avLst/>
          </a:prstGeom>
        </p:spPr>
      </p:pic>
      <p:sp>
        <p:nvSpPr>
          <p:cNvPr id="10" name="Text 6"/>
          <p:cNvSpPr/>
          <p:nvPr/>
        </p:nvSpPr>
        <p:spPr>
          <a:xfrm>
            <a:off x="2103120" y="2194560"/>
            <a:ext cx="3611880" cy="548640"/>
          </a:xfrm>
          <a:prstGeom prst="rect">
            <a:avLst/>
          </a:prstGeom>
          <a:noFill/>
          <a:ln/>
        </p:spPr>
        <p:txBody>
          <a:bodyPr wrap="square" lIns="0" tIns="0" rIns="0" bIns="0" rtlCol="0" anchor="t"/>
          <a:lstStyle/>
          <a:p>
            <a:pPr indent="0" marL="0">
              <a:buNone/>
            </a:pPr>
            <a:r>
              <a:rPr lang="en-US" sz="2200" b="1" dirty="0">
                <a:solidFill>
                  <a:srgbClr val="262F65"/>
                </a:solidFill>
                <a:latin typeface="Cambria" pitchFamily="34" charset="0"/>
                <a:ea typeface="Cambria" pitchFamily="34" charset="-122"/>
                <a:cs typeface="Cambria" pitchFamily="34" charset="-120"/>
              </a:rPr>
              <a:t>Logs</a:t>
            </a:r>
            <a:endParaRPr lang="en-US" sz="2200" dirty="0"/>
          </a:p>
        </p:txBody>
      </p:sp>
      <p:sp>
        <p:nvSpPr>
          <p:cNvPr id="11" name="Text 7"/>
          <p:cNvSpPr/>
          <p:nvPr/>
        </p:nvSpPr>
        <p:spPr>
          <a:xfrm>
            <a:off x="960120" y="3154680"/>
            <a:ext cx="4709160" cy="594360"/>
          </a:xfrm>
          <a:prstGeom prst="rect">
            <a:avLst/>
          </a:prstGeom>
          <a:noFill/>
          <a:ln/>
        </p:spPr>
        <p:txBody>
          <a:bodyPr wrap="square" lIns="0" tIns="0" rIns="0" bIns="0" rtlCol="0" anchor="t"/>
          <a:lstStyle/>
          <a:p>
            <a:pPr indent="0" marL="0">
              <a:buNone/>
            </a:pPr>
            <a:r>
              <a:rPr lang="en-US" sz="1300" i="1" dirty="0">
                <a:solidFill>
                  <a:srgbClr val="5B6472"/>
                </a:solidFill>
                <a:latin typeface="Calibri" pitchFamily="34" charset="0"/>
                <a:ea typeface="Calibri" pitchFamily="34" charset="-122"/>
                <a:cs typeface="Calibri" pitchFamily="34" charset="-120"/>
              </a:rPr>
              <a:t>Detailed, durable records of all activity — full CRUD operations.</a:t>
            </a:r>
            <a:endParaRPr lang="en-US" sz="1300" dirty="0"/>
          </a:p>
        </p:txBody>
      </p:sp>
      <p:sp>
        <p:nvSpPr>
          <p:cNvPr id="12" name="Shape 8"/>
          <p:cNvSpPr/>
          <p:nvPr/>
        </p:nvSpPr>
        <p:spPr>
          <a:xfrm>
            <a:off x="1005840" y="3895344"/>
            <a:ext cx="118872" cy="118872"/>
          </a:xfrm>
          <a:prstGeom prst="ellipse">
            <a:avLst/>
          </a:prstGeom>
          <a:solidFill>
            <a:srgbClr val="262F65"/>
          </a:solidFill>
          <a:ln/>
        </p:spPr>
      </p:sp>
      <p:sp>
        <p:nvSpPr>
          <p:cNvPr id="13" name="Text 9"/>
          <p:cNvSpPr/>
          <p:nvPr/>
        </p:nvSpPr>
        <p:spPr>
          <a:xfrm>
            <a:off x="1261872" y="3840480"/>
            <a:ext cx="4434840" cy="411480"/>
          </a:xfrm>
          <a:prstGeom prst="rect">
            <a:avLst/>
          </a:prstGeom>
          <a:noFill/>
          <a:ln/>
        </p:spPr>
        <p:txBody>
          <a:bodyPr wrap="square" lIns="0" tIns="0" rIns="0" bIns="0" rtlCol="0" anchor="ctr"/>
          <a:lstStyle/>
          <a:p>
            <a:pPr indent="0" marL="0">
              <a:buNone/>
            </a:pPr>
            <a:r>
              <a:rPr lang="en-US" sz="1250" dirty="0">
                <a:solidFill>
                  <a:srgbClr val="23283A"/>
                </a:solidFill>
                <a:latin typeface="Calibri" pitchFamily="34" charset="0"/>
                <a:ea typeface="Calibri" pitchFamily="34" charset="-122"/>
                <a:cs typeface="Calibri" pitchFamily="34" charset="-120"/>
              </a:rPr>
              <a:t>Rich context, stored long-term</a:t>
            </a:r>
            <a:endParaRPr lang="en-US" sz="1250" dirty="0"/>
          </a:p>
        </p:txBody>
      </p:sp>
      <p:sp>
        <p:nvSpPr>
          <p:cNvPr id="14" name="Shape 10"/>
          <p:cNvSpPr/>
          <p:nvPr/>
        </p:nvSpPr>
        <p:spPr>
          <a:xfrm>
            <a:off x="1005840" y="4352544"/>
            <a:ext cx="118872" cy="118872"/>
          </a:xfrm>
          <a:prstGeom prst="ellipse">
            <a:avLst/>
          </a:prstGeom>
          <a:solidFill>
            <a:srgbClr val="262F65"/>
          </a:solidFill>
          <a:ln/>
        </p:spPr>
      </p:sp>
      <p:sp>
        <p:nvSpPr>
          <p:cNvPr id="15" name="Text 11"/>
          <p:cNvSpPr/>
          <p:nvPr/>
        </p:nvSpPr>
        <p:spPr>
          <a:xfrm>
            <a:off x="1261872" y="4297680"/>
            <a:ext cx="4434840" cy="411480"/>
          </a:xfrm>
          <a:prstGeom prst="rect">
            <a:avLst/>
          </a:prstGeom>
          <a:noFill/>
          <a:ln/>
        </p:spPr>
        <p:txBody>
          <a:bodyPr wrap="square" lIns="0" tIns="0" rIns="0" bIns="0" rtlCol="0" anchor="ctr"/>
          <a:lstStyle/>
          <a:p>
            <a:pPr indent="0" marL="0">
              <a:buNone/>
            </a:pPr>
            <a:r>
              <a:rPr lang="en-US" sz="1250" dirty="0">
                <a:solidFill>
                  <a:srgbClr val="23283A"/>
                </a:solidFill>
                <a:latin typeface="Calibri" pitchFamily="34" charset="0"/>
                <a:ea typeface="Calibri" pitchFamily="34" charset="-122"/>
                <a:cs typeface="Calibri" pitchFamily="34" charset="-120"/>
              </a:rPr>
              <a:t>Best for forensics &amp; audit</a:t>
            </a:r>
            <a:endParaRPr lang="en-US" sz="1250" dirty="0"/>
          </a:p>
        </p:txBody>
      </p:sp>
      <p:sp>
        <p:nvSpPr>
          <p:cNvPr id="16" name="Shape 12"/>
          <p:cNvSpPr/>
          <p:nvPr/>
        </p:nvSpPr>
        <p:spPr>
          <a:xfrm>
            <a:off x="1005840" y="4809744"/>
            <a:ext cx="118872" cy="118872"/>
          </a:xfrm>
          <a:prstGeom prst="ellipse">
            <a:avLst/>
          </a:prstGeom>
          <a:solidFill>
            <a:srgbClr val="262F65"/>
          </a:solidFill>
          <a:ln/>
        </p:spPr>
      </p:sp>
      <p:sp>
        <p:nvSpPr>
          <p:cNvPr id="17" name="Text 13"/>
          <p:cNvSpPr/>
          <p:nvPr/>
        </p:nvSpPr>
        <p:spPr>
          <a:xfrm>
            <a:off x="1261872" y="4754880"/>
            <a:ext cx="4434840" cy="411480"/>
          </a:xfrm>
          <a:prstGeom prst="rect">
            <a:avLst/>
          </a:prstGeom>
          <a:noFill/>
          <a:ln/>
        </p:spPr>
        <p:txBody>
          <a:bodyPr wrap="square" lIns="0" tIns="0" rIns="0" bIns="0" rtlCol="0" anchor="ctr"/>
          <a:lstStyle/>
          <a:p>
            <a:pPr indent="0" marL="0">
              <a:buNone/>
            </a:pPr>
            <a:r>
              <a:rPr lang="en-US" sz="1250" dirty="0">
                <a:solidFill>
                  <a:srgbClr val="23283A"/>
                </a:solidFill>
                <a:latin typeface="Calibri" pitchFamily="34" charset="0"/>
                <a:ea typeface="Calibri" pitchFamily="34" charset="-122"/>
                <a:cs typeface="Calibri" pitchFamily="34" charset="-120"/>
              </a:rPr>
              <a:t>Delivery can be delayed; quality varies</a:t>
            </a:r>
            <a:endParaRPr lang="en-US" sz="1250" dirty="0"/>
          </a:p>
        </p:txBody>
      </p:sp>
      <p:sp>
        <p:nvSpPr>
          <p:cNvPr id="18" name="Shape 14"/>
          <p:cNvSpPr/>
          <p:nvPr/>
        </p:nvSpPr>
        <p:spPr>
          <a:xfrm>
            <a:off x="1005840" y="5266944"/>
            <a:ext cx="118872" cy="118872"/>
          </a:xfrm>
          <a:prstGeom prst="ellipse">
            <a:avLst/>
          </a:prstGeom>
          <a:solidFill>
            <a:srgbClr val="262F65"/>
          </a:solidFill>
          <a:ln/>
        </p:spPr>
      </p:sp>
      <p:sp>
        <p:nvSpPr>
          <p:cNvPr id="19" name="Text 15"/>
          <p:cNvSpPr/>
          <p:nvPr/>
        </p:nvSpPr>
        <p:spPr>
          <a:xfrm>
            <a:off x="1261872" y="5212080"/>
            <a:ext cx="4434840" cy="411480"/>
          </a:xfrm>
          <a:prstGeom prst="rect">
            <a:avLst/>
          </a:prstGeom>
          <a:noFill/>
          <a:ln/>
        </p:spPr>
        <p:txBody>
          <a:bodyPr wrap="square" lIns="0" tIns="0" rIns="0" bIns="0" rtlCol="0" anchor="ctr"/>
          <a:lstStyle/>
          <a:p>
            <a:pPr indent="0" marL="0">
              <a:buNone/>
            </a:pPr>
            <a:r>
              <a:rPr lang="en-US" sz="1250" dirty="0">
                <a:solidFill>
                  <a:srgbClr val="23283A"/>
                </a:solidFill>
                <a:latin typeface="Calibri" pitchFamily="34" charset="0"/>
                <a:ea typeface="Calibri" pitchFamily="34" charset="-122"/>
                <a:cs typeface="Calibri" pitchFamily="34" charset="-120"/>
              </a:rPr>
              <a:t>Answer: WHAT exactly happened</a:t>
            </a:r>
            <a:endParaRPr lang="en-US" sz="1250" dirty="0"/>
          </a:p>
        </p:txBody>
      </p:sp>
      <p:sp>
        <p:nvSpPr>
          <p:cNvPr id="20" name="Shape 16"/>
          <p:cNvSpPr/>
          <p:nvPr/>
        </p:nvSpPr>
        <p:spPr>
          <a:xfrm>
            <a:off x="6355080" y="1737360"/>
            <a:ext cx="5349240" cy="4023360"/>
          </a:xfrm>
          <a:prstGeom prst="roundRect">
            <a:avLst>
              <a:gd name="adj" fmla="val 2045"/>
            </a:avLst>
          </a:prstGeom>
          <a:solidFill>
            <a:srgbClr val="F4F6FB"/>
          </a:solidFill>
          <a:ln/>
          <a:effectLst>
            <a:outerShdw sx="100000" sy="100000" kx="0" ky="0" algn="bl" rotWithShape="0" blurRad="88900" dist="38100" dir="5400000">
              <a:srgbClr val="8894AD">
                <a:alpha val="28000"/>
              </a:srgbClr>
            </a:outerShdw>
          </a:effectLst>
        </p:spPr>
      </p:sp>
      <p:sp>
        <p:nvSpPr>
          <p:cNvPr id="21" name="Shape 17"/>
          <p:cNvSpPr/>
          <p:nvPr/>
        </p:nvSpPr>
        <p:spPr>
          <a:xfrm>
            <a:off x="6675120" y="2057400"/>
            <a:ext cx="914400" cy="914400"/>
          </a:xfrm>
          <a:prstGeom prst="ellipse">
            <a:avLst/>
          </a:prstGeom>
          <a:solidFill>
            <a:srgbClr val="F2931F"/>
          </a:solidFill>
          <a:ln/>
        </p:spPr>
      </p:sp>
      <p:pic>
        <p:nvPicPr>
          <p:cNvPr id="22" name="Image 1" descr="preencoded.png">    </p:cNvPr>
          <p:cNvPicPr>
            <a:picLocks noChangeAspect="1"/>
          </p:cNvPicPr>
          <p:nvPr/>
        </p:nvPicPr>
        <p:blipFill>
          <a:blip r:embed="rId2"/>
          <a:stretch>
            <a:fillRect/>
          </a:stretch>
        </p:blipFill>
        <p:spPr>
          <a:xfrm>
            <a:off x="6894576" y="2276856"/>
            <a:ext cx="475488" cy="475488"/>
          </a:xfrm>
          <a:prstGeom prst="rect">
            <a:avLst/>
          </a:prstGeom>
        </p:spPr>
      </p:pic>
      <p:sp>
        <p:nvSpPr>
          <p:cNvPr id="23" name="Text 18"/>
          <p:cNvSpPr/>
          <p:nvPr/>
        </p:nvSpPr>
        <p:spPr>
          <a:xfrm>
            <a:off x="7818120" y="2194560"/>
            <a:ext cx="3611880" cy="548640"/>
          </a:xfrm>
          <a:prstGeom prst="rect">
            <a:avLst/>
          </a:prstGeom>
          <a:noFill/>
          <a:ln/>
        </p:spPr>
        <p:txBody>
          <a:bodyPr wrap="square" lIns="0" tIns="0" rIns="0" bIns="0" rtlCol="0" anchor="t"/>
          <a:lstStyle/>
          <a:p>
            <a:pPr indent="0" marL="0">
              <a:buNone/>
            </a:pPr>
            <a:r>
              <a:rPr lang="en-US" sz="2200" b="1" dirty="0">
                <a:solidFill>
                  <a:srgbClr val="262F65"/>
                </a:solidFill>
                <a:latin typeface="Cambria" pitchFamily="34" charset="0"/>
                <a:ea typeface="Cambria" pitchFamily="34" charset="-122"/>
                <a:cs typeface="Cambria" pitchFamily="34" charset="-120"/>
              </a:rPr>
              <a:t>Events</a:t>
            </a:r>
            <a:endParaRPr lang="en-US" sz="2200" dirty="0"/>
          </a:p>
        </p:txBody>
      </p:sp>
      <p:sp>
        <p:nvSpPr>
          <p:cNvPr id="24" name="Text 19"/>
          <p:cNvSpPr/>
          <p:nvPr/>
        </p:nvSpPr>
        <p:spPr>
          <a:xfrm>
            <a:off x="6675120" y="3154680"/>
            <a:ext cx="4709160" cy="594360"/>
          </a:xfrm>
          <a:prstGeom prst="rect">
            <a:avLst/>
          </a:prstGeom>
          <a:noFill/>
          <a:ln/>
        </p:spPr>
        <p:txBody>
          <a:bodyPr wrap="square" lIns="0" tIns="0" rIns="0" bIns="0" rtlCol="0" anchor="t"/>
          <a:lstStyle/>
          <a:p>
            <a:pPr indent="0" marL="0">
              <a:buNone/>
            </a:pPr>
            <a:r>
              <a:rPr lang="en-US" sz="1300" i="1" dirty="0">
                <a:solidFill>
                  <a:srgbClr val="5B6472"/>
                </a:solidFill>
                <a:latin typeface="Calibri" pitchFamily="34" charset="0"/>
                <a:ea typeface="Calibri" pitchFamily="34" charset="-122"/>
                <a:cs typeface="Calibri" pitchFamily="34" charset="-120"/>
              </a:rPr>
              <a:t>Lightweight signals of key state changes — near real time.</a:t>
            </a:r>
            <a:endParaRPr lang="en-US" sz="1300" dirty="0"/>
          </a:p>
        </p:txBody>
      </p:sp>
      <p:sp>
        <p:nvSpPr>
          <p:cNvPr id="25" name="Shape 20"/>
          <p:cNvSpPr/>
          <p:nvPr/>
        </p:nvSpPr>
        <p:spPr>
          <a:xfrm>
            <a:off x="6720840" y="3895344"/>
            <a:ext cx="118872" cy="118872"/>
          </a:xfrm>
          <a:prstGeom prst="ellipse">
            <a:avLst/>
          </a:prstGeom>
          <a:solidFill>
            <a:srgbClr val="F2931F"/>
          </a:solidFill>
          <a:ln/>
        </p:spPr>
      </p:sp>
      <p:sp>
        <p:nvSpPr>
          <p:cNvPr id="26" name="Text 21"/>
          <p:cNvSpPr/>
          <p:nvPr/>
        </p:nvSpPr>
        <p:spPr>
          <a:xfrm>
            <a:off x="6976872" y="3840480"/>
            <a:ext cx="4434840" cy="411480"/>
          </a:xfrm>
          <a:prstGeom prst="rect">
            <a:avLst/>
          </a:prstGeom>
          <a:noFill/>
          <a:ln/>
        </p:spPr>
        <p:txBody>
          <a:bodyPr wrap="square" lIns="0" tIns="0" rIns="0" bIns="0" rtlCol="0" anchor="ctr"/>
          <a:lstStyle/>
          <a:p>
            <a:pPr indent="0" marL="0">
              <a:buNone/>
            </a:pPr>
            <a:r>
              <a:rPr lang="en-US" sz="1250" dirty="0">
                <a:solidFill>
                  <a:srgbClr val="23283A"/>
                </a:solidFill>
                <a:latin typeface="Calibri" pitchFamily="34" charset="0"/>
                <a:ea typeface="Calibri" pitchFamily="34" charset="-122"/>
                <a:cs typeface="Calibri" pitchFamily="34" charset="-120"/>
              </a:rPr>
              <a:t>Immediate — seconds after activity</a:t>
            </a:r>
            <a:endParaRPr lang="en-US" sz="1250" dirty="0"/>
          </a:p>
        </p:txBody>
      </p:sp>
      <p:sp>
        <p:nvSpPr>
          <p:cNvPr id="27" name="Shape 22"/>
          <p:cNvSpPr/>
          <p:nvPr/>
        </p:nvSpPr>
        <p:spPr>
          <a:xfrm>
            <a:off x="6720840" y="4352544"/>
            <a:ext cx="118872" cy="118872"/>
          </a:xfrm>
          <a:prstGeom prst="ellipse">
            <a:avLst/>
          </a:prstGeom>
          <a:solidFill>
            <a:srgbClr val="F2931F"/>
          </a:solidFill>
          <a:ln/>
        </p:spPr>
      </p:sp>
      <p:sp>
        <p:nvSpPr>
          <p:cNvPr id="28" name="Text 23"/>
          <p:cNvSpPr/>
          <p:nvPr/>
        </p:nvSpPr>
        <p:spPr>
          <a:xfrm>
            <a:off x="6976872" y="4297680"/>
            <a:ext cx="4434840" cy="411480"/>
          </a:xfrm>
          <a:prstGeom prst="rect">
            <a:avLst/>
          </a:prstGeom>
          <a:noFill/>
          <a:ln/>
        </p:spPr>
        <p:txBody>
          <a:bodyPr wrap="square" lIns="0" tIns="0" rIns="0" bIns="0" rtlCol="0" anchor="ctr"/>
          <a:lstStyle/>
          <a:p>
            <a:pPr indent="0" marL="0">
              <a:buNone/>
            </a:pPr>
            <a:r>
              <a:rPr lang="en-US" sz="1250" dirty="0">
                <a:solidFill>
                  <a:srgbClr val="23283A"/>
                </a:solidFill>
                <a:latin typeface="Calibri" pitchFamily="34" charset="0"/>
                <a:ea typeface="Calibri" pitchFamily="34" charset="-122"/>
                <a:cs typeface="Calibri" pitchFamily="34" charset="-120"/>
              </a:rPr>
              <a:t>Triggers alerts &amp; automated response</a:t>
            </a:r>
            <a:endParaRPr lang="en-US" sz="1250" dirty="0"/>
          </a:p>
        </p:txBody>
      </p:sp>
      <p:sp>
        <p:nvSpPr>
          <p:cNvPr id="29" name="Shape 24"/>
          <p:cNvSpPr/>
          <p:nvPr/>
        </p:nvSpPr>
        <p:spPr>
          <a:xfrm>
            <a:off x="6720840" y="4809744"/>
            <a:ext cx="118872" cy="118872"/>
          </a:xfrm>
          <a:prstGeom prst="ellipse">
            <a:avLst/>
          </a:prstGeom>
          <a:solidFill>
            <a:srgbClr val="F2931F"/>
          </a:solidFill>
          <a:ln/>
        </p:spPr>
      </p:sp>
      <p:sp>
        <p:nvSpPr>
          <p:cNvPr id="30" name="Text 25"/>
          <p:cNvSpPr/>
          <p:nvPr/>
        </p:nvSpPr>
        <p:spPr>
          <a:xfrm>
            <a:off x="6976872" y="4754880"/>
            <a:ext cx="4434840" cy="411480"/>
          </a:xfrm>
          <a:prstGeom prst="rect">
            <a:avLst/>
          </a:prstGeom>
          <a:noFill/>
          <a:ln/>
        </p:spPr>
        <p:txBody>
          <a:bodyPr wrap="square" lIns="0" tIns="0" rIns="0" bIns="0" rtlCol="0" anchor="ctr"/>
          <a:lstStyle/>
          <a:p>
            <a:pPr indent="0" marL="0">
              <a:buNone/>
            </a:pPr>
            <a:r>
              <a:rPr lang="en-US" sz="1250" dirty="0">
                <a:solidFill>
                  <a:srgbClr val="23283A"/>
                </a:solidFill>
                <a:latin typeface="Calibri" pitchFamily="34" charset="0"/>
                <a:ea typeface="Calibri" pitchFamily="34" charset="-122"/>
                <a:cs typeface="Calibri" pitchFamily="34" charset="-120"/>
              </a:rPr>
              <a:t>Temporary, less context</a:t>
            </a:r>
            <a:endParaRPr lang="en-US" sz="1250" dirty="0"/>
          </a:p>
        </p:txBody>
      </p:sp>
      <p:sp>
        <p:nvSpPr>
          <p:cNvPr id="31" name="Shape 26"/>
          <p:cNvSpPr/>
          <p:nvPr/>
        </p:nvSpPr>
        <p:spPr>
          <a:xfrm>
            <a:off x="6720840" y="5266944"/>
            <a:ext cx="118872" cy="118872"/>
          </a:xfrm>
          <a:prstGeom prst="ellipse">
            <a:avLst/>
          </a:prstGeom>
          <a:solidFill>
            <a:srgbClr val="F2931F"/>
          </a:solidFill>
          <a:ln/>
        </p:spPr>
      </p:sp>
      <p:sp>
        <p:nvSpPr>
          <p:cNvPr id="32" name="Text 27"/>
          <p:cNvSpPr/>
          <p:nvPr/>
        </p:nvSpPr>
        <p:spPr>
          <a:xfrm>
            <a:off x="6976872" y="5212080"/>
            <a:ext cx="4434840" cy="411480"/>
          </a:xfrm>
          <a:prstGeom prst="rect">
            <a:avLst/>
          </a:prstGeom>
          <a:noFill/>
          <a:ln/>
        </p:spPr>
        <p:txBody>
          <a:bodyPr wrap="square" lIns="0" tIns="0" rIns="0" bIns="0" rtlCol="0" anchor="ctr"/>
          <a:lstStyle/>
          <a:p>
            <a:pPr indent="0" marL="0">
              <a:buNone/>
            </a:pPr>
            <a:r>
              <a:rPr lang="en-US" sz="1250" dirty="0">
                <a:solidFill>
                  <a:srgbClr val="23283A"/>
                </a:solidFill>
                <a:latin typeface="Calibri" pitchFamily="34" charset="0"/>
                <a:ea typeface="Calibri" pitchFamily="34" charset="-122"/>
                <a:cs typeface="Calibri" pitchFamily="34" charset="-120"/>
              </a:rPr>
              <a:t>Answer: something happened NOW</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WHERE DATA COMES FROM</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Cloud telemetry sources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1737360"/>
            <a:ext cx="3520440" cy="3657600"/>
          </a:xfrm>
          <a:prstGeom prst="roundRect">
            <a:avLst>
              <a:gd name="adj" fmla="val 2338"/>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14400" y="205740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33856" y="2276856"/>
            <a:ext cx="475488" cy="475488"/>
          </a:xfrm>
          <a:prstGeom prst="rect">
            <a:avLst/>
          </a:prstGeom>
        </p:spPr>
      </p:pic>
      <p:sp>
        <p:nvSpPr>
          <p:cNvPr id="10" name="Text 6"/>
          <p:cNvSpPr/>
          <p:nvPr/>
        </p:nvSpPr>
        <p:spPr>
          <a:xfrm>
            <a:off x="914400" y="3063240"/>
            <a:ext cx="297180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Management-plane logs</a:t>
            </a:r>
            <a:endParaRPr lang="en-US" sz="1550" dirty="0"/>
          </a:p>
        </p:txBody>
      </p:sp>
      <p:sp>
        <p:nvSpPr>
          <p:cNvPr id="11" name="Text 7"/>
          <p:cNvSpPr/>
          <p:nvPr/>
        </p:nvSpPr>
        <p:spPr>
          <a:xfrm>
            <a:off x="914400" y="3840480"/>
            <a:ext cx="2971800" cy="914400"/>
          </a:xfrm>
          <a:prstGeom prst="rect">
            <a:avLst/>
          </a:prstGeom>
          <a:noFill/>
          <a:ln/>
        </p:spPr>
        <p:txBody>
          <a:bodyPr wrap="square" lIns="0" tIns="0" rIns="0" bIns="0" rtlCol="0" anchor="t"/>
          <a:lstStyle/>
          <a:p>
            <a:pPr indent="0" marL="0">
              <a:buNone/>
            </a:pPr>
            <a:r>
              <a:rPr lang="en-US" sz="1250" dirty="0">
                <a:solidFill>
                  <a:srgbClr val="23283A"/>
                </a:solidFill>
                <a:latin typeface="Calibri" pitchFamily="34" charset="0"/>
                <a:ea typeface="Calibri" pitchFamily="34" charset="-122"/>
                <a:cs typeface="Calibri" pitchFamily="34" charset="-120"/>
              </a:rPr>
              <a:t>Every console login &amp; API call that creates or changes resources.</a:t>
            </a:r>
            <a:endParaRPr lang="en-US" sz="1250" dirty="0"/>
          </a:p>
        </p:txBody>
      </p:sp>
      <p:sp>
        <p:nvSpPr>
          <p:cNvPr id="12" name="Text 8"/>
          <p:cNvSpPr/>
          <p:nvPr/>
        </p:nvSpPr>
        <p:spPr>
          <a:xfrm>
            <a:off x="914400" y="4754880"/>
            <a:ext cx="2971800" cy="594360"/>
          </a:xfrm>
          <a:prstGeom prst="rect">
            <a:avLst/>
          </a:prstGeom>
          <a:noFill/>
          <a:ln/>
        </p:spPr>
        <p:txBody>
          <a:bodyPr wrap="square" lIns="0" tIns="0" rIns="0" bIns="0" rtlCol="0" anchor="t"/>
          <a:lstStyle/>
          <a:p>
            <a:pPr indent="0" marL="0">
              <a:buNone/>
            </a:pPr>
            <a:r>
              <a:rPr lang="en-US" sz="1150" i="1" dirty="0">
                <a:solidFill>
                  <a:srgbClr val="5B6472"/>
                </a:solidFill>
                <a:latin typeface="Calibri" pitchFamily="34" charset="0"/>
                <a:ea typeface="Calibri" pitchFamily="34" charset="-122"/>
                <a:cs typeface="Calibri" pitchFamily="34" charset="-120"/>
              </a:rPr>
              <a:t>Highest value — captures admin actions &amp; auth failures.</a:t>
            </a:r>
            <a:endParaRPr lang="en-US" sz="1150" dirty="0"/>
          </a:p>
        </p:txBody>
      </p:sp>
      <p:sp>
        <p:nvSpPr>
          <p:cNvPr id="13" name="Shape 9"/>
          <p:cNvSpPr/>
          <p:nvPr/>
        </p:nvSpPr>
        <p:spPr>
          <a:xfrm>
            <a:off x="4416552" y="1737360"/>
            <a:ext cx="3520440" cy="3657600"/>
          </a:xfrm>
          <a:prstGeom prst="roundRect">
            <a:avLst>
              <a:gd name="adj" fmla="val 2338"/>
            </a:avLst>
          </a:prstGeom>
          <a:solidFill>
            <a:srgbClr val="F4F6FB"/>
          </a:solidFill>
          <a:ln/>
          <a:effectLst>
            <a:outerShdw sx="100000" sy="100000" kx="0" ky="0" algn="bl" rotWithShape="0" blurRad="88900" dist="38100" dir="5400000">
              <a:srgbClr val="8894AD">
                <a:alpha val="28000"/>
              </a:srgbClr>
            </a:outerShdw>
          </a:effectLst>
        </p:spPr>
      </p:sp>
      <p:sp>
        <p:nvSpPr>
          <p:cNvPr id="14" name="Shape 10"/>
          <p:cNvSpPr/>
          <p:nvPr/>
        </p:nvSpPr>
        <p:spPr>
          <a:xfrm>
            <a:off x="4690872" y="2057400"/>
            <a:ext cx="914400" cy="914400"/>
          </a:xfrm>
          <a:prstGeom prst="ellipse">
            <a:avLst/>
          </a:prstGeom>
          <a:solidFill>
            <a:srgbClr val="F2931F"/>
          </a:solidFill>
          <a:ln/>
        </p:spPr>
      </p:sp>
      <p:pic>
        <p:nvPicPr>
          <p:cNvPr id="15" name="Image 1" descr="preencoded.png">    </p:cNvPr>
          <p:cNvPicPr>
            <a:picLocks noChangeAspect="1"/>
          </p:cNvPicPr>
          <p:nvPr/>
        </p:nvPicPr>
        <p:blipFill>
          <a:blip r:embed="rId2"/>
          <a:stretch>
            <a:fillRect/>
          </a:stretch>
        </p:blipFill>
        <p:spPr>
          <a:xfrm>
            <a:off x="4910328" y="2276856"/>
            <a:ext cx="475488" cy="475488"/>
          </a:xfrm>
          <a:prstGeom prst="rect">
            <a:avLst/>
          </a:prstGeom>
        </p:spPr>
      </p:pic>
      <p:sp>
        <p:nvSpPr>
          <p:cNvPr id="16" name="Text 11"/>
          <p:cNvSpPr/>
          <p:nvPr/>
        </p:nvSpPr>
        <p:spPr>
          <a:xfrm>
            <a:off x="4690872" y="3063240"/>
            <a:ext cx="297180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Service &amp; application logs</a:t>
            </a:r>
            <a:endParaRPr lang="en-US" sz="1550" dirty="0"/>
          </a:p>
        </p:txBody>
      </p:sp>
      <p:sp>
        <p:nvSpPr>
          <p:cNvPr id="17" name="Text 12"/>
          <p:cNvSpPr/>
          <p:nvPr/>
        </p:nvSpPr>
        <p:spPr>
          <a:xfrm>
            <a:off x="4690872" y="3840480"/>
            <a:ext cx="2971800" cy="914400"/>
          </a:xfrm>
          <a:prstGeom prst="rect">
            <a:avLst/>
          </a:prstGeom>
          <a:noFill/>
          <a:ln/>
        </p:spPr>
        <p:txBody>
          <a:bodyPr wrap="square" lIns="0" tIns="0" rIns="0" bIns="0" rtlCol="0" anchor="t"/>
          <a:lstStyle/>
          <a:p>
            <a:pPr indent="0" marL="0">
              <a:buNone/>
            </a:pPr>
            <a:r>
              <a:rPr lang="en-US" sz="1250" dirty="0">
                <a:solidFill>
                  <a:srgbClr val="23283A"/>
                </a:solidFill>
                <a:latin typeface="Calibri" pitchFamily="34" charset="0"/>
                <a:ea typeface="Calibri" pitchFamily="34" charset="-122"/>
                <a:cs typeface="Calibri" pitchFamily="34" charset="-120"/>
              </a:rPr>
              <a:t>Interactions with managed services — load balancers, storage, databases.</a:t>
            </a:r>
            <a:endParaRPr lang="en-US" sz="1250" dirty="0"/>
          </a:p>
        </p:txBody>
      </p:sp>
      <p:sp>
        <p:nvSpPr>
          <p:cNvPr id="18" name="Text 13"/>
          <p:cNvSpPr/>
          <p:nvPr/>
        </p:nvSpPr>
        <p:spPr>
          <a:xfrm>
            <a:off x="4690872" y="4754880"/>
            <a:ext cx="2971800" cy="594360"/>
          </a:xfrm>
          <a:prstGeom prst="rect">
            <a:avLst/>
          </a:prstGeom>
          <a:noFill/>
          <a:ln/>
        </p:spPr>
        <p:txBody>
          <a:bodyPr wrap="square" lIns="0" tIns="0" rIns="0" bIns="0" rtlCol="0" anchor="t"/>
          <a:lstStyle/>
          <a:p>
            <a:pPr indent="0" marL="0">
              <a:buNone/>
            </a:pPr>
            <a:r>
              <a:rPr lang="en-US" sz="1150" i="1" dirty="0">
                <a:solidFill>
                  <a:srgbClr val="5B6472"/>
                </a:solidFill>
                <a:latin typeface="Calibri" pitchFamily="34" charset="0"/>
                <a:ea typeface="Calibri" pitchFamily="34" charset="-122"/>
                <a:cs typeface="Calibri" pitchFamily="34" charset="-120"/>
              </a:rPr>
              <a:t>Service-specific activity and access patterns.</a:t>
            </a:r>
            <a:endParaRPr lang="en-US" sz="1150" dirty="0"/>
          </a:p>
        </p:txBody>
      </p:sp>
      <p:sp>
        <p:nvSpPr>
          <p:cNvPr id="19" name="Shape 14"/>
          <p:cNvSpPr/>
          <p:nvPr/>
        </p:nvSpPr>
        <p:spPr>
          <a:xfrm>
            <a:off x="8193024" y="1737360"/>
            <a:ext cx="3520440" cy="3657600"/>
          </a:xfrm>
          <a:prstGeom prst="roundRect">
            <a:avLst>
              <a:gd name="adj" fmla="val 2338"/>
            </a:avLst>
          </a:prstGeom>
          <a:solidFill>
            <a:srgbClr val="F4F6FB"/>
          </a:solidFill>
          <a:ln/>
          <a:effectLst>
            <a:outerShdw sx="100000" sy="100000" kx="0" ky="0" algn="bl" rotWithShape="0" blurRad="88900" dist="38100" dir="5400000">
              <a:srgbClr val="8894AD">
                <a:alpha val="28000"/>
              </a:srgbClr>
            </a:outerShdw>
          </a:effectLst>
        </p:spPr>
      </p:sp>
      <p:sp>
        <p:nvSpPr>
          <p:cNvPr id="20" name="Shape 15"/>
          <p:cNvSpPr/>
          <p:nvPr/>
        </p:nvSpPr>
        <p:spPr>
          <a:xfrm>
            <a:off x="8467344" y="2057400"/>
            <a:ext cx="914400" cy="914400"/>
          </a:xfrm>
          <a:prstGeom prst="ellipse">
            <a:avLst/>
          </a:prstGeom>
          <a:solidFill>
            <a:srgbClr val="293E7B"/>
          </a:solidFill>
          <a:ln/>
        </p:spPr>
      </p:sp>
      <p:pic>
        <p:nvPicPr>
          <p:cNvPr id="21" name="Image 2" descr="preencoded.png">    </p:cNvPr>
          <p:cNvPicPr>
            <a:picLocks noChangeAspect="1"/>
          </p:cNvPicPr>
          <p:nvPr/>
        </p:nvPicPr>
        <p:blipFill>
          <a:blip r:embed="rId3"/>
          <a:stretch>
            <a:fillRect/>
          </a:stretch>
        </p:blipFill>
        <p:spPr>
          <a:xfrm>
            <a:off x="8686800" y="2276856"/>
            <a:ext cx="475488" cy="475488"/>
          </a:xfrm>
          <a:prstGeom prst="rect">
            <a:avLst/>
          </a:prstGeom>
        </p:spPr>
      </p:pic>
      <p:sp>
        <p:nvSpPr>
          <p:cNvPr id="22" name="Text 16"/>
          <p:cNvSpPr/>
          <p:nvPr/>
        </p:nvSpPr>
        <p:spPr>
          <a:xfrm>
            <a:off x="8467344" y="3063240"/>
            <a:ext cx="297180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Resource logs</a:t>
            </a:r>
            <a:endParaRPr lang="en-US" sz="1550" dirty="0"/>
          </a:p>
        </p:txBody>
      </p:sp>
      <p:sp>
        <p:nvSpPr>
          <p:cNvPr id="23" name="Text 17"/>
          <p:cNvSpPr/>
          <p:nvPr/>
        </p:nvSpPr>
        <p:spPr>
          <a:xfrm>
            <a:off x="8467344" y="3840480"/>
            <a:ext cx="2971800" cy="914400"/>
          </a:xfrm>
          <a:prstGeom prst="rect">
            <a:avLst/>
          </a:prstGeom>
          <a:noFill/>
          <a:ln/>
        </p:spPr>
        <p:txBody>
          <a:bodyPr wrap="square" lIns="0" tIns="0" rIns="0" bIns="0" rtlCol="0" anchor="t"/>
          <a:lstStyle/>
          <a:p>
            <a:pPr indent="0" marL="0">
              <a:buNone/>
            </a:pPr>
            <a:r>
              <a:rPr lang="en-US" sz="1250" dirty="0">
                <a:solidFill>
                  <a:srgbClr val="23283A"/>
                </a:solidFill>
                <a:latin typeface="Calibri" pitchFamily="34" charset="0"/>
                <a:ea typeface="Calibri" pitchFamily="34" charset="-122"/>
                <a:cs typeface="Calibri" pitchFamily="34" charset="-120"/>
              </a:rPr>
              <a:t>From the workloads — OS, VMs, software-defined networks.</a:t>
            </a:r>
            <a:endParaRPr lang="en-US" sz="1250" dirty="0"/>
          </a:p>
        </p:txBody>
      </p:sp>
      <p:sp>
        <p:nvSpPr>
          <p:cNvPr id="24" name="Text 18"/>
          <p:cNvSpPr/>
          <p:nvPr/>
        </p:nvSpPr>
        <p:spPr>
          <a:xfrm>
            <a:off x="8467344" y="4754880"/>
            <a:ext cx="2971800" cy="594360"/>
          </a:xfrm>
          <a:prstGeom prst="rect">
            <a:avLst/>
          </a:prstGeom>
          <a:noFill/>
          <a:ln/>
        </p:spPr>
        <p:txBody>
          <a:bodyPr wrap="square" lIns="0" tIns="0" rIns="0" bIns="0" rtlCol="0" anchor="t"/>
          <a:lstStyle/>
          <a:p>
            <a:pPr indent="0" marL="0">
              <a:buNone/>
            </a:pPr>
            <a:r>
              <a:rPr lang="en-US" sz="1150" i="1" dirty="0">
                <a:solidFill>
                  <a:srgbClr val="5B6472"/>
                </a:solidFill>
                <a:latin typeface="Calibri" pitchFamily="34" charset="0"/>
                <a:ea typeface="Calibri" pitchFamily="34" charset="-122"/>
                <a:cs typeface="Calibri" pitchFamily="34" charset="-120"/>
              </a:rPr>
              <a:t>Provisioning, config changes, data transfers.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03</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3</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Collection Architecture &amp; SIEM</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DESIGN DECISIONS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Log storage &amp; retention — the trade-offs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1783080"/>
            <a:ext cx="5257800" cy="1554480"/>
          </a:xfrm>
          <a:prstGeom prst="roundRect">
            <a:avLst>
              <a:gd name="adj" fmla="val 5294"/>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14400" y="2167128"/>
            <a:ext cx="822960" cy="82296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11910" y="2364638"/>
            <a:ext cx="427939" cy="427939"/>
          </a:xfrm>
          <a:prstGeom prst="rect">
            <a:avLst/>
          </a:prstGeom>
        </p:spPr>
      </p:pic>
      <p:sp>
        <p:nvSpPr>
          <p:cNvPr id="10" name="Text 6"/>
          <p:cNvSpPr/>
          <p:nvPr/>
        </p:nvSpPr>
        <p:spPr>
          <a:xfrm>
            <a:off x="1920240" y="2057400"/>
            <a:ext cx="3703320" cy="457200"/>
          </a:xfrm>
          <a:prstGeom prst="rect">
            <a:avLst/>
          </a:prstGeom>
          <a:noFill/>
          <a:ln/>
        </p:spPr>
        <p:txBody>
          <a:bodyPr wrap="square" lIns="0" tIns="0" rIns="0" bIns="0" rtlCol="0" anchor="t"/>
          <a:lstStyle/>
          <a:p>
            <a:pPr indent="0" marL="0">
              <a:buNone/>
            </a:pPr>
            <a:r>
              <a:rPr lang="en-US" sz="1600" b="1" dirty="0">
                <a:solidFill>
                  <a:srgbClr val="262F65"/>
                </a:solidFill>
                <a:latin typeface="Calibri" pitchFamily="34" charset="0"/>
                <a:ea typeface="Calibri" pitchFamily="34" charset="-122"/>
                <a:cs typeface="Calibri" pitchFamily="34" charset="-120"/>
              </a:rPr>
              <a:t>Cost</a:t>
            </a:r>
            <a:endParaRPr lang="en-US" sz="1600" dirty="0"/>
          </a:p>
        </p:txBody>
      </p:sp>
      <p:sp>
        <p:nvSpPr>
          <p:cNvPr id="11" name="Text 7"/>
          <p:cNvSpPr/>
          <p:nvPr/>
        </p:nvSpPr>
        <p:spPr>
          <a:xfrm>
            <a:off x="1920240" y="2514600"/>
            <a:ext cx="3703320" cy="6858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Cloud storage vs external; egress fees to move logs out.</a:t>
            </a:r>
            <a:endParaRPr lang="en-US" sz="1250" dirty="0"/>
          </a:p>
        </p:txBody>
      </p:sp>
      <p:sp>
        <p:nvSpPr>
          <p:cNvPr id="12" name="Shape 8"/>
          <p:cNvSpPr/>
          <p:nvPr/>
        </p:nvSpPr>
        <p:spPr>
          <a:xfrm>
            <a:off x="6217920" y="1783080"/>
            <a:ext cx="5257800" cy="1554480"/>
          </a:xfrm>
          <a:prstGeom prst="roundRect">
            <a:avLst>
              <a:gd name="adj" fmla="val 5294"/>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6492240" y="2167128"/>
            <a:ext cx="822960" cy="822960"/>
          </a:xfrm>
          <a:prstGeom prst="ellipse">
            <a:avLst/>
          </a:prstGeom>
          <a:solidFill>
            <a:srgbClr val="293E7B"/>
          </a:solidFill>
          <a:ln/>
        </p:spPr>
      </p:sp>
      <p:pic>
        <p:nvPicPr>
          <p:cNvPr id="14" name="Image 1" descr="preencoded.png">    </p:cNvPr>
          <p:cNvPicPr>
            <a:picLocks noChangeAspect="1"/>
          </p:cNvPicPr>
          <p:nvPr/>
        </p:nvPicPr>
        <p:blipFill>
          <a:blip r:embed="rId2"/>
          <a:stretch>
            <a:fillRect/>
          </a:stretch>
        </p:blipFill>
        <p:spPr>
          <a:xfrm>
            <a:off x="6689750" y="2364638"/>
            <a:ext cx="427939" cy="427939"/>
          </a:xfrm>
          <a:prstGeom prst="rect">
            <a:avLst/>
          </a:prstGeom>
        </p:spPr>
      </p:pic>
      <p:sp>
        <p:nvSpPr>
          <p:cNvPr id="15" name="Text 10"/>
          <p:cNvSpPr/>
          <p:nvPr/>
        </p:nvSpPr>
        <p:spPr>
          <a:xfrm>
            <a:off x="7498080" y="2057400"/>
            <a:ext cx="3703320" cy="457200"/>
          </a:xfrm>
          <a:prstGeom prst="rect">
            <a:avLst/>
          </a:prstGeom>
          <a:noFill/>
          <a:ln/>
        </p:spPr>
        <p:txBody>
          <a:bodyPr wrap="square" lIns="0" tIns="0" rIns="0" bIns="0" rtlCol="0" anchor="t"/>
          <a:lstStyle/>
          <a:p>
            <a:pPr indent="0" marL="0">
              <a:buNone/>
            </a:pPr>
            <a:r>
              <a:rPr lang="en-US" sz="1600" b="1" dirty="0">
                <a:solidFill>
                  <a:srgbClr val="262F65"/>
                </a:solidFill>
                <a:latin typeface="Calibri" pitchFamily="34" charset="0"/>
                <a:ea typeface="Calibri" pitchFamily="34" charset="-122"/>
                <a:cs typeface="Calibri" pitchFamily="34" charset="-120"/>
              </a:rPr>
              <a:t>Integration</a:t>
            </a:r>
            <a:endParaRPr lang="en-US" sz="1600" dirty="0"/>
          </a:p>
        </p:txBody>
      </p:sp>
      <p:sp>
        <p:nvSpPr>
          <p:cNvPr id="16" name="Text 11"/>
          <p:cNvSpPr/>
          <p:nvPr/>
        </p:nvSpPr>
        <p:spPr>
          <a:xfrm>
            <a:off x="7498080" y="2514600"/>
            <a:ext cx="3703320" cy="6858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Cloud logs must combine with on-prem / other-source logs.</a:t>
            </a:r>
            <a:endParaRPr lang="en-US" sz="1250" dirty="0"/>
          </a:p>
        </p:txBody>
      </p:sp>
      <p:sp>
        <p:nvSpPr>
          <p:cNvPr id="17" name="Shape 12"/>
          <p:cNvSpPr/>
          <p:nvPr/>
        </p:nvSpPr>
        <p:spPr>
          <a:xfrm>
            <a:off x="640080" y="3566160"/>
            <a:ext cx="5257800" cy="1554480"/>
          </a:xfrm>
          <a:prstGeom prst="roundRect">
            <a:avLst>
              <a:gd name="adj" fmla="val 5294"/>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14400" y="3950208"/>
            <a:ext cx="822960" cy="822960"/>
          </a:xfrm>
          <a:prstGeom prst="ellipse">
            <a:avLst/>
          </a:prstGeom>
          <a:solidFill>
            <a:srgbClr val="F2931F"/>
          </a:solidFill>
          <a:ln/>
        </p:spPr>
      </p:sp>
      <p:pic>
        <p:nvPicPr>
          <p:cNvPr id="19" name="Image 2" descr="preencoded.png">    </p:cNvPr>
          <p:cNvPicPr>
            <a:picLocks noChangeAspect="1"/>
          </p:cNvPicPr>
          <p:nvPr/>
        </p:nvPicPr>
        <p:blipFill>
          <a:blip r:embed="rId3"/>
          <a:stretch>
            <a:fillRect/>
          </a:stretch>
        </p:blipFill>
        <p:spPr>
          <a:xfrm>
            <a:off x="1111910" y="4147718"/>
            <a:ext cx="427939" cy="427939"/>
          </a:xfrm>
          <a:prstGeom prst="rect">
            <a:avLst/>
          </a:prstGeom>
        </p:spPr>
      </p:pic>
      <p:sp>
        <p:nvSpPr>
          <p:cNvPr id="20" name="Text 14"/>
          <p:cNvSpPr/>
          <p:nvPr/>
        </p:nvSpPr>
        <p:spPr>
          <a:xfrm>
            <a:off x="1920240" y="3840480"/>
            <a:ext cx="3703320" cy="457200"/>
          </a:xfrm>
          <a:prstGeom prst="rect">
            <a:avLst/>
          </a:prstGeom>
          <a:noFill/>
          <a:ln/>
        </p:spPr>
        <p:txBody>
          <a:bodyPr wrap="square" lIns="0" tIns="0" rIns="0" bIns="0" rtlCol="0" anchor="t"/>
          <a:lstStyle/>
          <a:p>
            <a:pPr indent="0" marL="0">
              <a:buNone/>
            </a:pPr>
            <a:r>
              <a:rPr lang="en-US" sz="1600" b="1" dirty="0">
                <a:solidFill>
                  <a:srgbClr val="262F65"/>
                </a:solidFill>
                <a:latin typeface="Calibri" pitchFamily="34" charset="0"/>
                <a:ea typeface="Calibri" pitchFamily="34" charset="-122"/>
                <a:cs typeface="Calibri" pitchFamily="34" charset="-120"/>
              </a:rPr>
              <a:t>Retention</a:t>
            </a:r>
            <a:endParaRPr lang="en-US" sz="1600" dirty="0"/>
          </a:p>
        </p:txBody>
      </p:sp>
      <p:sp>
        <p:nvSpPr>
          <p:cNvPr id="21" name="Text 15"/>
          <p:cNvSpPr/>
          <p:nvPr/>
        </p:nvSpPr>
        <p:spPr>
          <a:xfrm>
            <a:off x="1920240" y="4297680"/>
            <a:ext cx="3703320" cy="6858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CSP defaults are often shorter than compliance requires.</a:t>
            </a:r>
            <a:endParaRPr lang="en-US" sz="1250" dirty="0"/>
          </a:p>
        </p:txBody>
      </p:sp>
      <p:sp>
        <p:nvSpPr>
          <p:cNvPr id="22" name="Shape 16"/>
          <p:cNvSpPr/>
          <p:nvPr/>
        </p:nvSpPr>
        <p:spPr>
          <a:xfrm>
            <a:off x="6217920" y="3566160"/>
            <a:ext cx="5257800" cy="1554480"/>
          </a:xfrm>
          <a:prstGeom prst="roundRect">
            <a:avLst>
              <a:gd name="adj" fmla="val 5294"/>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6492240" y="3950208"/>
            <a:ext cx="822960" cy="822960"/>
          </a:xfrm>
          <a:prstGeom prst="ellipse">
            <a:avLst/>
          </a:prstGeom>
          <a:solidFill>
            <a:srgbClr val="E8403A"/>
          </a:solidFill>
          <a:ln/>
        </p:spPr>
      </p:sp>
      <p:pic>
        <p:nvPicPr>
          <p:cNvPr id="24" name="Image 3" descr="preencoded.png">    </p:cNvPr>
          <p:cNvPicPr>
            <a:picLocks noChangeAspect="1"/>
          </p:cNvPicPr>
          <p:nvPr/>
        </p:nvPicPr>
        <p:blipFill>
          <a:blip r:embed="rId4"/>
          <a:stretch>
            <a:fillRect/>
          </a:stretch>
        </p:blipFill>
        <p:spPr>
          <a:xfrm>
            <a:off x="6689750" y="4147718"/>
            <a:ext cx="427939" cy="427939"/>
          </a:xfrm>
          <a:prstGeom prst="rect">
            <a:avLst/>
          </a:prstGeom>
        </p:spPr>
      </p:pic>
      <p:sp>
        <p:nvSpPr>
          <p:cNvPr id="25" name="Text 18"/>
          <p:cNvSpPr/>
          <p:nvPr/>
        </p:nvSpPr>
        <p:spPr>
          <a:xfrm>
            <a:off x="7498080" y="3840480"/>
            <a:ext cx="3703320" cy="457200"/>
          </a:xfrm>
          <a:prstGeom prst="rect">
            <a:avLst/>
          </a:prstGeom>
          <a:noFill/>
          <a:ln/>
        </p:spPr>
        <p:txBody>
          <a:bodyPr wrap="square" lIns="0" tIns="0" rIns="0" bIns="0" rtlCol="0" anchor="t"/>
          <a:lstStyle/>
          <a:p>
            <a:pPr indent="0" marL="0">
              <a:buNone/>
            </a:pPr>
            <a:r>
              <a:rPr lang="en-US" sz="1600" b="1" dirty="0">
                <a:solidFill>
                  <a:srgbClr val="262F65"/>
                </a:solidFill>
                <a:latin typeface="Calibri" pitchFamily="34" charset="0"/>
                <a:ea typeface="Calibri" pitchFamily="34" charset="-122"/>
                <a:cs typeface="Calibri" pitchFamily="34" charset="-120"/>
              </a:rPr>
              <a:t>Lock-in</a:t>
            </a:r>
            <a:endParaRPr lang="en-US" sz="1600" dirty="0"/>
          </a:p>
        </p:txBody>
      </p:sp>
      <p:sp>
        <p:nvSpPr>
          <p:cNvPr id="26" name="Text 19"/>
          <p:cNvSpPr/>
          <p:nvPr/>
        </p:nvSpPr>
        <p:spPr>
          <a:xfrm>
            <a:off x="7498080" y="4297680"/>
            <a:ext cx="3703320" cy="6858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Logs left only in the CSP tie you to its analysis tools.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REFERENCE DESIGN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Cascading log architecture → SIEM</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85800" y="2286000"/>
            <a:ext cx="2514600" cy="1828800"/>
          </a:xfrm>
          <a:prstGeom prst="roundRect">
            <a:avLst>
              <a:gd name="adj" fmla="val 4500"/>
            </a:avLst>
          </a:prstGeom>
          <a:solidFill>
            <a:srgbClr val="293E7B"/>
          </a:solidFill>
          <a:ln/>
          <a:effectLst>
            <a:outerShdw sx="100000" sy="100000" kx="0" ky="0" algn="bl" rotWithShape="0" blurRad="88900" dist="38100" dir="5400000">
              <a:srgbClr val="8894AD">
                <a:alpha val="28000"/>
              </a:srgbClr>
            </a:outerShdw>
          </a:effectLst>
        </p:spPr>
      </p:sp>
      <p:sp>
        <p:nvSpPr>
          <p:cNvPr id="8" name="Text 5"/>
          <p:cNvSpPr/>
          <p:nvPr/>
        </p:nvSpPr>
        <p:spPr>
          <a:xfrm>
            <a:off x="795528" y="2606040"/>
            <a:ext cx="2295144" cy="77724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Dev · Test · Prod</a:t>
            </a:r>
            <a:endParaRPr lang="en-US" sz="1700" dirty="0"/>
          </a:p>
        </p:txBody>
      </p:sp>
      <p:sp>
        <p:nvSpPr>
          <p:cNvPr id="9" name="Text 6"/>
          <p:cNvSpPr/>
          <p:nvPr/>
        </p:nvSpPr>
        <p:spPr>
          <a:xfrm>
            <a:off x="822960" y="3383280"/>
            <a:ext cx="2240280" cy="640080"/>
          </a:xfrm>
          <a:prstGeom prst="rect">
            <a:avLst/>
          </a:prstGeom>
          <a:noFill/>
          <a:ln/>
        </p:spPr>
        <p:txBody>
          <a:bodyPr wrap="square" lIns="0" tIns="0" rIns="0" bIns="0" rtlCol="0" anchor="t"/>
          <a:lstStyle/>
          <a:p>
            <a:pPr algn="ctr" indent="0" marL="0">
              <a:buNone/>
            </a:pPr>
            <a:r>
              <a:rPr lang="en-US" sz="1200" dirty="0">
                <a:solidFill>
                  <a:srgbClr val="F2F5FF"/>
                </a:solidFill>
                <a:latin typeface="Calibri" pitchFamily="34" charset="0"/>
                <a:ea typeface="Calibri" pitchFamily="34" charset="-122"/>
                <a:cs typeface="Calibri" pitchFamily="34" charset="-120"/>
              </a:rPr>
              <a:t>Each environment emits its own logs</a:t>
            </a:r>
            <a:endParaRPr lang="en-US" sz="1200" dirty="0"/>
          </a:p>
        </p:txBody>
      </p:sp>
      <p:sp>
        <p:nvSpPr>
          <p:cNvPr id="10" name="Text 7"/>
          <p:cNvSpPr/>
          <p:nvPr/>
        </p:nvSpPr>
        <p:spPr>
          <a:xfrm>
            <a:off x="3218688" y="2788920"/>
            <a:ext cx="365760" cy="731520"/>
          </a:xfrm>
          <a:prstGeom prst="rect">
            <a:avLst/>
          </a:prstGeom>
          <a:noFill/>
          <a:ln/>
        </p:spPr>
        <p:txBody>
          <a:bodyPr wrap="square" lIns="0" tIns="0" rIns="0" bIns="0" rtlCol="0" anchor="ctr"/>
          <a:lstStyle/>
          <a:p>
            <a:pPr algn="ctr" indent="0" marL="0">
              <a:buNone/>
            </a:pPr>
            <a:r>
              <a:rPr lang="en-US" sz="3000" b="1" dirty="0">
                <a:solidFill>
                  <a:srgbClr val="5B6472"/>
                </a:solidFill>
                <a:latin typeface="Calibri" pitchFamily="34" charset="0"/>
                <a:ea typeface="Calibri" pitchFamily="34" charset="-122"/>
                <a:cs typeface="Calibri" pitchFamily="34" charset="-120"/>
              </a:rPr>
              <a:t>→</a:t>
            </a:r>
            <a:endParaRPr lang="en-US" sz="3000" dirty="0"/>
          </a:p>
        </p:txBody>
      </p:sp>
      <p:sp>
        <p:nvSpPr>
          <p:cNvPr id="11" name="Shape 8"/>
          <p:cNvSpPr/>
          <p:nvPr/>
        </p:nvSpPr>
        <p:spPr>
          <a:xfrm>
            <a:off x="3584448" y="2286000"/>
            <a:ext cx="2514600" cy="1828800"/>
          </a:xfrm>
          <a:prstGeom prst="roundRect">
            <a:avLst>
              <a:gd name="adj" fmla="val 4500"/>
            </a:avLst>
          </a:prstGeom>
          <a:solidFill>
            <a:srgbClr val="262F65"/>
          </a:solidFill>
          <a:ln/>
          <a:effectLst>
            <a:outerShdw sx="100000" sy="100000" kx="0" ky="0" algn="bl" rotWithShape="0" blurRad="88900" dist="38100" dir="5400000">
              <a:srgbClr val="8894AD">
                <a:alpha val="28000"/>
              </a:srgbClr>
            </a:outerShdw>
          </a:effectLst>
        </p:spPr>
      </p:sp>
      <p:sp>
        <p:nvSpPr>
          <p:cNvPr id="12" name="Text 9"/>
          <p:cNvSpPr/>
          <p:nvPr/>
        </p:nvSpPr>
        <p:spPr>
          <a:xfrm>
            <a:off x="3694176" y="2606040"/>
            <a:ext cx="2295144" cy="77724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Central repository</a:t>
            </a:r>
            <a:endParaRPr lang="en-US" sz="1700" dirty="0"/>
          </a:p>
        </p:txBody>
      </p:sp>
      <p:sp>
        <p:nvSpPr>
          <p:cNvPr id="13" name="Text 10"/>
          <p:cNvSpPr/>
          <p:nvPr/>
        </p:nvSpPr>
        <p:spPr>
          <a:xfrm>
            <a:off x="3721608" y="3383280"/>
            <a:ext cx="2240280" cy="640080"/>
          </a:xfrm>
          <a:prstGeom prst="rect">
            <a:avLst/>
          </a:prstGeom>
          <a:noFill/>
          <a:ln/>
        </p:spPr>
        <p:txBody>
          <a:bodyPr wrap="square" lIns="0" tIns="0" rIns="0" bIns="0" rtlCol="0" anchor="t"/>
          <a:lstStyle/>
          <a:p>
            <a:pPr algn="ctr" indent="0" marL="0">
              <a:buNone/>
            </a:pPr>
            <a:r>
              <a:rPr lang="en-US" sz="1200" dirty="0">
                <a:solidFill>
                  <a:srgbClr val="F2F5FF"/>
                </a:solidFill>
                <a:latin typeface="Calibri" pitchFamily="34" charset="0"/>
                <a:ea typeface="Calibri" pitchFamily="34" charset="-122"/>
                <a:cs typeface="Calibri" pitchFamily="34" charset="-120"/>
              </a:rPr>
              <a:t>Aggregate + filter the noise</a:t>
            </a:r>
            <a:endParaRPr lang="en-US" sz="1200" dirty="0"/>
          </a:p>
        </p:txBody>
      </p:sp>
      <p:sp>
        <p:nvSpPr>
          <p:cNvPr id="14" name="Text 11"/>
          <p:cNvSpPr/>
          <p:nvPr/>
        </p:nvSpPr>
        <p:spPr>
          <a:xfrm>
            <a:off x="6117336" y="2788920"/>
            <a:ext cx="365760" cy="731520"/>
          </a:xfrm>
          <a:prstGeom prst="rect">
            <a:avLst/>
          </a:prstGeom>
          <a:noFill/>
          <a:ln/>
        </p:spPr>
        <p:txBody>
          <a:bodyPr wrap="square" lIns="0" tIns="0" rIns="0" bIns="0" rtlCol="0" anchor="ctr"/>
          <a:lstStyle/>
          <a:p>
            <a:pPr algn="ctr" indent="0" marL="0">
              <a:buNone/>
            </a:pPr>
            <a:r>
              <a:rPr lang="en-US" sz="3000" b="1" dirty="0">
                <a:solidFill>
                  <a:srgbClr val="5B6472"/>
                </a:solidFill>
                <a:latin typeface="Calibri" pitchFamily="34" charset="0"/>
                <a:ea typeface="Calibri" pitchFamily="34" charset="-122"/>
                <a:cs typeface="Calibri" pitchFamily="34" charset="-120"/>
              </a:rPr>
              <a:t>→</a:t>
            </a:r>
            <a:endParaRPr lang="en-US" sz="3000" dirty="0"/>
          </a:p>
        </p:txBody>
      </p:sp>
      <p:sp>
        <p:nvSpPr>
          <p:cNvPr id="15" name="Shape 12"/>
          <p:cNvSpPr/>
          <p:nvPr/>
        </p:nvSpPr>
        <p:spPr>
          <a:xfrm>
            <a:off x="6483096" y="2286000"/>
            <a:ext cx="2514600" cy="1828800"/>
          </a:xfrm>
          <a:prstGeom prst="roundRect">
            <a:avLst>
              <a:gd name="adj" fmla="val 4500"/>
            </a:avLst>
          </a:prstGeom>
          <a:solidFill>
            <a:srgbClr val="F2931F"/>
          </a:solidFill>
          <a:ln/>
          <a:effectLst>
            <a:outerShdw sx="100000" sy="100000" kx="0" ky="0" algn="bl" rotWithShape="0" blurRad="88900" dist="38100" dir="5400000">
              <a:srgbClr val="8894AD">
                <a:alpha val="28000"/>
              </a:srgbClr>
            </a:outerShdw>
          </a:effectLst>
        </p:spPr>
      </p:sp>
      <p:sp>
        <p:nvSpPr>
          <p:cNvPr id="16" name="Text 13"/>
          <p:cNvSpPr/>
          <p:nvPr/>
        </p:nvSpPr>
        <p:spPr>
          <a:xfrm>
            <a:off x="6592824" y="2606040"/>
            <a:ext cx="2295144" cy="77724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Security / audit env</a:t>
            </a:r>
            <a:endParaRPr lang="en-US" sz="1700" dirty="0"/>
          </a:p>
        </p:txBody>
      </p:sp>
      <p:sp>
        <p:nvSpPr>
          <p:cNvPr id="17" name="Text 14"/>
          <p:cNvSpPr/>
          <p:nvPr/>
        </p:nvSpPr>
        <p:spPr>
          <a:xfrm>
            <a:off x="6620256" y="3383280"/>
            <a:ext cx="2240280" cy="640080"/>
          </a:xfrm>
          <a:prstGeom prst="rect">
            <a:avLst/>
          </a:prstGeom>
          <a:noFill/>
          <a:ln/>
        </p:spPr>
        <p:txBody>
          <a:bodyPr wrap="square" lIns="0" tIns="0" rIns="0" bIns="0" rtlCol="0" anchor="t"/>
          <a:lstStyle/>
          <a:p>
            <a:pPr algn="ctr" indent="0" marL="0">
              <a:buNone/>
            </a:pPr>
            <a:r>
              <a:rPr lang="en-US" sz="1200" dirty="0">
                <a:solidFill>
                  <a:srgbClr val="F2F5FF"/>
                </a:solidFill>
                <a:latin typeface="Calibri" pitchFamily="34" charset="0"/>
                <a:ea typeface="Calibri" pitchFamily="34" charset="-122"/>
                <a:cs typeface="Calibri" pitchFamily="34" charset="-120"/>
              </a:rPr>
              <a:t>Isolate security-relevant logs</a:t>
            </a:r>
            <a:endParaRPr lang="en-US" sz="1200" dirty="0"/>
          </a:p>
        </p:txBody>
      </p:sp>
      <p:sp>
        <p:nvSpPr>
          <p:cNvPr id="18" name="Text 15"/>
          <p:cNvSpPr/>
          <p:nvPr/>
        </p:nvSpPr>
        <p:spPr>
          <a:xfrm>
            <a:off x="9015984" y="2788920"/>
            <a:ext cx="365760" cy="731520"/>
          </a:xfrm>
          <a:prstGeom prst="rect">
            <a:avLst/>
          </a:prstGeom>
          <a:noFill/>
          <a:ln/>
        </p:spPr>
        <p:txBody>
          <a:bodyPr wrap="square" lIns="0" tIns="0" rIns="0" bIns="0" rtlCol="0" anchor="ctr"/>
          <a:lstStyle/>
          <a:p>
            <a:pPr algn="ctr" indent="0" marL="0">
              <a:buNone/>
            </a:pPr>
            <a:r>
              <a:rPr lang="en-US" sz="3000" b="1" dirty="0">
                <a:solidFill>
                  <a:srgbClr val="5B6472"/>
                </a:solidFill>
                <a:latin typeface="Calibri" pitchFamily="34" charset="0"/>
                <a:ea typeface="Calibri" pitchFamily="34" charset="-122"/>
                <a:cs typeface="Calibri" pitchFamily="34" charset="-120"/>
              </a:rPr>
              <a:t>→</a:t>
            </a:r>
            <a:endParaRPr lang="en-US" sz="3000" dirty="0"/>
          </a:p>
        </p:txBody>
      </p:sp>
      <p:sp>
        <p:nvSpPr>
          <p:cNvPr id="19" name="Shape 16"/>
          <p:cNvSpPr/>
          <p:nvPr/>
        </p:nvSpPr>
        <p:spPr>
          <a:xfrm>
            <a:off x="9381744" y="2286000"/>
            <a:ext cx="2514600" cy="1828800"/>
          </a:xfrm>
          <a:prstGeom prst="roundRect">
            <a:avLst>
              <a:gd name="adj" fmla="val 4500"/>
            </a:avLst>
          </a:prstGeom>
          <a:solidFill>
            <a:srgbClr val="FABA32"/>
          </a:solidFill>
          <a:ln/>
          <a:effectLst>
            <a:outerShdw sx="100000" sy="100000" kx="0" ky="0" algn="bl" rotWithShape="0" blurRad="88900" dist="38100" dir="5400000">
              <a:srgbClr val="8894AD">
                <a:alpha val="28000"/>
              </a:srgbClr>
            </a:outerShdw>
          </a:effectLst>
        </p:spPr>
      </p:sp>
      <p:sp>
        <p:nvSpPr>
          <p:cNvPr id="20" name="Text 17"/>
          <p:cNvSpPr/>
          <p:nvPr/>
        </p:nvSpPr>
        <p:spPr>
          <a:xfrm>
            <a:off x="9491472" y="2606040"/>
            <a:ext cx="2295144" cy="77724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SIEM</a:t>
            </a:r>
            <a:endParaRPr lang="en-US" sz="1700" dirty="0"/>
          </a:p>
        </p:txBody>
      </p:sp>
      <p:sp>
        <p:nvSpPr>
          <p:cNvPr id="21" name="Text 18"/>
          <p:cNvSpPr/>
          <p:nvPr/>
        </p:nvSpPr>
        <p:spPr>
          <a:xfrm>
            <a:off x="9518904" y="3383280"/>
            <a:ext cx="2240280" cy="640080"/>
          </a:xfrm>
          <a:prstGeom prst="rect">
            <a:avLst/>
          </a:prstGeom>
          <a:noFill/>
          <a:ln/>
        </p:spPr>
        <p:txBody>
          <a:bodyPr wrap="square" lIns="0" tIns="0" rIns="0" bIns="0" rtlCol="0" anchor="t"/>
          <a:lstStyle/>
          <a:p>
            <a:pPr algn="ctr" indent="0" marL="0">
              <a:buNone/>
            </a:pPr>
            <a:r>
              <a:rPr lang="en-US" sz="1200" dirty="0">
                <a:solidFill>
                  <a:srgbClr val="F2F5FF"/>
                </a:solidFill>
                <a:latin typeface="Calibri" pitchFamily="34" charset="0"/>
                <a:ea typeface="Calibri" pitchFamily="34" charset="-122"/>
                <a:cs typeface="Calibri" pitchFamily="34" charset="-120"/>
              </a:rPr>
              <a:t>Correlate &amp; detect incidents</a:t>
            </a:r>
            <a:endParaRPr lang="en-US" sz="1200" dirty="0"/>
          </a:p>
        </p:txBody>
      </p:sp>
      <p:sp>
        <p:nvSpPr>
          <p:cNvPr id="22" name="Text 19"/>
          <p:cNvSpPr/>
          <p:nvPr/>
        </p:nvSpPr>
        <p:spPr>
          <a:xfrm>
            <a:off x="640080" y="4663440"/>
            <a:ext cx="10881360" cy="82296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Why cascade?  </a:t>
            </a:r>
            <a:pPr indent="0" marL="0">
              <a:buNone/>
            </a:pPr>
            <a:r>
              <a:rPr lang="en-US" sz="1450" i="1" dirty="0">
                <a:solidFill>
                  <a:srgbClr val="262F65"/>
                </a:solidFill>
                <a:latin typeface="Calibri" pitchFamily="34" charset="0"/>
                <a:ea typeface="Calibri" pitchFamily="34" charset="-122"/>
                <a:cs typeface="Calibri" pitchFamily="34" charset="-120"/>
              </a:rPr>
              <a:t>filtering &amp; aggregating at each layer controls cost and noise, and gives one pane of glass across all environments.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BRAIN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SIEM — Security Information &amp; Event Management</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1645920"/>
            <a:ext cx="1188720" cy="1188720"/>
          </a:xfrm>
          <a:prstGeom prst="ellipse">
            <a:avLst/>
          </a:prstGeom>
          <a:solidFill>
            <a:srgbClr val="262F65"/>
          </a:solidFill>
          <a:ln/>
        </p:spPr>
      </p:sp>
      <p:pic>
        <p:nvPicPr>
          <p:cNvPr id="8" name="Image 0" descr="preencoded.png">    </p:cNvPr>
          <p:cNvPicPr>
            <a:picLocks noChangeAspect="1"/>
          </p:cNvPicPr>
          <p:nvPr/>
        </p:nvPicPr>
        <p:blipFill>
          <a:blip r:embed="rId1"/>
          <a:stretch>
            <a:fillRect/>
          </a:stretch>
        </p:blipFill>
        <p:spPr>
          <a:xfrm>
            <a:off x="925373" y="1931213"/>
            <a:ext cx="618134" cy="618134"/>
          </a:xfrm>
          <a:prstGeom prst="rect">
            <a:avLst/>
          </a:prstGeom>
        </p:spPr>
      </p:pic>
      <p:sp>
        <p:nvSpPr>
          <p:cNvPr id="9" name="Text 5"/>
          <p:cNvSpPr/>
          <p:nvPr/>
        </p:nvSpPr>
        <p:spPr>
          <a:xfrm>
            <a:off x="2194560" y="1645920"/>
            <a:ext cx="9326880" cy="1005840"/>
          </a:xfrm>
          <a:prstGeom prst="rect">
            <a:avLst/>
          </a:prstGeom>
          <a:noFill/>
          <a:ln/>
        </p:spPr>
        <p:txBody>
          <a:bodyPr wrap="square" lIns="0" tIns="0" rIns="0" bIns="0" rtlCol="0" anchor="t"/>
          <a:lstStyle/>
          <a:p>
            <a:pPr indent="0" marL="0">
              <a:buNone/>
            </a:pPr>
            <a:r>
              <a:rPr lang="en-US" sz="1650" dirty="0">
                <a:solidFill>
                  <a:srgbClr val="23283A"/>
                </a:solidFill>
                <a:latin typeface="Calibri" pitchFamily="34" charset="0"/>
                <a:ea typeface="Calibri" pitchFamily="34" charset="-122"/>
                <a:cs typeface="Calibri" pitchFamily="34" charset="-120"/>
              </a:rPr>
              <a:t>A SIEM ingests logs and events from across the estate and correlates them to surface incidents no single log would reveal alone.</a:t>
            </a:r>
            <a:endParaRPr lang="en-US" sz="1650" dirty="0"/>
          </a:p>
        </p:txBody>
      </p:sp>
      <p:sp>
        <p:nvSpPr>
          <p:cNvPr id="10" name="Shape 6"/>
          <p:cNvSpPr/>
          <p:nvPr/>
        </p:nvSpPr>
        <p:spPr>
          <a:xfrm>
            <a:off x="640080" y="3063240"/>
            <a:ext cx="2606040" cy="1965960"/>
          </a:xfrm>
          <a:prstGeom prst="roundRect">
            <a:avLst>
              <a:gd name="adj" fmla="val 4186"/>
            </a:avLst>
          </a:prstGeom>
          <a:solidFill>
            <a:srgbClr val="F4F6FB"/>
          </a:solidFill>
          <a:ln/>
          <a:effectLst>
            <a:outerShdw sx="100000" sy="100000" kx="0" ky="0" algn="bl" rotWithShape="0" blurRad="88900" dist="38100" dir="5400000">
              <a:srgbClr val="8894AD">
                <a:alpha val="28000"/>
              </a:srgbClr>
            </a:outerShdw>
          </a:effectLst>
        </p:spPr>
      </p:sp>
      <p:sp>
        <p:nvSpPr>
          <p:cNvPr id="11" name="Shape 7"/>
          <p:cNvSpPr/>
          <p:nvPr/>
        </p:nvSpPr>
        <p:spPr>
          <a:xfrm>
            <a:off x="896112" y="3319272"/>
            <a:ext cx="777240" cy="777240"/>
          </a:xfrm>
          <a:prstGeom prst="ellipse">
            <a:avLst/>
          </a:prstGeom>
          <a:solidFill>
            <a:srgbClr val="262F65"/>
          </a:solidFill>
          <a:ln/>
        </p:spPr>
      </p:sp>
      <p:pic>
        <p:nvPicPr>
          <p:cNvPr id="12" name="Image 1" descr="preencoded.png">    </p:cNvPr>
          <p:cNvPicPr>
            <a:picLocks noChangeAspect="1"/>
          </p:cNvPicPr>
          <p:nvPr/>
        </p:nvPicPr>
        <p:blipFill>
          <a:blip r:embed="rId2"/>
          <a:stretch>
            <a:fillRect/>
          </a:stretch>
        </p:blipFill>
        <p:spPr>
          <a:xfrm>
            <a:off x="1082650" y="3505810"/>
            <a:ext cx="404165" cy="404165"/>
          </a:xfrm>
          <a:prstGeom prst="rect">
            <a:avLst/>
          </a:prstGeom>
        </p:spPr>
      </p:pic>
      <p:sp>
        <p:nvSpPr>
          <p:cNvPr id="13" name="Text 8"/>
          <p:cNvSpPr/>
          <p:nvPr/>
        </p:nvSpPr>
        <p:spPr>
          <a:xfrm>
            <a:off x="1737360" y="3447288"/>
            <a:ext cx="1325880" cy="457200"/>
          </a:xfrm>
          <a:prstGeom prst="rect">
            <a:avLst/>
          </a:prstGeom>
          <a:noFill/>
          <a:ln/>
        </p:spPr>
        <p:txBody>
          <a:bodyPr wrap="square" lIns="0" tIns="0" rIns="0" bIns="0" rtlCol="0" anchor="t"/>
          <a:lstStyle/>
          <a:p>
            <a:pPr indent="0" marL="0">
              <a:buNone/>
            </a:pPr>
            <a:r>
              <a:rPr lang="en-US" sz="1500" b="1" dirty="0">
                <a:solidFill>
                  <a:srgbClr val="262F65"/>
                </a:solidFill>
                <a:latin typeface="Calibri" pitchFamily="34" charset="0"/>
                <a:ea typeface="Calibri" pitchFamily="34" charset="-122"/>
                <a:cs typeface="Calibri" pitchFamily="34" charset="-120"/>
              </a:rPr>
              <a:t>Aggregate</a:t>
            </a:r>
            <a:endParaRPr lang="en-US" sz="1500" dirty="0"/>
          </a:p>
        </p:txBody>
      </p:sp>
      <p:sp>
        <p:nvSpPr>
          <p:cNvPr id="14" name="Text 9"/>
          <p:cNvSpPr/>
          <p:nvPr/>
        </p:nvSpPr>
        <p:spPr>
          <a:xfrm>
            <a:off x="896112" y="4206240"/>
            <a:ext cx="2093976" cy="7315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Collect &amp; normalise data from many sources.</a:t>
            </a:r>
            <a:endParaRPr lang="en-US" sz="1200" dirty="0"/>
          </a:p>
        </p:txBody>
      </p:sp>
      <p:sp>
        <p:nvSpPr>
          <p:cNvPr id="15" name="Shape 10"/>
          <p:cNvSpPr/>
          <p:nvPr/>
        </p:nvSpPr>
        <p:spPr>
          <a:xfrm>
            <a:off x="3502152" y="3063240"/>
            <a:ext cx="2606040" cy="1965960"/>
          </a:xfrm>
          <a:prstGeom prst="roundRect">
            <a:avLst>
              <a:gd name="adj" fmla="val 4186"/>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3758184" y="3319272"/>
            <a:ext cx="777240" cy="77724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3944722" y="3505810"/>
            <a:ext cx="404165" cy="404165"/>
          </a:xfrm>
          <a:prstGeom prst="rect">
            <a:avLst/>
          </a:prstGeom>
        </p:spPr>
      </p:pic>
      <p:sp>
        <p:nvSpPr>
          <p:cNvPr id="18" name="Text 12"/>
          <p:cNvSpPr/>
          <p:nvPr/>
        </p:nvSpPr>
        <p:spPr>
          <a:xfrm>
            <a:off x="4599432" y="3447288"/>
            <a:ext cx="1325880" cy="457200"/>
          </a:xfrm>
          <a:prstGeom prst="rect">
            <a:avLst/>
          </a:prstGeom>
          <a:noFill/>
          <a:ln/>
        </p:spPr>
        <p:txBody>
          <a:bodyPr wrap="square" lIns="0" tIns="0" rIns="0" bIns="0" rtlCol="0" anchor="t"/>
          <a:lstStyle/>
          <a:p>
            <a:pPr indent="0" marL="0">
              <a:buNone/>
            </a:pPr>
            <a:r>
              <a:rPr lang="en-US" sz="1500" b="1" dirty="0">
                <a:solidFill>
                  <a:srgbClr val="262F65"/>
                </a:solidFill>
                <a:latin typeface="Calibri" pitchFamily="34" charset="0"/>
                <a:ea typeface="Calibri" pitchFamily="34" charset="-122"/>
                <a:cs typeface="Calibri" pitchFamily="34" charset="-120"/>
              </a:rPr>
              <a:t>Correlate</a:t>
            </a:r>
            <a:endParaRPr lang="en-US" sz="1500" dirty="0"/>
          </a:p>
        </p:txBody>
      </p:sp>
      <p:sp>
        <p:nvSpPr>
          <p:cNvPr id="19" name="Text 13"/>
          <p:cNvSpPr/>
          <p:nvPr/>
        </p:nvSpPr>
        <p:spPr>
          <a:xfrm>
            <a:off x="3758184" y="4206240"/>
            <a:ext cx="2093976" cy="7315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Connect related events into one attack story.</a:t>
            </a:r>
            <a:endParaRPr lang="en-US" sz="1200" dirty="0"/>
          </a:p>
        </p:txBody>
      </p:sp>
      <p:sp>
        <p:nvSpPr>
          <p:cNvPr id="20" name="Shape 14"/>
          <p:cNvSpPr/>
          <p:nvPr/>
        </p:nvSpPr>
        <p:spPr>
          <a:xfrm>
            <a:off x="6364224" y="3063240"/>
            <a:ext cx="2606040" cy="1965960"/>
          </a:xfrm>
          <a:prstGeom prst="roundRect">
            <a:avLst>
              <a:gd name="adj" fmla="val 4186"/>
            </a:avLst>
          </a:prstGeom>
          <a:solidFill>
            <a:srgbClr val="F4F6FB"/>
          </a:solidFill>
          <a:ln/>
          <a:effectLst>
            <a:outerShdw sx="100000" sy="100000" kx="0" ky="0" algn="bl" rotWithShape="0" blurRad="88900" dist="38100" dir="5400000">
              <a:srgbClr val="8894AD">
                <a:alpha val="28000"/>
              </a:srgbClr>
            </a:outerShdw>
          </a:effectLst>
        </p:spPr>
      </p:sp>
      <p:sp>
        <p:nvSpPr>
          <p:cNvPr id="21" name="Shape 15"/>
          <p:cNvSpPr/>
          <p:nvPr/>
        </p:nvSpPr>
        <p:spPr>
          <a:xfrm>
            <a:off x="6620256" y="3319272"/>
            <a:ext cx="777240" cy="777240"/>
          </a:xfrm>
          <a:prstGeom prst="ellipse">
            <a:avLst/>
          </a:prstGeom>
          <a:solidFill>
            <a:srgbClr val="293E7B"/>
          </a:solidFill>
          <a:ln/>
        </p:spPr>
      </p:sp>
      <p:pic>
        <p:nvPicPr>
          <p:cNvPr id="22" name="Image 3" descr="preencoded.png">    </p:cNvPr>
          <p:cNvPicPr>
            <a:picLocks noChangeAspect="1"/>
          </p:cNvPicPr>
          <p:nvPr/>
        </p:nvPicPr>
        <p:blipFill>
          <a:blip r:embed="rId4"/>
          <a:stretch>
            <a:fillRect/>
          </a:stretch>
        </p:blipFill>
        <p:spPr>
          <a:xfrm>
            <a:off x="6806794" y="3505810"/>
            <a:ext cx="404165" cy="404165"/>
          </a:xfrm>
          <a:prstGeom prst="rect">
            <a:avLst/>
          </a:prstGeom>
        </p:spPr>
      </p:pic>
      <p:sp>
        <p:nvSpPr>
          <p:cNvPr id="23" name="Text 16"/>
          <p:cNvSpPr/>
          <p:nvPr/>
        </p:nvSpPr>
        <p:spPr>
          <a:xfrm>
            <a:off x="7461504" y="3447288"/>
            <a:ext cx="1325880" cy="457200"/>
          </a:xfrm>
          <a:prstGeom prst="rect">
            <a:avLst/>
          </a:prstGeom>
          <a:noFill/>
          <a:ln/>
        </p:spPr>
        <p:txBody>
          <a:bodyPr wrap="square" lIns="0" tIns="0" rIns="0" bIns="0" rtlCol="0" anchor="t"/>
          <a:lstStyle/>
          <a:p>
            <a:pPr indent="0" marL="0">
              <a:buNone/>
            </a:pPr>
            <a:r>
              <a:rPr lang="en-US" sz="1500" b="1" dirty="0">
                <a:solidFill>
                  <a:srgbClr val="262F65"/>
                </a:solidFill>
                <a:latin typeface="Calibri" pitchFamily="34" charset="0"/>
                <a:ea typeface="Calibri" pitchFamily="34" charset="-122"/>
                <a:cs typeface="Calibri" pitchFamily="34" charset="-120"/>
              </a:rPr>
              <a:t>Alert</a:t>
            </a:r>
            <a:endParaRPr lang="en-US" sz="1500" dirty="0"/>
          </a:p>
        </p:txBody>
      </p:sp>
      <p:sp>
        <p:nvSpPr>
          <p:cNvPr id="24" name="Text 17"/>
          <p:cNvSpPr/>
          <p:nvPr/>
        </p:nvSpPr>
        <p:spPr>
          <a:xfrm>
            <a:off x="6620256" y="4206240"/>
            <a:ext cx="2093976" cy="7315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Notify analysts; trigger automated response.</a:t>
            </a:r>
            <a:endParaRPr lang="en-US" sz="1200" dirty="0"/>
          </a:p>
        </p:txBody>
      </p:sp>
      <p:sp>
        <p:nvSpPr>
          <p:cNvPr id="25" name="Shape 18"/>
          <p:cNvSpPr/>
          <p:nvPr/>
        </p:nvSpPr>
        <p:spPr>
          <a:xfrm>
            <a:off x="9226296" y="3063240"/>
            <a:ext cx="2606040" cy="1965960"/>
          </a:xfrm>
          <a:prstGeom prst="roundRect">
            <a:avLst>
              <a:gd name="adj" fmla="val 4186"/>
            </a:avLst>
          </a:prstGeom>
          <a:solidFill>
            <a:srgbClr val="F4F6FB"/>
          </a:solidFill>
          <a:ln/>
          <a:effectLst>
            <a:outerShdw sx="100000" sy="100000" kx="0" ky="0" algn="bl" rotWithShape="0" blurRad="88900" dist="38100" dir="5400000">
              <a:srgbClr val="8894AD">
                <a:alpha val="28000"/>
              </a:srgbClr>
            </a:outerShdw>
          </a:effectLst>
        </p:spPr>
      </p:sp>
      <p:sp>
        <p:nvSpPr>
          <p:cNvPr id="26" name="Shape 19"/>
          <p:cNvSpPr/>
          <p:nvPr/>
        </p:nvSpPr>
        <p:spPr>
          <a:xfrm>
            <a:off x="9482328" y="3319272"/>
            <a:ext cx="777240" cy="777240"/>
          </a:xfrm>
          <a:prstGeom prst="ellipse">
            <a:avLst/>
          </a:prstGeom>
          <a:solidFill>
            <a:srgbClr val="FABA32"/>
          </a:solidFill>
          <a:ln/>
        </p:spPr>
      </p:sp>
      <p:pic>
        <p:nvPicPr>
          <p:cNvPr id="27" name="Image 4" descr="preencoded.png">    </p:cNvPr>
          <p:cNvPicPr>
            <a:picLocks noChangeAspect="1"/>
          </p:cNvPicPr>
          <p:nvPr/>
        </p:nvPicPr>
        <p:blipFill>
          <a:blip r:embed="rId5"/>
          <a:stretch>
            <a:fillRect/>
          </a:stretch>
        </p:blipFill>
        <p:spPr>
          <a:xfrm>
            <a:off x="9668866" y="3505810"/>
            <a:ext cx="404165" cy="404165"/>
          </a:xfrm>
          <a:prstGeom prst="rect">
            <a:avLst/>
          </a:prstGeom>
        </p:spPr>
      </p:pic>
      <p:sp>
        <p:nvSpPr>
          <p:cNvPr id="28" name="Text 20"/>
          <p:cNvSpPr/>
          <p:nvPr/>
        </p:nvSpPr>
        <p:spPr>
          <a:xfrm>
            <a:off x="10323576" y="3447288"/>
            <a:ext cx="1325880" cy="457200"/>
          </a:xfrm>
          <a:prstGeom prst="rect">
            <a:avLst/>
          </a:prstGeom>
          <a:noFill/>
          <a:ln/>
        </p:spPr>
        <p:txBody>
          <a:bodyPr wrap="square" lIns="0" tIns="0" rIns="0" bIns="0" rtlCol="0" anchor="t"/>
          <a:lstStyle/>
          <a:p>
            <a:pPr indent="0" marL="0">
              <a:buNone/>
            </a:pPr>
            <a:r>
              <a:rPr lang="en-US" sz="1500" b="1" dirty="0">
                <a:solidFill>
                  <a:srgbClr val="262F65"/>
                </a:solidFill>
                <a:latin typeface="Calibri" pitchFamily="34" charset="0"/>
                <a:ea typeface="Calibri" pitchFamily="34" charset="-122"/>
                <a:cs typeface="Calibri" pitchFamily="34" charset="-120"/>
              </a:rPr>
              <a:t>Report</a:t>
            </a:r>
            <a:endParaRPr lang="en-US" sz="1500" dirty="0"/>
          </a:p>
        </p:txBody>
      </p:sp>
      <p:sp>
        <p:nvSpPr>
          <p:cNvPr id="29" name="Text 21"/>
          <p:cNvSpPr/>
          <p:nvPr/>
        </p:nvSpPr>
        <p:spPr>
          <a:xfrm>
            <a:off x="9482328" y="4206240"/>
            <a:ext cx="2093976" cy="7315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Produce audit evidence for compliance.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INTEGRITY (VBE3)</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Tamper-proof logs — trustworthy evidence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40080" y="1691640"/>
            <a:ext cx="5029200" cy="1463040"/>
          </a:xfrm>
          <a:prstGeom prst="roundRect">
            <a:avLst>
              <a:gd name="adj" fmla="val 5625"/>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965960"/>
            <a:ext cx="914400" cy="914400"/>
          </a:xfrm>
          <a:prstGeom prst="ellipse">
            <a:avLst/>
          </a:prstGeom>
          <a:solidFill>
            <a:srgbClr val="FABA32"/>
          </a:solidFill>
          <a:ln/>
        </p:spPr>
      </p:sp>
      <p:pic>
        <p:nvPicPr>
          <p:cNvPr id="9" name="Image 0" descr="preencoded.png">    </p:cNvPr>
          <p:cNvPicPr>
            <a:picLocks noChangeAspect="1"/>
          </p:cNvPicPr>
          <p:nvPr/>
        </p:nvPicPr>
        <p:blipFill>
          <a:blip r:embed="rId1"/>
          <a:stretch>
            <a:fillRect/>
          </a:stretch>
        </p:blipFill>
        <p:spPr>
          <a:xfrm>
            <a:off x="1179576" y="2185416"/>
            <a:ext cx="475488" cy="475488"/>
          </a:xfrm>
          <a:prstGeom prst="rect">
            <a:avLst/>
          </a:prstGeom>
        </p:spPr>
      </p:pic>
      <p:sp>
        <p:nvSpPr>
          <p:cNvPr id="10" name="Text 6"/>
          <p:cNvSpPr/>
          <p:nvPr/>
        </p:nvSpPr>
        <p:spPr>
          <a:xfrm>
            <a:off x="2103120" y="1828800"/>
            <a:ext cx="3383280" cy="11887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 attacker's first move is to erase the logs. Integrity controls make that impossible — or at least detectable.</a:t>
            </a:r>
            <a:endParaRPr lang="en-US" sz="1350" dirty="0"/>
          </a:p>
        </p:txBody>
      </p:sp>
      <p:sp>
        <p:nvSpPr>
          <p:cNvPr id="11" name="Shape 7"/>
          <p:cNvSpPr/>
          <p:nvPr/>
        </p:nvSpPr>
        <p:spPr>
          <a:xfrm>
            <a:off x="5989320" y="1691640"/>
            <a:ext cx="5394960" cy="1170432"/>
          </a:xfrm>
          <a:prstGeom prst="roundRect">
            <a:avLst>
              <a:gd name="adj" fmla="val 7031"/>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6217920" y="1965960"/>
            <a:ext cx="640080" cy="640080"/>
          </a:xfrm>
          <a:prstGeom prst="ellipse">
            <a:avLst/>
          </a:prstGeom>
          <a:solidFill>
            <a:srgbClr val="262F65"/>
          </a:solidFill>
          <a:ln/>
        </p:spPr>
      </p:sp>
      <p:pic>
        <p:nvPicPr>
          <p:cNvPr id="13" name="Image 1" descr="preencoded.png">    </p:cNvPr>
          <p:cNvPicPr>
            <a:picLocks noChangeAspect="1"/>
          </p:cNvPicPr>
          <p:nvPr/>
        </p:nvPicPr>
        <p:blipFill>
          <a:blip r:embed="rId2"/>
          <a:stretch>
            <a:fillRect/>
          </a:stretch>
        </p:blipFill>
        <p:spPr>
          <a:xfrm>
            <a:off x="6371539" y="2119579"/>
            <a:ext cx="332842" cy="332842"/>
          </a:xfrm>
          <a:prstGeom prst="rect">
            <a:avLst/>
          </a:prstGeom>
        </p:spPr>
      </p:pic>
      <p:sp>
        <p:nvSpPr>
          <p:cNvPr id="14" name="Text 9"/>
          <p:cNvSpPr/>
          <p:nvPr/>
        </p:nvSpPr>
        <p:spPr>
          <a:xfrm>
            <a:off x="7040880" y="1856232"/>
            <a:ext cx="4160520" cy="411480"/>
          </a:xfrm>
          <a:prstGeom prst="rect">
            <a:avLst/>
          </a:prstGeom>
          <a:noFill/>
          <a:ln/>
        </p:spPr>
        <p:txBody>
          <a:bodyPr wrap="square" lIns="0" tIns="0" rIns="0" bIns="0" rtlCol="0" anchor="t"/>
          <a:lstStyle/>
          <a:p>
            <a:pPr indent="0" marL="0">
              <a:buNone/>
            </a:pPr>
            <a:r>
              <a:rPr lang="en-US" sz="1400" b="1" dirty="0">
                <a:solidFill>
                  <a:srgbClr val="262F65"/>
                </a:solidFill>
                <a:latin typeface="Calibri" pitchFamily="34" charset="0"/>
                <a:ea typeface="Calibri" pitchFamily="34" charset="-122"/>
                <a:cs typeface="Calibri" pitchFamily="34" charset="-120"/>
              </a:rPr>
              <a:t>Immutable / WORM storage</a:t>
            </a:r>
            <a:endParaRPr lang="en-US" sz="1400" dirty="0"/>
          </a:p>
        </p:txBody>
      </p:sp>
      <p:sp>
        <p:nvSpPr>
          <p:cNvPr id="15" name="Text 10"/>
          <p:cNvSpPr/>
          <p:nvPr/>
        </p:nvSpPr>
        <p:spPr>
          <a:xfrm>
            <a:off x="7040880" y="2267712"/>
            <a:ext cx="416052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Object-lock: cannot be changed or deleted for a retention period.</a:t>
            </a:r>
            <a:endParaRPr lang="en-US" sz="1150" dirty="0"/>
          </a:p>
        </p:txBody>
      </p:sp>
      <p:sp>
        <p:nvSpPr>
          <p:cNvPr id="16" name="Shape 11"/>
          <p:cNvSpPr/>
          <p:nvPr/>
        </p:nvSpPr>
        <p:spPr>
          <a:xfrm>
            <a:off x="5989320" y="2971800"/>
            <a:ext cx="5394960" cy="1170432"/>
          </a:xfrm>
          <a:prstGeom prst="roundRect">
            <a:avLst>
              <a:gd name="adj" fmla="val 7031"/>
            </a:avLst>
          </a:prstGeom>
          <a:solidFill>
            <a:srgbClr val="F4F6FB"/>
          </a:solidFill>
          <a:ln/>
          <a:effectLst>
            <a:outerShdw sx="100000" sy="100000" kx="0" ky="0" algn="bl" rotWithShape="0" blurRad="88900" dist="38100" dir="5400000">
              <a:srgbClr val="8894AD">
                <a:alpha val="28000"/>
              </a:srgbClr>
            </a:outerShdw>
          </a:effectLst>
        </p:spPr>
      </p:sp>
      <p:sp>
        <p:nvSpPr>
          <p:cNvPr id="17" name="Shape 12"/>
          <p:cNvSpPr/>
          <p:nvPr/>
        </p:nvSpPr>
        <p:spPr>
          <a:xfrm>
            <a:off x="6217920" y="3246120"/>
            <a:ext cx="640080" cy="640080"/>
          </a:xfrm>
          <a:prstGeom prst="ellipse">
            <a:avLst/>
          </a:prstGeom>
          <a:solidFill>
            <a:srgbClr val="293E7B"/>
          </a:solidFill>
          <a:ln/>
        </p:spPr>
      </p:sp>
      <p:pic>
        <p:nvPicPr>
          <p:cNvPr id="18" name="Image 2" descr="preencoded.png">    </p:cNvPr>
          <p:cNvPicPr>
            <a:picLocks noChangeAspect="1"/>
          </p:cNvPicPr>
          <p:nvPr/>
        </p:nvPicPr>
        <p:blipFill>
          <a:blip r:embed="rId3"/>
          <a:stretch>
            <a:fillRect/>
          </a:stretch>
        </p:blipFill>
        <p:spPr>
          <a:xfrm>
            <a:off x="6371539" y="3399739"/>
            <a:ext cx="332842" cy="332842"/>
          </a:xfrm>
          <a:prstGeom prst="rect">
            <a:avLst/>
          </a:prstGeom>
        </p:spPr>
      </p:pic>
      <p:sp>
        <p:nvSpPr>
          <p:cNvPr id="19" name="Text 13"/>
          <p:cNvSpPr/>
          <p:nvPr/>
        </p:nvSpPr>
        <p:spPr>
          <a:xfrm>
            <a:off x="7040880" y="3136392"/>
            <a:ext cx="4160520" cy="411480"/>
          </a:xfrm>
          <a:prstGeom prst="rect">
            <a:avLst/>
          </a:prstGeom>
          <a:noFill/>
          <a:ln/>
        </p:spPr>
        <p:txBody>
          <a:bodyPr wrap="square" lIns="0" tIns="0" rIns="0" bIns="0" rtlCol="0" anchor="t"/>
          <a:lstStyle/>
          <a:p>
            <a:pPr indent="0" marL="0">
              <a:buNone/>
            </a:pPr>
            <a:r>
              <a:rPr lang="en-US" sz="1400" b="1" dirty="0">
                <a:solidFill>
                  <a:srgbClr val="262F65"/>
                </a:solidFill>
                <a:latin typeface="Calibri" pitchFamily="34" charset="0"/>
                <a:ea typeface="Calibri" pitchFamily="34" charset="-122"/>
                <a:cs typeface="Calibri" pitchFamily="34" charset="-120"/>
              </a:rPr>
              <a:t>Append-only design</a:t>
            </a:r>
            <a:endParaRPr lang="en-US" sz="1400" dirty="0"/>
          </a:p>
        </p:txBody>
      </p:sp>
      <p:sp>
        <p:nvSpPr>
          <p:cNvPr id="20" name="Text 14"/>
          <p:cNvSpPr/>
          <p:nvPr/>
        </p:nvSpPr>
        <p:spPr>
          <a:xfrm>
            <a:off x="7040880" y="3547872"/>
            <a:ext cx="416052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New entries added; existing records never modified.</a:t>
            </a:r>
            <a:endParaRPr lang="en-US" sz="1150" dirty="0"/>
          </a:p>
        </p:txBody>
      </p:sp>
      <p:sp>
        <p:nvSpPr>
          <p:cNvPr id="21" name="Shape 15"/>
          <p:cNvSpPr/>
          <p:nvPr/>
        </p:nvSpPr>
        <p:spPr>
          <a:xfrm>
            <a:off x="5989320" y="4251960"/>
            <a:ext cx="5394960" cy="1170432"/>
          </a:xfrm>
          <a:prstGeom prst="roundRect">
            <a:avLst>
              <a:gd name="adj" fmla="val 7031"/>
            </a:avLst>
          </a:prstGeom>
          <a:solidFill>
            <a:srgbClr val="F4F6FB"/>
          </a:solidFill>
          <a:ln/>
          <a:effectLst>
            <a:outerShdw sx="100000" sy="100000" kx="0" ky="0" algn="bl" rotWithShape="0" blurRad="88900" dist="38100" dir="5400000">
              <a:srgbClr val="8894AD">
                <a:alpha val="28000"/>
              </a:srgbClr>
            </a:outerShdw>
          </a:effectLst>
        </p:spPr>
      </p:sp>
      <p:sp>
        <p:nvSpPr>
          <p:cNvPr id="22" name="Shape 16"/>
          <p:cNvSpPr/>
          <p:nvPr/>
        </p:nvSpPr>
        <p:spPr>
          <a:xfrm>
            <a:off x="6217920" y="4526280"/>
            <a:ext cx="640080" cy="640080"/>
          </a:xfrm>
          <a:prstGeom prst="ellipse">
            <a:avLst/>
          </a:prstGeom>
          <a:solidFill>
            <a:srgbClr val="F2931F"/>
          </a:solidFill>
          <a:ln/>
        </p:spPr>
      </p:sp>
      <p:pic>
        <p:nvPicPr>
          <p:cNvPr id="23" name="Image 3" descr="preencoded.png">    </p:cNvPr>
          <p:cNvPicPr>
            <a:picLocks noChangeAspect="1"/>
          </p:cNvPicPr>
          <p:nvPr/>
        </p:nvPicPr>
        <p:blipFill>
          <a:blip r:embed="rId4"/>
          <a:stretch>
            <a:fillRect/>
          </a:stretch>
        </p:blipFill>
        <p:spPr>
          <a:xfrm>
            <a:off x="6371539" y="4679899"/>
            <a:ext cx="332842" cy="332842"/>
          </a:xfrm>
          <a:prstGeom prst="rect">
            <a:avLst/>
          </a:prstGeom>
        </p:spPr>
      </p:pic>
      <p:sp>
        <p:nvSpPr>
          <p:cNvPr id="24" name="Text 17"/>
          <p:cNvSpPr/>
          <p:nvPr/>
        </p:nvSpPr>
        <p:spPr>
          <a:xfrm>
            <a:off x="7040880" y="4416552"/>
            <a:ext cx="4160520" cy="411480"/>
          </a:xfrm>
          <a:prstGeom prst="rect">
            <a:avLst/>
          </a:prstGeom>
          <a:noFill/>
          <a:ln/>
        </p:spPr>
        <p:txBody>
          <a:bodyPr wrap="square" lIns="0" tIns="0" rIns="0" bIns="0" rtlCol="0" anchor="t"/>
          <a:lstStyle/>
          <a:p>
            <a:pPr indent="0" marL="0">
              <a:buNone/>
            </a:pPr>
            <a:r>
              <a:rPr lang="en-US" sz="1400" b="1" dirty="0">
                <a:solidFill>
                  <a:srgbClr val="262F65"/>
                </a:solidFill>
                <a:latin typeface="Calibri" pitchFamily="34" charset="0"/>
                <a:ea typeface="Calibri" pitchFamily="34" charset="-122"/>
                <a:cs typeface="Calibri" pitchFamily="34" charset="-120"/>
              </a:rPr>
              <a:t>Hash chaining</a:t>
            </a:r>
            <a:endParaRPr lang="en-US" sz="1400" dirty="0"/>
          </a:p>
        </p:txBody>
      </p:sp>
      <p:sp>
        <p:nvSpPr>
          <p:cNvPr id="25" name="Text 18"/>
          <p:cNvSpPr/>
          <p:nvPr/>
        </p:nvSpPr>
        <p:spPr>
          <a:xfrm>
            <a:off x="7040880" y="4828032"/>
            <a:ext cx="416052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Each record cryptographically linked — tampering breaks the chain.</a:t>
            </a:r>
            <a:endParaRPr lang="en-US" sz="1150" dirty="0"/>
          </a:p>
        </p:txBody>
      </p:sp>
      <p:sp>
        <p:nvSpPr>
          <p:cNvPr id="26" name="Shape 19"/>
          <p:cNvSpPr/>
          <p:nvPr/>
        </p:nvSpPr>
        <p:spPr>
          <a:xfrm>
            <a:off x="5989320" y="5532120"/>
            <a:ext cx="5394960" cy="1170432"/>
          </a:xfrm>
          <a:prstGeom prst="roundRect">
            <a:avLst>
              <a:gd name="adj" fmla="val 7031"/>
            </a:avLst>
          </a:prstGeom>
          <a:solidFill>
            <a:srgbClr val="F4F6FB"/>
          </a:solidFill>
          <a:ln/>
          <a:effectLst>
            <a:outerShdw sx="100000" sy="100000" kx="0" ky="0" algn="bl" rotWithShape="0" blurRad="88900" dist="38100" dir="5400000">
              <a:srgbClr val="8894AD">
                <a:alpha val="28000"/>
              </a:srgbClr>
            </a:outerShdw>
          </a:effectLst>
        </p:spPr>
      </p:sp>
      <p:sp>
        <p:nvSpPr>
          <p:cNvPr id="27" name="Shape 20"/>
          <p:cNvSpPr/>
          <p:nvPr/>
        </p:nvSpPr>
        <p:spPr>
          <a:xfrm>
            <a:off x="6217920" y="5806440"/>
            <a:ext cx="640080" cy="640080"/>
          </a:xfrm>
          <a:prstGeom prst="ellipse">
            <a:avLst/>
          </a:prstGeom>
          <a:solidFill>
            <a:srgbClr val="262F65"/>
          </a:solidFill>
          <a:ln/>
        </p:spPr>
      </p:sp>
      <p:pic>
        <p:nvPicPr>
          <p:cNvPr id="28" name="Image 4" descr="preencoded.png">    </p:cNvPr>
          <p:cNvPicPr>
            <a:picLocks noChangeAspect="1"/>
          </p:cNvPicPr>
          <p:nvPr/>
        </p:nvPicPr>
        <p:blipFill>
          <a:blip r:embed="rId5"/>
          <a:stretch>
            <a:fillRect/>
          </a:stretch>
        </p:blipFill>
        <p:spPr>
          <a:xfrm>
            <a:off x="6371539" y="5960059"/>
            <a:ext cx="332842" cy="332842"/>
          </a:xfrm>
          <a:prstGeom prst="rect">
            <a:avLst/>
          </a:prstGeom>
        </p:spPr>
      </p:pic>
      <p:sp>
        <p:nvSpPr>
          <p:cNvPr id="29" name="Text 21"/>
          <p:cNvSpPr/>
          <p:nvPr/>
        </p:nvSpPr>
        <p:spPr>
          <a:xfrm>
            <a:off x="7040880" y="5696712"/>
            <a:ext cx="4160520" cy="411480"/>
          </a:xfrm>
          <a:prstGeom prst="rect">
            <a:avLst/>
          </a:prstGeom>
          <a:noFill/>
          <a:ln/>
        </p:spPr>
        <p:txBody>
          <a:bodyPr wrap="square" lIns="0" tIns="0" rIns="0" bIns="0" rtlCol="0" anchor="t"/>
          <a:lstStyle/>
          <a:p>
            <a:pPr indent="0" marL="0">
              <a:buNone/>
            </a:pPr>
            <a:r>
              <a:rPr lang="en-US" sz="1400" b="1" dirty="0">
                <a:solidFill>
                  <a:srgbClr val="262F65"/>
                </a:solidFill>
                <a:latin typeface="Calibri" pitchFamily="34" charset="0"/>
                <a:ea typeface="Calibri" pitchFamily="34" charset="-122"/>
                <a:cs typeface="Calibri" pitchFamily="34" charset="-120"/>
              </a:rPr>
              <a:t>Access separation</a:t>
            </a:r>
            <a:endParaRPr lang="en-US" sz="1400" dirty="0"/>
          </a:p>
        </p:txBody>
      </p:sp>
      <p:sp>
        <p:nvSpPr>
          <p:cNvPr id="30" name="Text 22"/>
          <p:cNvSpPr/>
          <p:nvPr/>
        </p:nvSpPr>
        <p:spPr>
          <a:xfrm>
            <a:off x="7040880" y="6108192"/>
            <a:ext cx="416052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Operators can't edit audit logs; forward to a separate audit env.</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04</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4</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Detection, Response &amp; Management</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DETECTION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Intrusion detection in the cloud</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640080" y="1737360"/>
            <a:ext cx="3520440" cy="3566160"/>
          </a:xfrm>
          <a:prstGeom prst="roundRect">
            <a:avLst>
              <a:gd name="adj" fmla="val 2338"/>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43100" y="205740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62556" y="2276856"/>
            <a:ext cx="475488" cy="475488"/>
          </a:xfrm>
          <a:prstGeom prst="rect">
            <a:avLst/>
          </a:prstGeom>
        </p:spPr>
      </p:pic>
      <p:sp>
        <p:nvSpPr>
          <p:cNvPr id="10" name="Text 6"/>
          <p:cNvSpPr/>
          <p:nvPr/>
        </p:nvSpPr>
        <p:spPr>
          <a:xfrm>
            <a:off x="822960" y="3108960"/>
            <a:ext cx="3154680" cy="685800"/>
          </a:xfrm>
          <a:prstGeom prst="rect">
            <a:avLst/>
          </a:prstGeom>
          <a:noFill/>
          <a:ln/>
        </p:spPr>
        <p:txBody>
          <a:bodyPr wrap="square" lIns="0" tIns="0" rIns="0" bIns="0" rtlCol="0" anchor="t"/>
          <a:lstStyle/>
          <a:p>
            <a:pPr algn="ctr" indent="0" marL="0">
              <a:buNone/>
            </a:pPr>
            <a:r>
              <a:rPr lang="en-US" sz="1500" b="1" dirty="0">
                <a:solidFill>
                  <a:srgbClr val="262F65"/>
                </a:solidFill>
                <a:latin typeface="Calibri" pitchFamily="34" charset="0"/>
                <a:ea typeface="Calibri" pitchFamily="34" charset="-122"/>
                <a:cs typeface="Calibri" pitchFamily="34" charset="-120"/>
              </a:rPr>
              <a:t>Signature-based</a:t>
            </a:r>
            <a:endParaRPr lang="en-US" sz="1500" dirty="0"/>
          </a:p>
        </p:txBody>
      </p:sp>
      <p:sp>
        <p:nvSpPr>
          <p:cNvPr id="11" name="Text 7"/>
          <p:cNvSpPr/>
          <p:nvPr/>
        </p:nvSpPr>
        <p:spPr>
          <a:xfrm>
            <a:off x="822960" y="3794760"/>
            <a:ext cx="3154680" cy="7772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Matches known-bad patterns.</a:t>
            </a:r>
            <a:endParaRPr lang="en-US" sz="1250" dirty="0"/>
          </a:p>
        </p:txBody>
      </p:sp>
      <p:sp>
        <p:nvSpPr>
          <p:cNvPr id="12" name="Text 8"/>
          <p:cNvSpPr/>
          <p:nvPr/>
        </p:nvSpPr>
        <p:spPr>
          <a:xfrm>
            <a:off x="822960" y="4617720"/>
            <a:ext cx="3154680" cy="594360"/>
          </a:xfrm>
          <a:prstGeom prst="rect">
            <a:avLst/>
          </a:prstGeom>
          <a:noFill/>
          <a:ln/>
        </p:spPr>
        <p:txBody>
          <a:bodyPr wrap="square" lIns="0" tIns="0" rIns="0" bIns="0" rtlCol="0" anchor="t"/>
          <a:lstStyle/>
          <a:p>
            <a:pPr algn="ctr" indent="0" marL="0">
              <a:buNone/>
            </a:pPr>
            <a:r>
              <a:rPr lang="en-US" sz="1150" i="1" dirty="0">
                <a:solidFill>
                  <a:srgbClr val="5B6472"/>
                </a:solidFill>
                <a:latin typeface="Calibri" pitchFamily="34" charset="0"/>
                <a:ea typeface="Calibri" pitchFamily="34" charset="-122"/>
                <a:cs typeface="Calibri" pitchFamily="34" charset="-120"/>
              </a:rPr>
              <a:t>Reliable for known threats; blind to novel ones.</a:t>
            </a:r>
            <a:endParaRPr lang="en-US" sz="1150" dirty="0"/>
          </a:p>
        </p:txBody>
      </p:sp>
      <p:sp>
        <p:nvSpPr>
          <p:cNvPr id="13" name="Shape 9"/>
          <p:cNvSpPr/>
          <p:nvPr/>
        </p:nvSpPr>
        <p:spPr>
          <a:xfrm>
            <a:off x="4416552" y="1737360"/>
            <a:ext cx="3520440" cy="3566160"/>
          </a:xfrm>
          <a:prstGeom prst="roundRect">
            <a:avLst>
              <a:gd name="adj" fmla="val 2338"/>
            </a:avLst>
          </a:prstGeom>
          <a:solidFill>
            <a:srgbClr val="F4F6FB"/>
          </a:solidFill>
          <a:ln/>
          <a:effectLst>
            <a:outerShdw sx="100000" sy="100000" kx="0" ky="0" algn="bl" rotWithShape="0" blurRad="88900" dist="38100" dir="5400000">
              <a:srgbClr val="8894AD">
                <a:alpha val="28000"/>
              </a:srgbClr>
            </a:outerShdw>
          </a:effectLst>
        </p:spPr>
      </p:sp>
      <p:sp>
        <p:nvSpPr>
          <p:cNvPr id="14" name="Shape 10"/>
          <p:cNvSpPr/>
          <p:nvPr/>
        </p:nvSpPr>
        <p:spPr>
          <a:xfrm>
            <a:off x="5719572" y="2057400"/>
            <a:ext cx="914400" cy="914400"/>
          </a:xfrm>
          <a:prstGeom prst="ellipse">
            <a:avLst/>
          </a:prstGeom>
          <a:solidFill>
            <a:srgbClr val="F2931F"/>
          </a:solidFill>
          <a:ln/>
        </p:spPr>
      </p:sp>
      <p:pic>
        <p:nvPicPr>
          <p:cNvPr id="15" name="Image 1" descr="preencoded.png">    </p:cNvPr>
          <p:cNvPicPr>
            <a:picLocks noChangeAspect="1"/>
          </p:cNvPicPr>
          <p:nvPr/>
        </p:nvPicPr>
        <p:blipFill>
          <a:blip r:embed="rId2"/>
          <a:stretch>
            <a:fillRect/>
          </a:stretch>
        </p:blipFill>
        <p:spPr>
          <a:xfrm>
            <a:off x="5939028" y="2276856"/>
            <a:ext cx="475488" cy="475488"/>
          </a:xfrm>
          <a:prstGeom prst="rect">
            <a:avLst/>
          </a:prstGeom>
        </p:spPr>
      </p:pic>
      <p:sp>
        <p:nvSpPr>
          <p:cNvPr id="16" name="Text 11"/>
          <p:cNvSpPr/>
          <p:nvPr/>
        </p:nvSpPr>
        <p:spPr>
          <a:xfrm>
            <a:off x="4599432" y="3108960"/>
            <a:ext cx="3154680" cy="685800"/>
          </a:xfrm>
          <a:prstGeom prst="rect">
            <a:avLst/>
          </a:prstGeom>
          <a:noFill/>
          <a:ln/>
        </p:spPr>
        <p:txBody>
          <a:bodyPr wrap="square" lIns="0" tIns="0" rIns="0" bIns="0" rtlCol="0" anchor="t"/>
          <a:lstStyle/>
          <a:p>
            <a:pPr algn="ctr" indent="0" marL="0">
              <a:buNone/>
            </a:pPr>
            <a:r>
              <a:rPr lang="en-US" sz="1500" b="1" dirty="0">
                <a:solidFill>
                  <a:srgbClr val="262F65"/>
                </a:solidFill>
                <a:latin typeface="Calibri" pitchFamily="34" charset="0"/>
                <a:ea typeface="Calibri" pitchFamily="34" charset="-122"/>
                <a:cs typeface="Calibri" pitchFamily="34" charset="-120"/>
              </a:rPr>
              <a:t>Anomaly-based</a:t>
            </a:r>
            <a:endParaRPr lang="en-US" sz="1500" dirty="0"/>
          </a:p>
        </p:txBody>
      </p:sp>
      <p:sp>
        <p:nvSpPr>
          <p:cNvPr id="17" name="Text 12"/>
          <p:cNvSpPr/>
          <p:nvPr/>
        </p:nvSpPr>
        <p:spPr>
          <a:xfrm>
            <a:off x="4599432" y="3794760"/>
            <a:ext cx="3154680" cy="7772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Learns normal, flags deviations.</a:t>
            </a:r>
            <a:endParaRPr lang="en-US" sz="1250" dirty="0"/>
          </a:p>
        </p:txBody>
      </p:sp>
      <p:sp>
        <p:nvSpPr>
          <p:cNvPr id="18" name="Text 13"/>
          <p:cNvSpPr/>
          <p:nvPr/>
        </p:nvSpPr>
        <p:spPr>
          <a:xfrm>
            <a:off x="4599432" y="4617720"/>
            <a:ext cx="3154680" cy="594360"/>
          </a:xfrm>
          <a:prstGeom prst="rect">
            <a:avLst/>
          </a:prstGeom>
          <a:noFill/>
          <a:ln/>
        </p:spPr>
        <p:txBody>
          <a:bodyPr wrap="square" lIns="0" tIns="0" rIns="0" bIns="0" rtlCol="0" anchor="t"/>
          <a:lstStyle/>
          <a:p>
            <a:pPr algn="ctr" indent="0" marL="0">
              <a:buNone/>
            </a:pPr>
            <a:r>
              <a:rPr lang="en-US" sz="1150" i="1" dirty="0">
                <a:solidFill>
                  <a:srgbClr val="5B6472"/>
                </a:solidFill>
                <a:latin typeface="Calibri" pitchFamily="34" charset="0"/>
                <a:ea typeface="Calibri" pitchFamily="34" charset="-122"/>
                <a:cs typeface="Calibri" pitchFamily="34" charset="-120"/>
              </a:rPr>
              <a:t>Catches new attacks; more false positives.</a:t>
            </a:r>
            <a:endParaRPr lang="en-US" sz="1150" dirty="0"/>
          </a:p>
        </p:txBody>
      </p:sp>
      <p:sp>
        <p:nvSpPr>
          <p:cNvPr id="19" name="Shape 14"/>
          <p:cNvSpPr/>
          <p:nvPr/>
        </p:nvSpPr>
        <p:spPr>
          <a:xfrm>
            <a:off x="8193024" y="1737360"/>
            <a:ext cx="3520440" cy="3566160"/>
          </a:xfrm>
          <a:prstGeom prst="roundRect">
            <a:avLst>
              <a:gd name="adj" fmla="val 2338"/>
            </a:avLst>
          </a:prstGeom>
          <a:solidFill>
            <a:srgbClr val="F4F6FB"/>
          </a:solidFill>
          <a:ln/>
          <a:effectLst>
            <a:outerShdw sx="100000" sy="100000" kx="0" ky="0" algn="bl" rotWithShape="0" blurRad="88900" dist="38100" dir="5400000">
              <a:srgbClr val="8894AD">
                <a:alpha val="28000"/>
              </a:srgbClr>
            </a:outerShdw>
          </a:effectLst>
        </p:spPr>
      </p:sp>
      <p:sp>
        <p:nvSpPr>
          <p:cNvPr id="20" name="Shape 15"/>
          <p:cNvSpPr/>
          <p:nvPr/>
        </p:nvSpPr>
        <p:spPr>
          <a:xfrm>
            <a:off x="9496044" y="2057400"/>
            <a:ext cx="914400" cy="914400"/>
          </a:xfrm>
          <a:prstGeom prst="ellipse">
            <a:avLst/>
          </a:prstGeom>
          <a:solidFill>
            <a:srgbClr val="293E7B"/>
          </a:solidFill>
          <a:ln/>
        </p:spPr>
      </p:sp>
      <p:pic>
        <p:nvPicPr>
          <p:cNvPr id="21" name="Image 2" descr="preencoded.png">    </p:cNvPr>
          <p:cNvPicPr>
            <a:picLocks noChangeAspect="1"/>
          </p:cNvPicPr>
          <p:nvPr/>
        </p:nvPicPr>
        <p:blipFill>
          <a:blip r:embed="rId3"/>
          <a:stretch>
            <a:fillRect/>
          </a:stretch>
        </p:blipFill>
        <p:spPr>
          <a:xfrm>
            <a:off x="9715500" y="2276856"/>
            <a:ext cx="475488" cy="475488"/>
          </a:xfrm>
          <a:prstGeom prst="rect">
            <a:avLst/>
          </a:prstGeom>
        </p:spPr>
      </p:pic>
      <p:sp>
        <p:nvSpPr>
          <p:cNvPr id="22" name="Text 16"/>
          <p:cNvSpPr/>
          <p:nvPr/>
        </p:nvSpPr>
        <p:spPr>
          <a:xfrm>
            <a:off x="8375904" y="3108960"/>
            <a:ext cx="3154680" cy="685800"/>
          </a:xfrm>
          <a:prstGeom prst="rect">
            <a:avLst/>
          </a:prstGeom>
          <a:noFill/>
          <a:ln/>
        </p:spPr>
        <p:txBody>
          <a:bodyPr wrap="square" lIns="0" tIns="0" rIns="0" bIns="0" rtlCol="0" anchor="t"/>
          <a:lstStyle/>
          <a:p>
            <a:pPr algn="ctr" indent="0" marL="0">
              <a:buNone/>
            </a:pPr>
            <a:r>
              <a:rPr lang="en-US" sz="1500" b="1" dirty="0">
                <a:solidFill>
                  <a:srgbClr val="262F65"/>
                </a:solidFill>
                <a:latin typeface="Calibri" pitchFamily="34" charset="0"/>
                <a:ea typeface="Calibri" pitchFamily="34" charset="-122"/>
                <a:cs typeface="Calibri" pitchFamily="34" charset="-120"/>
              </a:rPr>
              <a:t>Cloud Detection &amp; Response</a:t>
            </a:r>
            <a:endParaRPr lang="en-US" sz="1500" dirty="0"/>
          </a:p>
        </p:txBody>
      </p:sp>
      <p:sp>
        <p:nvSpPr>
          <p:cNvPr id="23" name="Text 17"/>
          <p:cNvSpPr/>
          <p:nvPr/>
        </p:nvSpPr>
        <p:spPr>
          <a:xfrm>
            <a:off x="8375904" y="3794760"/>
            <a:ext cx="3154680" cy="7772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Analytics + threat-intel + ML across cloud.</a:t>
            </a:r>
            <a:endParaRPr lang="en-US" sz="1250" dirty="0"/>
          </a:p>
        </p:txBody>
      </p:sp>
      <p:sp>
        <p:nvSpPr>
          <p:cNvPr id="24" name="Text 18"/>
          <p:cNvSpPr/>
          <p:nvPr/>
        </p:nvSpPr>
        <p:spPr>
          <a:xfrm>
            <a:off x="8375904" y="4617720"/>
            <a:ext cx="3154680" cy="594360"/>
          </a:xfrm>
          <a:prstGeom prst="rect">
            <a:avLst/>
          </a:prstGeom>
          <a:noFill/>
          <a:ln/>
        </p:spPr>
        <p:txBody>
          <a:bodyPr wrap="square" lIns="0" tIns="0" rIns="0" bIns="0" rtlCol="0" anchor="t"/>
          <a:lstStyle/>
          <a:p>
            <a:pPr algn="ctr" indent="0" marL="0">
              <a:buNone/>
            </a:pPr>
            <a:r>
              <a:rPr lang="en-US" sz="1150" i="1" dirty="0">
                <a:solidFill>
                  <a:srgbClr val="5B6472"/>
                </a:solidFill>
                <a:latin typeface="Calibri" pitchFamily="34" charset="0"/>
                <a:ea typeface="Calibri" pitchFamily="34" charset="-122"/>
                <a:cs typeface="Calibri" pitchFamily="34" charset="-120"/>
              </a:rPr>
              <a:t>Detects, investigates &amp; responds fast (CDR).</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BEYOND LOGS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Posture management — CNAPP family</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640080" y="1737360"/>
            <a:ext cx="2606040" cy="3383280"/>
          </a:xfrm>
          <a:prstGeom prst="roundRect">
            <a:avLst>
              <a:gd name="adj" fmla="val 3158"/>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531620" y="2011680"/>
            <a:ext cx="822960" cy="82296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729130" y="2209190"/>
            <a:ext cx="427939" cy="427939"/>
          </a:xfrm>
          <a:prstGeom prst="rect">
            <a:avLst/>
          </a:prstGeom>
        </p:spPr>
      </p:pic>
      <p:sp>
        <p:nvSpPr>
          <p:cNvPr id="10" name="Text 6"/>
          <p:cNvSpPr/>
          <p:nvPr/>
        </p:nvSpPr>
        <p:spPr>
          <a:xfrm>
            <a:off x="777240" y="2926080"/>
            <a:ext cx="2331720" cy="457200"/>
          </a:xfrm>
          <a:prstGeom prst="rect">
            <a:avLst/>
          </a:prstGeom>
          <a:noFill/>
          <a:ln/>
        </p:spPr>
        <p:txBody>
          <a:bodyPr wrap="square" lIns="0" tIns="0" rIns="0" bIns="0" rtlCol="0" anchor="ctr"/>
          <a:lstStyle/>
          <a:p>
            <a:pPr algn="ctr" indent="0" marL="0">
              <a:buNone/>
            </a:pPr>
            <a:r>
              <a:rPr lang="en-US" sz="2000" b="1" dirty="0">
                <a:solidFill>
                  <a:srgbClr val="262F65"/>
                </a:solidFill>
                <a:latin typeface="Cambria" pitchFamily="34" charset="0"/>
                <a:ea typeface="Cambria" pitchFamily="34" charset="-122"/>
                <a:cs typeface="Cambria" pitchFamily="34" charset="-120"/>
              </a:rPr>
              <a:t>CSPM</a:t>
            </a:r>
            <a:endParaRPr lang="en-US" sz="2000" dirty="0"/>
          </a:p>
        </p:txBody>
      </p:sp>
      <p:sp>
        <p:nvSpPr>
          <p:cNvPr id="11" name="Text 7"/>
          <p:cNvSpPr/>
          <p:nvPr/>
        </p:nvSpPr>
        <p:spPr>
          <a:xfrm>
            <a:off x="777240" y="3383280"/>
            <a:ext cx="2331720" cy="502920"/>
          </a:xfrm>
          <a:prstGeom prst="rect">
            <a:avLst/>
          </a:prstGeom>
          <a:noFill/>
          <a:ln/>
        </p:spPr>
        <p:txBody>
          <a:bodyPr wrap="square" lIns="0" tIns="0" rIns="0" bIns="0" rtlCol="0" anchor="t"/>
          <a:lstStyle/>
          <a:p>
            <a:pPr algn="ctr" indent="0" marL="0">
              <a:buNone/>
            </a:pPr>
            <a:r>
              <a:rPr lang="en-US" sz="1200" b="1" dirty="0">
                <a:solidFill>
                  <a:srgbClr val="F2931F"/>
                </a:solidFill>
                <a:latin typeface="Calibri" pitchFamily="34" charset="0"/>
                <a:ea typeface="Calibri" pitchFamily="34" charset="-122"/>
                <a:cs typeface="Calibri" pitchFamily="34" charset="-120"/>
              </a:rPr>
              <a:t>Posture Management</a:t>
            </a:r>
            <a:endParaRPr lang="en-US" sz="1200" dirty="0"/>
          </a:p>
        </p:txBody>
      </p:sp>
      <p:sp>
        <p:nvSpPr>
          <p:cNvPr id="12" name="Text 8"/>
          <p:cNvSpPr/>
          <p:nvPr/>
        </p:nvSpPr>
        <p:spPr>
          <a:xfrm>
            <a:off x="822960" y="3886200"/>
            <a:ext cx="2240280" cy="114300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Continuously finds misconfigurations &amp; compliance gaps in IaaS/PaaS.</a:t>
            </a:r>
            <a:endParaRPr lang="en-US" sz="1150" dirty="0"/>
          </a:p>
        </p:txBody>
      </p:sp>
      <p:sp>
        <p:nvSpPr>
          <p:cNvPr id="13" name="Shape 9"/>
          <p:cNvSpPr/>
          <p:nvPr/>
        </p:nvSpPr>
        <p:spPr>
          <a:xfrm>
            <a:off x="3502152" y="1737360"/>
            <a:ext cx="2606040" cy="3383280"/>
          </a:xfrm>
          <a:prstGeom prst="roundRect">
            <a:avLst>
              <a:gd name="adj" fmla="val 3158"/>
            </a:avLst>
          </a:prstGeom>
          <a:solidFill>
            <a:srgbClr val="F4F6FB"/>
          </a:solidFill>
          <a:ln/>
          <a:effectLst>
            <a:outerShdw sx="100000" sy="100000" kx="0" ky="0" algn="bl" rotWithShape="0" blurRad="88900" dist="38100" dir="5400000">
              <a:srgbClr val="8894AD">
                <a:alpha val="28000"/>
              </a:srgbClr>
            </a:outerShdw>
          </a:effectLst>
        </p:spPr>
      </p:sp>
      <p:sp>
        <p:nvSpPr>
          <p:cNvPr id="14" name="Shape 10"/>
          <p:cNvSpPr/>
          <p:nvPr/>
        </p:nvSpPr>
        <p:spPr>
          <a:xfrm>
            <a:off x="4393692" y="2011680"/>
            <a:ext cx="822960" cy="822960"/>
          </a:xfrm>
          <a:prstGeom prst="ellipse">
            <a:avLst/>
          </a:prstGeom>
          <a:solidFill>
            <a:srgbClr val="F2931F"/>
          </a:solidFill>
          <a:ln/>
        </p:spPr>
      </p:sp>
      <p:pic>
        <p:nvPicPr>
          <p:cNvPr id="15" name="Image 1" descr="preencoded.png">    </p:cNvPr>
          <p:cNvPicPr>
            <a:picLocks noChangeAspect="1"/>
          </p:cNvPicPr>
          <p:nvPr/>
        </p:nvPicPr>
        <p:blipFill>
          <a:blip r:embed="rId2"/>
          <a:stretch>
            <a:fillRect/>
          </a:stretch>
        </p:blipFill>
        <p:spPr>
          <a:xfrm>
            <a:off x="4591202" y="2209190"/>
            <a:ext cx="427939" cy="427939"/>
          </a:xfrm>
          <a:prstGeom prst="rect">
            <a:avLst/>
          </a:prstGeom>
        </p:spPr>
      </p:pic>
      <p:sp>
        <p:nvSpPr>
          <p:cNvPr id="16" name="Text 11"/>
          <p:cNvSpPr/>
          <p:nvPr/>
        </p:nvSpPr>
        <p:spPr>
          <a:xfrm>
            <a:off x="3639312" y="2926080"/>
            <a:ext cx="2331720" cy="457200"/>
          </a:xfrm>
          <a:prstGeom prst="rect">
            <a:avLst/>
          </a:prstGeom>
          <a:noFill/>
          <a:ln/>
        </p:spPr>
        <p:txBody>
          <a:bodyPr wrap="square" lIns="0" tIns="0" rIns="0" bIns="0" rtlCol="0" anchor="ctr"/>
          <a:lstStyle/>
          <a:p>
            <a:pPr algn="ctr" indent="0" marL="0">
              <a:buNone/>
            </a:pPr>
            <a:r>
              <a:rPr lang="en-US" sz="2000" b="1" dirty="0">
                <a:solidFill>
                  <a:srgbClr val="262F65"/>
                </a:solidFill>
                <a:latin typeface="Cambria" pitchFamily="34" charset="0"/>
                <a:ea typeface="Cambria" pitchFamily="34" charset="-122"/>
                <a:cs typeface="Cambria" pitchFamily="34" charset="-120"/>
              </a:rPr>
              <a:t>CIEM</a:t>
            </a:r>
            <a:endParaRPr lang="en-US" sz="2000" dirty="0"/>
          </a:p>
        </p:txBody>
      </p:sp>
      <p:sp>
        <p:nvSpPr>
          <p:cNvPr id="17" name="Text 12"/>
          <p:cNvSpPr/>
          <p:nvPr/>
        </p:nvSpPr>
        <p:spPr>
          <a:xfrm>
            <a:off x="3639312" y="3383280"/>
            <a:ext cx="2331720" cy="502920"/>
          </a:xfrm>
          <a:prstGeom prst="rect">
            <a:avLst/>
          </a:prstGeom>
          <a:noFill/>
          <a:ln/>
        </p:spPr>
        <p:txBody>
          <a:bodyPr wrap="square" lIns="0" tIns="0" rIns="0" bIns="0" rtlCol="0" anchor="t"/>
          <a:lstStyle/>
          <a:p>
            <a:pPr algn="ctr" indent="0" marL="0">
              <a:buNone/>
            </a:pPr>
            <a:r>
              <a:rPr lang="en-US" sz="1200" b="1" dirty="0">
                <a:solidFill>
                  <a:srgbClr val="F2931F"/>
                </a:solidFill>
                <a:latin typeface="Calibri" pitchFamily="34" charset="0"/>
                <a:ea typeface="Calibri" pitchFamily="34" charset="-122"/>
                <a:cs typeface="Calibri" pitchFamily="34" charset="-120"/>
              </a:rPr>
              <a:t>Entitlement Management</a:t>
            </a:r>
            <a:endParaRPr lang="en-US" sz="1200" dirty="0"/>
          </a:p>
        </p:txBody>
      </p:sp>
      <p:sp>
        <p:nvSpPr>
          <p:cNvPr id="18" name="Text 13"/>
          <p:cNvSpPr/>
          <p:nvPr/>
        </p:nvSpPr>
        <p:spPr>
          <a:xfrm>
            <a:off x="3685032" y="3886200"/>
            <a:ext cx="2240280" cy="114300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Governs cloud identities; enforces least privilege.</a:t>
            </a:r>
            <a:endParaRPr lang="en-US" sz="1150" dirty="0"/>
          </a:p>
        </p:txBody>
      </p:sp>
      <p:sp>
        <p:nvSpPr>
          <p:cNvPr id="19" name="Shape 14"/>
          <p:cNvSpPr/>
          <p:nvPr/>
        </p:nvSpPr>
        <p:spPr>
          <a:xfrm>
            <a:off x="6364224" y="1737360"/>
            <a:ext cx="2606040" cy="3383280"/>
          </a:xfrm>
          <a:prstGeom prst="roundRect">
            <a:avLst>
              <a:gd name="adj" fmla="val 3158"/>
            </a:avLst>
          </a:prstGeom>
          <a:solidFill>
            <a:srgbClr val="F4F6FB"/>
          </a:solidFill>
          <a:ln/>
          <a:effectLst>
            <a:outerShdw sx="100000" sy="100000" kx="0" ky="0" algn="bl" rotWithShape="0" blurRad="88900" dist="38100" dir="5400000">
              <a:srgbClr val="8894AD">
                <a:alpha val="28000"/>
              </a:srgbClr>
            </a:outerShdw>
          </a:effectLst>
        </p:spPr>
      </p:sp>
      <p:sp>
        <p:nvSpPr>
          <p:cNvPr id="20" name="Shape 15"/>
          <p:cNvSpPr/>
          <p:nvPr/>
        </p:nvSpPr>
        <p:spPr>
          <a:xfrm>
            <a:off x="7255764" y="2011680"/>
            <a:ext cx="822960" cy="822960"/>
          </a:xfrm>
          <a:prstGeom prst="ellipse">
            <a:avLst/>
          </a:prstGeom>
          <a:solidFill>
            <a:srgbClr val="293E7B"/>
          </a:solidFill>
          <a:ln/>
        </p:spPr>
      </p:sp>
      <p:pic>
        <p:nvPicPr>
          <p:cNvPr id="21" name="Image 2" descr="preencoded.png">    </p:cNvPr>
          <p:cNvPicPr>
            <a:picLocks noChangeAspect="1"/>
          </p:cNvPicPr>
          <p:nvPr/>
        </p:nvPicPr>
        <p:blipFill>
          <a:blip r:embed="rId3"/>
          <a:stretch>
            <a:fillRect/>
          </a:stretch>
        </p:blipFill>
        <p:spPr>
          <a:xfrm>
            <a:off x="7453274" y="2209190"/>
            <a:ext cx="427939" cy="427939"/>
          </a:xfrm>
          <a:prstGeom prst="rect">
            <a:avLst/>
          </a:prstGeom>
        </p:spPr>
      </p:pic>
      <p:sp>
        <p:nvSpPr>
          <p:cNvPr id="22" name="Text 16"/>
          <p:cNvSpPr/>
          <p:nvPr/>
        </p:nvSpPr>
        <p:spPr>
          <a:xfrm>
            <a:off x="6501384" y="2926080"/>
            <a:ext cx="2331720" cy="457200"/>
          </a:xfrm>
          <a:prstGeom prst="rect">
            <a:avLst/>
          </a:prstGeom>
          <a:noFill/>
          <a:ln/>
        </p:spPr>
        <p:txBody>
          <a:bodyPr wrap="square" lIns="0" tIns="0" rIns="0" bIns="0" rtlCol="0" anchor="ctr"/>
          <a:lstStyle/>
          <a:p>
            <a:pPr algn="ctr" indent="0" marL="0">
              <a:buNone/>
            </a:pPr>
            <a:r>
              <a:rPr lang="en-US" sz="2000" b="1" dirty="0">
                <a:solidFill>
                  <a:srgbClr val="262F65"/>
                </a:solidFill>
                <a:latin typeface="Cambria" pitchFamily="34" charset="0"/>
                <a:ea typeface="Cambria" pitchFamily="34" charset="-122"/>
                <a:cs typeface="Cambria" pitchFamily="34" charset="-120"/>
              </a:rPr>
              <a:t>CDR</a:t>
            </a:r>
            <a:endParaRPr lang="en-US" sz="2000" dirty="0"/>
          </a:p>
        </p:txBody>
      </p:sp>
      <p:sp>
        <p:nvSpPr>
          <p:cNvPr id="23" name="Text 17"/>
          <p:cNvSpPr/>
          <p:nvPr/>
        </p:nvSpPr>
        <p:spPr>
          <a:xfrm>
            <a:off x="6501384" y="3383280"/>
            <a:ext cx="2331720" cy="502920"/>
          </a:xfrm>
          <a:prstGeom prst="rect">
            <a:avLst/>
          </a:prstGeom>
          <a:noFill/>
          <a:ln/>
        </p:spPr>
        <p:txBody>
          <a:bodyPr wrap="square" lIns="0" tIns="0" rIns="0" bIns="0" rtlCol="0" anchor="t"/>
          <a:lstStyle/>
          <a:p>
            <a:pPr algn="ctr" indent="0" marL="0">
              <a:buNone/>
            </a:pPr>
            <a:r>
              <a:rPr lang="en-US" sz="1200" b="1" dirty="0">
                <a:solidFill>
                  <a:srgbClr val="F2931F"/>
                </a:solidFill>
                <a:latin typeface="Calibri" pitchFamily="34" charset="0"/>
                <a:ea typeface="Calibri" pitchFamily="34" charset="-122"/>
                <a:cs typeface="Calibri" pitchFamily="34" charset="-120"/>
              </a:rPr>
              <a:t>Detection &amp; Response</a:t>
            </a:r>
            <a:endParaRPr lang="en-US" sz="1200" dirty="0"/>
          </a:p>
        </p:txBody>
      </p:sp>
      <p:sp>
        <p:nvSpPr>
          <p:cNvPr id="24" name="Text 18"/>
          <p:cNvSpPr/>
          <p:nvPr/>
        </p:nvSpPr>
        <p:spPr>
          <a:xfrm>
            <a:off x="6547104" y="3886200"/>
            <a:ext cx="2240280" cy="114300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Analytics &amp; ML to detect and respond to threats.</a:t>
            </a:r>
            <a:endParaRPr lang="en-US" sz="1150" dirty="0"/>
          </a:p>
        </p:txBody>
      </p:sp>
      <p:sp>
        <p:nvSpPr>
          <p:cNvPr id="25" name="Shape 19"/>
          <p:cNvSpPr/>
          <p:nvPr/>
        </p:nvSpPr>
        <p:spPr>
          <a:xfrm>
            <a:off x="9226296" y="1737360"/>
            <a:ext cx="2606040" cy="3383280"/>
          </a:xfrm>
          <a:prstGeom prst="roundRect">
            <a:avLst>
              <a:gd name="adj" fmla="val 3158"/>
            </a:avLst>
          </a:prstGeom>
          <a:solidFill>
            <a:srgbClr val="F4F6FB"/>
          </a:solidFill>
          <a:ln/>
          <a:effectLst>
            <a:outerShdw sx="100000" sy="100000" kx="0" ky="0" algn="bl" rotWithShape="0" blurRad="88900" dist="38100" dir="5400000">
              <a:srgbClr val="8894AD">
                <a:alpha val="28000"/>
              </a:srgbClr>
            </a:outerShdw>
          </a:effectLst>
        </p:spPr>
      </p:sp>
      <p:sp>
        <p:nvSpPr>
          <p:cNvPr id="26" name="Shape 20"/>
          <p:cNvSpPr/>
          <p:nvPr/>
        </p:nvSpPr>
        <p:spPr>
          <a:xfrm>
            <a:off x="10117836" y="2011680"/>
            <a:ext cx="822960" cy="822960"/>
          </a:xfrm>
          <a:prstGeom prst="ellipse">
            <a:avLst/>
          </a:prstGeom>
          <a:solidFill>
            <a:srgbClr val="FABA32"/>
          </a:solidFill>
          <a:ln/>
        </p:spPr>
      </p:sp>
      <p:pic>
        <p:nvPicPr>
          <p:cNvPr id="27" name="Image 3" descr="preencoded.png">    </p:cNvPr>
          <p:cNvPicPr>
            <a:picLocks noChangeAspect="1"/>
          </p:cNvPicPr>
          <p:nvPr/>
        </p:nvPicPr>
        <p:blipFill>
          <a:blip r:embed="rId4"/>
          <a:stretch>
            <a:fillRect/>
          </a:stretch>
        </p:blipFill>
        <p:spPr>
          <a:xfrm>
            <a:off x="10315346" y="2209190"/>
            <a:ext cx="427939" cy="427939"/>
          </a:xfrm>
          <a:prstGeom prst="rect">
            <a:avLst/>
          </a:prstGeom>
        </p:spPr>
      </p:pic>
      <p:sp>
        <p:nvSpPr>
          <p:cNvPr id="28" name="Text 21"/>
          <p:cNvSpPr/>
          <p:nvPr/>
        </p:nvSpPr>
        <p:spPr>
          <a:xfrm>
            <a:off x="9363456" y="2926080"/>
            <a:ext cx="2331720" cy="457200"/>
          </a:xfrm>
          <a:prstGeom prst="rect">
            <a:avLst/>
          </a:prstGeom>
          <a:noFill/>
          <a:ln/>
        </p:spPr>
        <p:txBody>
          <a:bodyPr wrap="square" lIns="0" tIns="0" rIns="0" bIns="0" rtlCol="0" anchor="ctr"/>
          <a:lstStyle/>
          <a:p>
            <a:pPr algn="ctr" indent="0" marL="0">
              <a:buNone/>
            </a:pPr>
            <a:r>
              <a:rPr lang="en-US" sz="2000" b="1" dirty="0">
                <a:solidFill>
                  <a:srgbClr val="262F65"/>
                </a:solidFill>
                <a:latin typeface="Cambria" pitchFamily="34" charset="0"/>
                <a:ea typeface="Cambria" pitchFamily="34" charset="-122"/>
                <a:cs typeface="Cambria" pitchFamily="34" charset="-120"/>
              </a:rPr>
              <a:t>SSPM</a:t>
            </a:r>
            <a:endParaRPr lang="en-US" sz="2000" dirty="0"/>
          </a:p>
        </p:txBody>
      </p:sp>
      <p:sp>
        <p:nvSpPr>
          <p:cNvPr id="29" name="Text 22"/>
          <p:cNvSpPr/>
          <p:nvPr/>
        </p:nvSpPr>
        <p:spPr>
          <a:xfrm>
            <a:off x="9363456" y="3383280"/>
            <a:ext cx="2331720" cy="502920"/>
          </a:xfrm>
          <a:prstGeom prst="rect">
            <a:avLst/>
          </a:prstGeom>
          <a:noFill/>
          <a:ln/>
        </p:spPr>
        <p:txBody>
          <a:bodyPr wrap="square" lIns="0" tIns="0" rIns="0" bIns="0" rtlCol="0" anchor="t"/>
          <a:lstStyle/>
          <a:p>
            <a:pPr algn="ctr" indent="0" marL="0">
              <a:buNone/>
            </a:pPr>
            <a:r>
              <a:rPr lang="en-US" sz="1200" b="1" dirty="0">
                <a:solidFill>
                  <a:srgbClr val="F2931F"/>
                </a:solidFill>
                <a:latin typeface="Calibri" pitchFamily="34" charset="0"/>
                <a:ea typeface="Calibri" pitchFamily="34" charset="-122"/>
                <a:cs typeface="Calibri" pitchFamily="34" charset="-120"/>
              </a:rPr>
              <a:t>SaaS Posture</a:t>
            </a:r>
            <a:endParaRPr lang="en-US" sz="1200" dirty="0"/>
          </a:p>
        </p:txBody>
      </p:sp>
      <p:sp>
        <p:nvSpPr>
          <p:cNvPr id="30" name="Text 23"/>
          <p:cNvSpPr/>
          <p:nvPr/>
        </p:nvSpPr>
        <p:spPr>
          <a:xfrm>
            <a:off x="9409176" y="3886200"/>
            <a:ext cx="2240280" cy="114300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Checks SaaS app configuration &amp; entitlements.</a:t>
            </a:r>
            <a:endParaRPr lang="en-US" sz="1150" dirty="0"/>
          </a:p>
        </p:txBody>
      </p:sp>
      <p:sp>
        <p:nvSpPr>
          <p:cNvPr id="31" name="Text 24"/>
          <p:cNvSpPr/>
          <p:nvPr/>
        </p:nvSpPr>
        <p:spPr>
          <a:xfrm>
            <a:off x="640080" y="5257800"/>
            <a:ext cx="10881360" cy="457200"/>
          </a:xfrm>
          <a:prstGeom prst="rect">
            <a:avLst/>
          </a:prstGeom>
          <a:noFill/>
          <a:ln/>
        </p:spPr>
        <p:txBody>
          <a:bodyPr wrap="square" lIns="0" tIns="0" rIns="0" bIns="0" rtlCol="0" anchor="ctr"/>
          <a:lstStyle/>
          <a:p>
            <a:pPr algn="ctr" indent="0" marL="0">
              <a:buNone/>
            </a:pPr>
            <a:r>
              <a:rPr lang="en-US" sz="1400" i="1" dirty="0">
                <a:solidFill>
                  <a:srgbClr val="262F65"/>
                </a:solidFill>
                <a:latin typeface="Calibri" pitchFamily="34" charset="0"/>
                <a:ea typeface="Calibri" pitchFamily="34" charset="-122"/>
                <a:cs typeface="Calibri" pitchFamily="34" charset="-120"/>
              </a:rPr>
              <a:t>All bundled under  CNAPP  —  Cloud-Native Application Protection Platform.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WHEN PREVENTION FAILS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Cloud incident response lifecycle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640080" y="1737360"/>
            <a:ext cx="3474720" cy="1874520"/>
          </a:xfrm>
          <a:prstGeom prst="roundRect">
            <a:avLst>
              <a:gd name="adj" fmla="val 4390"/>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96112" y="2011680"/>
            <a:ext cx="822960" cy="82296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93622" y="2209190"/>
            <a:ext cx="427939" cy="427939"/>
          </a:xfrm>
          <a:prstGeom prst="rect">
            <a:avLst/>
          </a:prstGeom>
        </p:spPr>
      </p:pic>
      <p:sp>
        <p:nvSpPr>
          <p:cNvPr id="10" name="Text 6"/>
          <p:cNvSpPr/>
          <p:nvPr/>
        </p:nvSpPr>
        <p:spPr>
          <a:xfrm>
            <a:off x="1874520" y="2057400"/>
            <a:ext cx="2011680" cy="64008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1.  </a:t>
            </a:r>
            <a:pPr indent="0" marL="0">
              <a:buNone/>
            </a:pPr>
            <a:r>
              <a:rPr lang="en-US" sz="1500" b="1" dirty="0">
                <a:solidFill>
                  <a:srgbClr val="262F65"/>
                </a:solidFill>
                <a:latin typeface="Calibri" pitchFamily="34" charset="0"/>
                <a:ea typeface="Calibri" pitchFamily="34" charset="-122"/>
                <a:cs typeface="Calibri" pitchFamily="34" charset="-120"/>
              </a:rPr>
              <a:t>Prepare</a:t>
            </a:r>
            <a:endParaRPr lang="en-US" sz="1500" dirty="0"/>
          </a:p>
        </p:txBody>
      </p:sp>
      <p:sp>
        <p:nvSpPr>
          <p:cNvPr id="11" name="Text 7"/>
          <p:cNvSpPr/>
          <p:nvPr/>
        </p:nvSpPr>
        <p:spPr>
          <a:xfrm>
            <a:off x="896112" y="2880360"/>
            <a:ext cx="2962656"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Plan, logging &amp; access ready in advance.</a:t>
            </a:r>
            <a:endParaRPr lang="en-US" sz="1200" dirty="0"/>
          </a:p>
        </p:txBody>
      </p:sp>
      <p:sp>
        <p:nvSpPr>
          <p:cNvPr id="12" name="Shape 8"/>
          <p:cNvSpPr/>
          <p:nvPr/>
        </p:nvSpPr>
        <p:spPr>
          <a:xfrm>
            <a:off x="4343400" y="1737360"/>
            <a:ext cx="3474720" cy="1874520"/>
          </a:xfrm>
          <a:prstGeom prst="roundRect">
            <a:avLst>
              <a:gd name="adj" fmla="val 4390"/>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4599432" y="2011680"/>
            <a:ext cx="822960" cy="822960"/>
          </a:xfrm>
          <a:prstGeom prst="ellipse">
            <a:avLst/>
          </a:prstGeom>
          <a:solidFill>
            <a:srgbClr val="293E7B"/>
          </a:solidFill>
          <a:ln/>
        </p:spPr>
      </p:sp>
      <p:pic>
        <p:nvPicPr>
          <p:cNvPr id="14" name="Image 1" descr="preencoded.png">    </p:cNvPr>
          <p:cNvPicPr>
            <a:picLocks noChangeAspect="1"/>
          </p:cNvPicPr>
          <p:nvPr/>
        </p:nvPicPr>
        <p:blipFill>
          <a:blip r:embed="rId2"/>
          <a:stretch>
            <a:fillRect/>
          </a:stretch>
        </p:blipFill>
        <p:spPr>
          <a:xfrm>
            <a:off x="4796942" y="2209190"/>
            <a:ext cx="427939" cy="427939"/>
          </a:xfrm>
          <a:prstGeom prst="rect">
            <a:avLst/>
          </a:prstGeom>
        </p:spPr>
      </p:pic>
      <p:sp>
        <p:nvSpPr>
          <p:cNvPr id="15" name="Text 10"/>
          <p:cNvSpPr/>
          <p:nvPr/>
        </p:nvSpPr>
        <p:spPr>
          <a:xfrm>
            <a:off x="5577840" y="2057400"/>
            <a:ext cx="2011680" cy="64008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2.  </a:t>
            </a:r>
            <a:pPr indent="0" marL="0">
              <a:buNone/>
            </a:pPr>
            <a:r>
              <a:rPr lang="en-US" sz="1500" b="1" dirty="0">
                <a:solidFill>
                  <a:srgbClr val="262F65"/>
                </a:solidFill>
                <a:latin typeface="Calibri" pitchFamily="34" charset="0"/>
                <a:ea typeface="Calibri" pitchFamily="34" charset="-122"/>
                <a:cs typeface="Calibri" pitchFamily="34" charset="-120"/>
              </a:rPr>
              <a:t>Detect &amp; analyse</a:t>
            </a:r>
            <a:endParaRPr lang="en-US" sz="1500" dirty="0"/>
          </a:p>
        </p:txBody>
      </p:sp>
      <p:sp>
        <p:nvSpPr>
          <p:cNvPr id="16" name="Text 11"/>
          <p:cNvSpPr/>
          <p:nvPr/>
        </p:nvSpPr>
        <p:spPr>
          <a:xfrm>
            <a:off x="4599432" y="2880360"/>
            <a:ext cx="2962656"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SIEM / CDR raises and confirms the alert.</a:t>
            </a:r>
            <a:endParaRPr lang="en-US" sz="1200" dirty="0"/>
          </a:p>
        </p:txBody>
      </p:sp>
      <p:sp>
        <p:nvSpPr>
          <p:cNvPr id="17" name="Shape 12"/>
          <p:cNvSpPr/>
          <p:nvPr/>
        </p:nvSpPr>
        <p:spPr>
          <a:xfrm>
            <a:off x="8046720" y="1737360"/>
            <a:ext cx="3474720" cy="1874520"/>
          </a:xfrm>
          <a:prstGeom prst="roundRect">
            <a:avLst>
              <a:gd name="adj" fmla="val 4390"/>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8302752" y="2011680"/>
            <a:ext cx="822960" cy="822960"/>
          </a:xfrm>
          <a:prstGeom prst="ellipse">
            <a:avLst/>
          </a:prstGeom>
          <a:solidFill>
            <a:srgbClr val="E8403A"/>
          </a:solidFill>
          <a:ln/>
        </p:spPr>
      </p:sp>
      <p:pic>
        <p:nvPicPr>
          <p:cNvPr id="19" name="Image 2" descr="preencoded.png">    </p:cNvPr>
          <p:cNvPicPr>
            <a:picLocks noChangeAspect="1"/>
          </p:cNvPicPr>
          <p:nvPr/>
        </p:nvPicPr>
        <p:blipFill>
          <a:blip r:embed="rId3"/>
          <a:stretch>
            <a:fillRect/>
          </a:stretch>
        </p:blipFill>
        <p:spPr>
          <a:xfrm>
            <a:off x="8500262" y="2209190"/>
            <a:ext cx="427939" cy="427939"/>
          </a:xfrm>
          <a:prstGeom prst="rect">
            <a:avLst/>
          </a:prstGeom>
        </p:spPr>
      </p:pic>
      <p:sp>
        <p:nvSpPr>
          <p:cNvPr id="20" name="Text 14"/>
          <p:cNvSpPr/>
          <p:nvPr/>
        </p:nvSpPr>
        <p:spPr>
          <a:xfrm>
            <a:off x="9281160" y="2057400"/>
            <a:ext cx="2011680" cy="64008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3.  </a:t>
            </a:r>
            <a:pPr indent="0" marL="0">
              <a:buNone/>
            </a:pPr>
            <a:r>
              <a:rPr lang="en-US" sz="1500" b="1" dirty="0">
                <a:solidFill>
                  <a:srgbClr val="262F65"/>
                </a:solidFill>
                <a:latin typeface="Calibri" pitchFamily="34" charset="0"/>
                <a:ea typeface="Calibri" pitchFamily="34" charset="-122"/>
                <a:cs typeface="Calibri" pitchFamily="34" charset="-120"/>
              </a:rPr>
              <a:t>Contain</a:t>
            </a:r>
            <a:endParaRPr lang="en-US" sz="1500" dirty="0"/>
          </a:p>
        </p:txBody>
      </p:sp>
      <p:sp>
        <p:nvSpPr>
          <p:cNvPr id="21" name="Text 15"/>
          <p:cNvSpPr/>
          <p:nvPr/>
        </p:nvSpPr>
        <p:spPr>
          <a:xfrm>
            <a:off x="8302752" y="2880360"/>
            <a:ext cx="2962656"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Isolate instance, snapshot, revoke credentials.</a:t>
            </a:r>
            <a:endParaRPr lang="en-US" sz="1200" dirty="0"/>
          </a:p>
        </p:txBody>
      </p:sp>
      <p:sp>
        <p:nvSpPr>
          <p:cNvPr id="22" name="Shape 16"/>
          <p:cNvSpPr/>
          <p:nvPr/>
        </p:nvSpPr>
        <p:spPr>
          <a:xfrm>
            <a:off x="640080" y="3840480"/>
            <a:ext cx="3474720" cy="1874520"/>
          </a:xfrm>
          <a:prstGeom prst="roundRect">
            <a:avLst>
              <a:gd name="adj" fmla="val 4390"/>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896112" y="4114800"/>
            <a:ext cx="822960" cy="822960"/>
          </a:xfrm>
          <a:prstGeom prst="ellipse">
            <a:avLst/>
          </a:prstGeom>
          <a:solidFill>
            <a:srgbClr val="F2931F"/>
          </a:solidFill>
          <a:ln/>
        </p:spPr>
      </p:sp>
      <p:pic>
        <p:nvPicPr>
          <p:cNvPr id="24" name="Image 3" descr="preencoded.png">    </p:cNvPr>
          <p:cNvPicPr>
            <a:picLocks noChangeAspect="1"/>
          </p:cNvPicPr>
          <p:nvPr/>
        </p:nvPicPr>
        <p:blipFill>
          <a:blip r:embed="rId4"/>
          <a:stretch>
            <a:fillRect/>
          </a:stretch>
        </p:blipFill>
        <p:spPr>
          <a:xfrm>
            <a:off x="1093622" y="4312310"/>
            <a:ext cx="427939" cy="427939"/>
          </a:xfrm>
          <a:prstGeom prst="rect">
            <a:avLst/>
          </a:prstGeom>
        </p:spPr>
      </p:pic>
      <p:sp>
        <p:nvSpPr>
          <p:cNvPr id="25" name="Text 18"/>
          <p:cNvSpPr/>
          <p:nvPr/>
        </p:nvSpPr>
        <p:spPr>
          <a:xfrm>
            <a:off x="1874520" y="4160520"/>
            <a:ext cx="2011680" cy="64008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4.  </a:t>
            </a:r>
            <a:pPr indent="0" marL="0">
              <a:buNone/>
            </a:pPr>
            <a:r>
              <a:rPr lang="en-US" sz="1500" b="1" dirty="0">
                <a:solidFill>
                  <a:srgbClr val="262F65"/>
                </a:solidFill>
                <a:latin typeface="Calibri" pitchFamily="34" charset="0"/>
                <a:ea typeface="Calibri" pitchFamily="34" charset="-122"/>
                <a:cs typeface="Calibri" pitchFamily="34" charset="-120"/>
              </a:rPr>
              <a:t>Eradicate</a:t>
            </a:r>
            <a:endParaRPr lang="en-US" sz="1500" dirty="0"/>
          </a:p>
        </p:txBody>
      </p:sp>
      <p:sp>
        <p:nvSpPr>
          <p:cNvPr id="26" name="Text 19"/>
          <p:cNvSpPr/>
          <p:nvPr/>
        </p:nvSpPr>
        <p:spPr>
          <a:xfrm>
            <a:off x="896112" y="4983480"/>
            <a:ext cx="2962656"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Terminate malicious resources; rotate keys.</a:t>
            </a:r>
            <a:endParaRPr lang="en-US" sz="1200" dirty="0"/>
          </a:p>
        </p:txBody>
      </p:sp>
      <p:sp>
        <p:nvSpPr>
          <p:cNvPr id="27" name="Shape 20"/>
          <p:cNvSpPr/>
          <p:nvPr/>
        </p:nvSpPr>
        <p:spPr>
          <a:xfrm>
            <a:off x="4343400" y="3840480"/>
            <a:ext cx="3474720" cy="1874520"/>
          </a:xfrm>
          <a:prstGeom prst="roundRect">
            <a:avLst>
              <a:gd name="adj" fmla="val 4390"/>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4599432" y="4114800"/>
            <a:ext cx="822960" cy="822960"/>
          </a:xfrm>
          <a:prstGeom prst="ellipse">
            <a:avLst/>
          </a:prstGeom>
          <a:solidFill>
            <a:srgbClr val="262F65"/>
          </a:solidFill>
          <a:ln/>
        </p:spPr>
      </p:sp>
      <p:pic>
        <p:nvPicPr>
          <p:cNvPr id="29" name="Image 4" descr="preencoded.png">    </p:cNvPr>
          <p:cNvPicPr>
            <a:picLocks noChangeAspect="1"/>
          </p:cNvPicPr>
          <p:nvPr/>
        </p:nvPicPr>
        <p:blipFill>
          <a:blip r:embed="rId5"/>
          <a:stretch>
            <a:fillRect/>
          </a:stretch>
        </p:blipFill>
        <p:spPr>
          <a:xfrm>
            <a:off x="4796942" y="4312310"/>
            <a:ext cx="427939" cy="427939"/>
          </a:xfrm>
          <a:prstGeom prst="rect">
            <a:avLst/>
          </a:prstGeom>
        </p:spPr>
      </p:pic>
      <p:sp>
        <p:nvSpPr>
          <p:cNvPr id="30" name="Text 22"/>
          <p:cNvSpPr/>
          <p:nvPr/>
        </p:nvSpPr>
        <p:spPr>
          <a:xfrm>
            <a:off x="5577840" y="4160520"/>
            <a:ext cx="2011680" cy="64008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5.  </a:t>
            </a:r>
            <a:pPr indent="0" marL="0">
              <a:buNone/>
            </a:pPr>
            <a:r>
              <a:rPr lang="en-US" sz="1500" b="1" dirty="0">
                <a:solidFill>
                  <a:srgbClr val="262F65"/>
                </a:solidFill>
                <a:latin typeface="Calibri" pitchFamily="34" charset="0"/>
                <a:ea typeface="Calibri" pitchFamily="34" charset="-122"/>
                <a:cs typeface="Calibri" pitchFamily="34" charset="-120"/>
              </a:rPr>
              <a:t>Recover</a:t>
            </a:r>
            <a:endParaRPr lang="en-US" sz="1500" dirty="0"/>
          </a:p>
        </p:txBody>
      </p:sp>
      <p:sp>
        <p:nvSpPr>
          <p:cNvPr id="31" name="Text 23"/>
          <p:cNvSpPr/>
          <p:nvPr/>
        </p:nvSpPr>
        <p:spPr>
          <a:xfrm>
            <a:off x="4599432" y="4983480"/>
            <a:ext cx="2962656"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Rebuild from known-good images &amp; backups.</a:t>
            </a:r>
            <a:endParaRPr lang="en-US" sz="1200" dirty="0"/>
          </a:p>
        </p:txBody>
      </p:sp>
      <p:sp>
        <p:nvSpPr>
          <p:cNvPr id="32" name="Shape 24"/>
          <p:cNvSpPr/>
          <p:nvPr/>
        </p:nvSpPr>
        <p:spPr>
          <a:xfrm>
            <a:off x="8046720" y="3840480"/>
            <a:ext cx="3474720" cy="1874520"/>
          </a:xfrm>
          <a:prstGeom prst="roundRect">
            <a:avLst>
              <a:gd name="adj" fmla="val 4390"/>
            </a:avLst>
          </a:prstGeom>
          <a:solidFill>
            <a:srgbClr val="F4F6FB"/>
          </a:solidFill>
          <a:ln/>
          <a:effectLst>
            <a:outerShdw sx="100000" sy="100000" kx="0" ky="0" algn="bl" rotWithShape="0" blurRad="88900" dist="38100" dir="5400000">
              <a:srgbClr val="8894AD">
                <a:alpha val="28000"/>
              </a:srgbClr>
            </a:outerShdw>
          </a:effectLst>
        </p:spPr>
      </p:sp>
      <p:sp>
        <p:nvSpPr>
          <p:cNvPr id="33" name="Shape 25"/>
          <p:cNvSpPr/>
          <p:nvPr/>
        </p:nvSpPr>
        <p:spPr>
          <a:xfrm>
            <a:off x="8302752" y="4114800"/>
            <a:ext cx="822960" cy="822960"/>
          </a:xfrm>
          <a:prstGeom prst="ellipse">
            <a:avLst/>
          </a:prstGeom>
          <a:solidFill>
            <a:srgbClr val="FABA32"/>
          </a:solidFill>
          <a:ln/>
        </p:spPr>
      </p:sp>
      <p:pic>
        <p:nvPicPr>
          <p:cNvPr id="34" name="Image 5" descr="preencoded.png">    </p:cNvPr>
          <p:cNvPicPr>
            <a:picLocks noChangeAspect="1"/>
          </p:cNvPicPr>
          <p:nvPr/>
        </p:nvPicPr>
        <p:blipFill>
          <a:blip r:embed="rId6"/>
          <a:stretch>
            <a:fillRect/>
          </a:stretch>
        </p:blipFill>
        <p:spPr>
          <a:xfrm>
            <a:off x="8500262" y="4312310"/>
            <a:ext cx="427939" cy="427939"/>
          </a:xfrm>
          <a:prstGeom prst="rect">
            <a:avLst/>
          </a:prstGeom>
        </p:spPr>
      </p:pic>
      <p:sp>
        <p:nvSpPr>
          <p:cNvPr id="35" name="Text 26"/>
          <p:cNvSpPr/>
          <p:nvPr/>
        </p:nvSpPr>
        <p:spPr>
          <a:xfrm>
            <a:off x="9281160" y="4160520"/>
            <a:ext cx="2011680" cy="640080"/>
          </a:xfrm>
          <a:prstGeom prst="rect">
            <a:avLst/>
          </a:prstGeom>
          <a:noFill/>
          <a:ln/>
        </p:spPr>
        <p:txBody>
          <a:bodyPr wrap="square" lIns="0" tIns="0" rIns="0" bIns="0" rtlCol="0" anchor="t"/>
          <a:lstStyle/>
          <a:p>
            <a:pPr indent="0" marL="0">
              <a:buNone/>
            </a:pPr>
            <a:r>
              <a:rPr lang="en-US" sz="1500" b="1" dirty="0">
                <a:solidFill>
                  <a:srgbClr val="F2931F"/>
                </a:solidFill>
                <a:latin typeface="Calibri" pitchFamily="34" charset="0"/>
                <a:ea typeface="Calibri" pitchFamily="34" charset="-122"/>
                <a:cs typeface="Calibri" pitchFamily="34" charset="-120"/>
              </a:rPr>
              <a:t>6.  </a:t>
            </a:r>
            <a:pPr indent="0" marL="0">
              <a:buNone/>
            </a:pPr>
            <a:r>
              <a:rPr lang="en-US" sz="1500" b="1" dirty="0">
                <a:solidFill>
                  <a:srgbClr val="262F65"/>
                </a:solidFill>
                <a:latin typeface="Calibri" pitchFamily="34" charset="0"/>
                <a:ea typeface="Calibri" pitchFamily="34" charset="-122"/>
                <a:cs typeface="Calibri" pitchFamily="34" charset="-120"/>
              </a:rPr>
              <a:t>Lessons learned</a:t>
            </a:r>
            <a:endParaRPr lang="en-US" sz="1500" dirty="0"/>
          </a:p>
        </p:txBody>
      </p:sp>
      <p:sp>
        <p:nvSpPr>
          <p:cNvPr id="36" name="Text 27"/>
          <p:cNvSpPr/>
          <p:nvPr/>
        </p:nvSpPr>
        <p:spPr>
          <a:xfrm>
            <a:off x="8302752" y="4983480"/>
            <a:ext cx="2962656" cy="64008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Update detections; close the gap.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MANAGEMENT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Auditing &amp; AI-assisted monitoring</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640080" y="1737360"/>
            <a:ext cx="5349240" cy="3840480"/>
          </a:xfrm>
          <a:prstGeom prst="roundRect">
            <a:avLst>
              <a:gd name="adj" fmla="val 214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79576" y="2276856"/>
            <a:ext cx="475488" cy="475488"/>
          </a:xfrm>
          <a:prstGeom prst="rect">
            <a:avLst/>
          </a:prstGeom>
        </p:spPr>
      </p:pic>
      <p:sp>
        <p:nvSpPr>
          <p:cNvPr id="10" name="Text 6"/>
          <p:cNvSpPr/>
          <p:nvPr/>
        </p:nvSpPr>
        <p:spPr>
          <a:xfrm>
            <a:off x="2103120" y="2103120"/>
            <a:ext cx="3611880" cy="731520"/>
          </a:xfrm>
          <a:prstGeom prst="rect">
            <a:avLst/>
          </a:prstGeom>
          <a:noFill/>
          <a:ln/>
        </p:spPr>
        <p:txBody>
          <a:bodyPr wrap="square" lIns="0" tIns="0" rIns="0" bIns="0" rtlCol="0" anchor="t"/>
          <a:lstStyle/>
          <a:p>
            <a:pPr indent="0" marL="0">
              <a:buNone/>
            </a:pPr>
            <a:r>
              <a:rPr lang="en-US" sz="1650" b="1" dirty="0">
                <a:solidFill>
                  <a:srgbClr val="262F65"/>
                </a:solidFill>
                <a:latin typeface="Calibri" pitchFamily="34" charset="0"/>
                <a:ea typeface="Calibri" pitchFamily="34" charset="-122"/>
                <a:cs typeface="Calibri" pitchFamily="34" charset="-120"/>
              </a:rPr>
              <a:t>Auditing &amp; accountability</a:t>
            </a:r>
            <a:endParaRPr lang="en-US" sz="1650" dirty="0"/>
          </a:p>
        </p:txBody>
      </p:sp>
      <p:sp>
        <p:nvSpPr>
          <p:cNvPr id="11" name="Text 7"/>
          <p:cNvSpPr/>
          <p:nvPr/>
        </p:nvSpPr>
        <p:spPr>
          <a:xfrm>
            <a:off x="960120" y="306324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The audit trail proves compliance (ISO 27001/27017, PCI DSS).</a:t>
            </a:r>
            <a:endParaRPr lang="en-US" sz="1250" dirty="0"/>
          </a:p>
        </p:txBody>
      </p:sp>
      <p:sp>
        <p:nvSpPr>
          <p:cNvPr id="12" name="Shape 8"/>
          <p:cNvSpPr/>
          <p:nvPr/>
        </p:nvSpPr>
        <p:spPr>
          <a:xfrm>
            <a:off x="1005840" y="3794760"/>
            <a:ext cx="128016" cy="128016"/>
          </a:xfrm>
          <a:prstGeom prst="ellipse">
            <a:avLst/>
          </a:prstGeom>
          <a:solidFill>
            <a:srgbClr val="262F65"/>
          </a:solidFill>
          <a:ln/>
        </p:spPr>
      </p:sp>
      <p:sp>
        <p:nvSpPr>
          <p:cNvPr id="13" name="Text 9"/>
          <p:cNvSpPr/>
          <p:nvPr/>
        </p:nvSpPr>
        <p:spPr>
          <a:xfrm>
            <a:off x="1261872" y="3749040"/>
            <a:ext cx="4434840" cy="457200"/>
          </a:xfrm>
          <a:prstGeom prst="rect">
            <a:avLst/>
          </a:prstGeom>
          <a:noFill/>
          <a:ln/>
        </p:spPr>
        <p:txBody>
          <a:bodyPr wrap="square" lIns="0" tIns="0" rIns="0" bIns="0" rtlCol="0" anchor="ctr"/>
          <a:lstStyle/>
          <a:p>
            <a:pPr indent="0" marL="0">
              <a:buNone/>
            </a:pPr>
            <a:r>
              <a:rPr lang="en-US" sz="1300" dirty="0">
                <a:solidFill>
                  <a:srgbClr val="23283A"/>
                </a:solidFill>
                <a:latin typeface="Calibri" pitchFamily="34" charset="0"/>
                <a:ea typeface="Calibri" pitchFamily="34" charset="-122"/>
                <a:cs typeface="Calibri" pitchFamily="34" charset="-120"/>
              </a:rPr>
              <a:t>Who did it?</a:t>
            </a:r>
            <a:endParaRPr lang="en-US" sz="1300" dirty="0"/>
          </a:p>
        </p:txBody>
      </p:sp>
      <p:sp>
        <p:nvSpPr>
          <p:cNvPr id="14" name="Shape 10"/>
          <p:cNvSpPr/>
          <p:nvPr/>
        </p:nvSpPr>
        <p:spPr>
          <a:xfrm>
            <a:off x="1005840" y="4343400"/>
            <a:ext cx="128016" cy="128016"/>
          </a:xfrm>
          <a:prstGeom prst="ellipse">
            <a:avLst/>
          </a:prstGeom>
          <a:solidFill>
            <a:srgbClr val="262F65"/>
          </a:solidFill>
          <a:ln/>
        </p:spPr>
      </p:sp>
      <p:sp>
        <p:nvSpPr>
          <p:cNvPr id="15" name="Text 11"/>
          <p:cNvSpPr/>
          <p:nvPr/>
        </p:nvSpPr>
        <p:spPr>
          <a:xfrm>
            <a:off x="1261872" y="4297680"/>
            <a:ext cx="4434840" cy="457200"/>
          </a:xfrm>
          <a:prstGeom prst="rect">
            <a:avLst/>
          </a:prstGeom>
          <a:noFill/>
          <a:ln/>
        </p:spPr>
        <p:txBody>
          <a:bodyPr wrap="square" lIns="0" tIns="0" rIns="0" bIns="0" rtlCol="0" anchor="ctr"/>
          <a:lstStyle/>
          <a:p>
            <a:pPr indent="0" marL="0">
              <a:buNone/>
            </a:pPr>
            <a:r>
              <a:rPr lang="en-US" sz="1300" dirty="0">
                <a:solidFill>
                  <a:srgbClr val="23283A"/>
                </a:solidFill>
                <a:latin typeface="Calibri" pitchFamily="34" charset="0"/>
                <a:ea typeface="Calibri" pitchFamily="34" charset="-122"/>
                <a:cs typeface="Calibri" pitchFamily="34" charset="-120"/>
              </a:rPr>
              <a:t>When did it happen?</a:t>
            </a:r>
            <a:endParaRPr lang="en-US" sz="1300" dirty="0"/>
          </a:p>
        </p:txBody>
      </p:sp>
      <p:sp>
        <p:nvSpPr>
          <p:cNvPr id="16" name="Shape 12"/>
          <p:cNvSpPr/>
          <p:nvPr/>
        </p:nvSpPr>
        <p:spPr>
          <a:xfrm>
            <a:off x="1005840" y="4892040"/>
            <a:ext cx="128016" cy="128016"/>
          </a:xfrm>
          <a:prstGeom prst="ellipse">
            <a:avLst/>
          </a:prstGeom>
          <a:solidFill>
            <a:srgbClr val="262F65"/>
          </a:solidFill>
          <a:ln/>
        </p:spPr>
      </p:sp>
      <p:sp>
        <p:nvSpPr>
          <p:cNvPr id="17" name="Text 13"/>
          <p:cNvSpPr/>
          <p:nvPr/>
        </p:nvSpPr>
        <p:spPr>
          <a:xfrm>
            <a:off x="1261872" y="4846320"/>
            <a:ext cx="4434840" cy="457200"/>
          </a:xfrm>
          <a:prstGeom prst="rect">
            <a:avLst/>
          </a:prstGeom>
          <a:noFill/>
          <a:ln/>
        </p:spPr>
        <p:txBody>
          <a:bodyPr wrap="square" lIns="0" tIns="0" rIns="0" bIns="0" rtlCol="0" anchor="ctr"/>
          <a:lstStyle/>
          <a:p>
            <a:pPr indent="0" marL="0">
              <a:buNone/>
            </a:pPr>
            <a:r>
              <a:rPr lang="en-US" sz="1300" dirty="0">
                <a:solidFill>
                  <a:srgbClr val="23283A"/>
                </a:solidFill>
                <a:latin typeface="Calibri" pitchFamily="34" charset="0"/>
                <a:ea typeface="Calibri" pitchFamily="34" charset="-122"/>
                <a:cs typeface="Calibri" pitchFamily="34" charset="-120"/>
              </a:rPr>
              <a:t>Can you prove it wasn't altered?</a:t>
            </a:r>
            <a:endParaRPr lang="en-US" sz="1300" dirty="0"/>
          </a:p>
        </p:txBody>
      </p:sp>
      <p:sp>
        <p:nvSpPr>
          <p:cNvPr id="18" name="Shape 14"/>
          <p:cNvSpPr/>
          <p:nvPr/>
        </p:nvSpPr>
        <p:spPr>
          <a:xfrm>
            <a:off x="6355080" y="1737360"/>
            <a:ext cx="5349240" cy="3840480"/>
          </a:xfrm>
          <a:prstGeom prst="roundRect">
            <a:avLst>
              <a:gd name="adj" fmla="val 214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914400" cy="91440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94576" y="2276856"/>
            <a:ext cx="475488" cy="475488"/>
          </a:xfrm>
          <a:prstGeom prst="rect">
            <a:avLst/>
          </a:prstGeom>
        </p:spPr>
      </p:pic>
      <p:sp>
        <p:nvSpPr>
          <p:cNvPr id="21" name="Text 16"/>
          <p:cNvSpPr/>
          <p:nvPr/>
        </p:nvSpPr>
        <p:spPr>
          <a:xfrm>
            <a:off x="7818120" y="2103120"/>
            <a:ext cx="3611880" cy="731520"/>
          </a:xfrm>
          <a:prstGeom prst="rect">
            <a:avLst/>
          </a:prstGeom>
          <a:noFill/>
          <a:ln/>
        </p:spPr>
        <p:txBody>
          <a:bodyPr wrap="square" lIns="0" tIns="0" rIns="0" bIns="0" rtlCol="0" anchor="t"/>
          <a:lstStyle/>
          <a:p>
            <a:pPr indent="0" marL="0">
              <a:buNone/>
            </a:pPr>
            <a:r>
              <a:rPr lang="en-US" sz="1650" b="1" dirty="0">
                <a:solidFill>
                  <a:srgbClr val="262F65"/>
                </a:solidFill>
                <a:latin typeface="Calibri" pitchFamily="34" charset="0"/>
                <a:ea typeface="Calibri" pitchFamily="34" charset="-122"/>
                <a:cs typeface="Calibri" pitchFamily="34" charset="-120"/>
              </a:rPr>
              <a:t>AI-assisted monitoring</a:t>
            </a:r>
            <a:endParaRPr lang="en-US" sz="1650" dirty="0"/>
          </a:p>
        </p:txBody>
      </p:sp>
      <p:sp>
        <p:nvSpPr>
          <p:cNvPr id="22" name="Text 17"/>
          <p:cNvSpPr/>
          <p:nvPr/>
        </p:nvSpPr>
        <p:spPr>
          <a:xfrm>
            <a:off x="6675120" y="306324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ML tackles the overwhelming volume of telemetry.</a:t>
            </a:r>
            <a:endParaRPr lang="en-US" sz="1250" dirty="0"/>
          </a:p>
        </p:txBody>
      </p:sp>
      <p:sp>
        <p:nvSpPr>
          <p:cNvPr id="23" name="Shape 18"/>
          <p:cNvSpPr/>
          <p:nvPr/>
        </p:nvSpPr>
        <p:spPr>
          <a:xfrm>
            <a:off x="6720840" y="3794760"/>
            <a:ext cx="128016" cy="128016"/>
          </a:xfrm>
          <a:prstGeom prst="ellipse">
            <a:avLst/>
          </a:prstGeom>
          <a:solidFill>
            <a:srgbClr val="F2931F"/>
          </a:solidFill>
          <a:ln/>
        </p:spPr>
      </p:sp>
      <p:sp>
        <p:nvSpPr>
          <p:cNvPr id="24" name="Text 19"/>
          <p:cNvSpPr/>
          <p:nvPr/>
        </p:nvSpPr>
        <p:spPr>
          <a:xfrm>
            <a:off x="6976872" y="3749040"/>
            <a:ext cx="4434840" cy="457200"/>
          </a:xfrm>
          <a:prstGeom prst="rect">
            <a:avLst/>
          </a:prstGeom>
          <a:noFill/>
          <a:ln/>
        </p:spPr>
        <p:txBody>
          <a:bodyPr wrap="square" lIns="0" tIns="0" rIns="0" bIns="0" rtlCol="0" anchor="ctr"/>
          <a:lstStyle/>
          <a:p>
            <a:pPr indent="0" marL="0">
              <a:buNone/>
            </a:pPr>
            <a:r>
              <a:rPr lang="en-US" sz="1300" dirty="0">
                <a:solidFill>
                  <a:srgbClr val="23283A"/>
                </a:solidFill>
                <a:latin typeface="Calibri" pitchFamily="34" charset="0"/>
                <a:ea typeface="Calibri" pitchFamily="34" charset="-122"/>
                <a:cs typeface="Calibri" pitchFamily="34" charset="-120"/>
              </a:rPr>
              <a:t>Faster anomaly detection</a:t>
            </a:r>
            <a:endParaRPr lang="en-US" sz="1300" dirty="0"/>
          </a:p>
        </p:txBody>
      </p:sp>
      <p:sp>
        <p:nvSpPr>
          <p:cNvPr id="25" name="Shape 20"/>
          <p:cNvSpPr/>
          <p:nvPr/>
        </p:nvSpPr>
        <p:spPr>
          <a:xfrm>
            <a:off x="6720840" y="4343400"/>
            <a:ext cx="128016" cy="128016"/>
          </a:xfrm>
          <a:prstGeom prst="ellipse">
            <a:avLst/>
          </a:prstGeom>
          <a:solidFill>
            <a:srgbClr val="F2931F"/>
          </a:solidFill>
          <a:ln/>
        </p:spPr>
      </p:sp>
      <p:sp>
        <p:nvSpPr>
          <p:cNvPr id="26" name="Text 21"/>
          <p:cNvSpPr/>
          <p:nvPr/>
        </p:nvSpPr>
        <p:spPr>
          <a:xfrm>
            <a:off x="6976872" y="4297680"/>
            <a:ext cx="4434840" cy="457200"/>
          </a:xfrm>
          <a:prstGeom prst="rect">
            <a:avLst/>
          </a:prstGeom>
          <a:noFill/>
          <a:ln/>
        </p:spPr>
        <p:txBody>
          <a:bodyPr wrap="square" lIns="0" tIns="0" rIns="0" bIns="0" rtlCol="0" anchor="ctr"/>
          <a:lstStyle/>
          <a:p>
            <a:pPr indent="0" marL="0">
              <a:buNone/>
            </a:pPr>
            <a:r>
              <a:rPr lang="en-US" sz="1300" dirty="0">
                <a:solidFill>
                  <a:srgbClr val="23283A"/>
                </a:solidFill>
                <a:latin typeface="Calibri" pitchFamily="34" charset="0"/>
                <a:ea typeface="Calibri" pitchFamily="34" charset="-122"/>
                <a:cs typeface="Calibri" pitchFamily="34" charset="-120"/>
              </a:rPr>
              <a:t>Threat hunting at scale</a:t>
            </a:r>
            <a:endParaRPr lang="en-US" sz="1300" dirty="0"/>
          </a:p>
        </p:txBody>
      </p:sp>
      <p:sp>
        <p:nvSpPr>
          <p:cNvPr id="27" name="Shape 22"/>
          <p:cNvSpPr/>
          <p:nvPr/>
        </p:nvSpPr>
        <p:spPr>
          <a:xfrm>
            <a:off x="6720840" y="4892040"/>
            <a:ext cx="128016" cy="128016"/>
          </a:xfrm>
          <a:prstGeom prst="ellipse">
            <a:avLst/>
          </a:prstGeom>
          <a:solidFill>
            <a:srgbClr val="F2931F"/>
          </a:solidFill>
          <a:ln/>
        </p:spPr>
      </p:sp>
      <p:sp>
        <p:nvSpPr>
          <p:cNvPr id="28" name="Text 23"/>
          <p:cNvSpPr/>
          <p:nvPr/>
        </p:nvSpPr>
        <p:spPr>
          <a:xfrm>
            <a:off x="6976872" y="4846320"/>
            <a:ext cx="4434840" cy="457200"/>
          </a:xfrm>
          <a:prstGeom prst="rect">
            <a:avLst/>
          </a:prstGeom>
          <a:noFill/>
          <a:ln/>
        </p:spPr>
        <p:txBody>
          <a:bodyPr wrap="square" lIns="0" tIns="0" rIns="0" bIns="0" rtlCol="0" anchor="ctr"/>
          <a:lstStyle/>
          <a:p>
            <a:pPr indent="0" marL="0">
              <a:buNone/>
            </a:pPr>
            <a:r>
              <a:rPr lang="en-US" sz="1300" dirty="0">
                <a:solidFill>
                  <a:srgbClr val="23283A"/>
                </a:solidFill>
                <a:latin typeface="Calibri" pitchFamily="34" charset="0"/>
                <a:ea typeface="Calibri" pitchFamily="34" charset="-122"/>
                <a:cs typeface="Calibri" pitchFamily="34" charset="-120"/>
              </a:rPr>
              <a:t>Automated response + analyst assist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BASELINE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Monitoring best practices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64008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96112" y="2011680"/>
            <a:ext cx="685800" cy="6858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60704" y="2176272"/>
            <a:ext cx="356616" cy="356616"/>
          </a:xfrm>
          <a:prstGeom prst="rect">
            <a:avLst/>
          </a:prstGeom>
        </p:spPr>
      </p:pic>
      <p:sp>
        <p:nvSpPr>
          <p:cNvPr id="10" name="Text 6"/>
          <p:cNvSpPr/>
          <p:nvPr/>
        </p:nvSpPr>
        <p:spPr>
          <a:xfrm>
            <a:off x="178308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Log everywhere by default</a:t>
            </a:r>
            <a:endParaRPr lang="en-US" sz="1450" dirty="0"/>
          </a:p>
        </p:txBody>
      </p:sp>
      <p:sp>
        <p:nvSpPr>
          <p:cNvPr id="11" name="Text 7"/>
          <p:cNvSpPr/>
          <p:nvPr/>
        </p:nvSpPr>
        <p:spPr>
          <a:xfrm>
            <a:off x="178308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Especially the management plane.</a:t>
            </a:r>
            <a:endParaRPr lang="en-US" sz="1200" dirty="0"/>
          </a:p>
        </p:txBody>
      </p:sp>
      <p:sp>
        <p:nvSpPr>
          <p:cNvPr id="12" name="Shape 8"/>
          <p:cNvSpPr/>
          <p:nvPr/>
        </p:nvSpPr>
        <p:spPr>
          <a:xfrm>
            <a:off x="621792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6473952" y="2011680"/>
            <a:ext cx="685800" cy="6858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6638544" y="2176272"/>
            <a:ext cx="356616" cy="356616"/>
          </a:xfrm>
          <a:prstGeom prst="rect">
            <a:avLst/>
          </a:prstGeom>
        </p:spPr>
      </p:pic>
      <p:sp>
        <p:nvSpPr>
          <p:cNvPr id="15" name="Text 10"/>
          <p:cNvSpPr/>
          <p:nvPr/>
        </p:nvSpPr>
        <p:spPr>
          <a:xfrm>
            <a:off x="736092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Centralise into a SIEM</a:t>
            </a:r>
            <a:endParaRPr lang="en-US" sz="1450" dirty="0"/>
          </a:p>
        </p:txBody>
      </p:sp>
      <p:sp>
        <p:nvSpPr>
          <p:cNvPr id="16" name="Text 11"/>
          <p:cNvSpPr/>
          <p:nvPr/>
        </p:nvSpPr>
        <p:spPr>
          <a:xfrm>
            <a:off x="736092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Correlation needs all data in one place.</a:t>
            </a:r>
            <a:endParaRPr lang="en-US" sz="1200" dirty="0"/>
          </a:p>
        </p:txBody>
      </p:sp>
      <p:sp>
        <p:nvSpPr>
          <p:cNvPr id="17" name="Shape 12"/>
          <p:cNvSpPr/>
          <p:nvPr/>
        </p:nvSpPr>
        <p:spPr>
          <a:xfrm>
            <a:off x="64008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896112" y="3410712"/>
            <a:ext cx="685800" cy="6858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1060704" y="3575304"/>
            <a:ext cx="356616" cy="356616"/>
          </a:xfrm>
          <a:prstGeom prst="rect">
            <a:avLst/>
          </a:prstGeom>
        </p:spPr>
      </p:pic>
      <p:sp>
        <p:nvSpPr>
          <p:cNvPr id="20" name="Text 14"/>
          <p:cNvSpPr/>
          <p:nvPr/>
        </p:nvSpPr>
        <p:spPr>
          <a:xfrm>
            <a:off x="178308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Make logs tamper-proof</a:t>
            </a:r>
            <a:endParaRPr lang="en-US" sz="1450" dirty="0"/>
          </a:p>
        </p:txBody>
      </p:sp>
      <p:sp>
        <p:nvSpPr>
          <p:cNvPr id="21" name="Text 15"/>
          <p:cNvSpPr/>
          <p:nvPr/>
        </p:nvSpPr>
        <p:spPr>
          <a:xfrm>
            <a:off x="178308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And retain for the full compliance window.</a:t>
            </a:r>
            <a:endParaRPr lang="en-US" sz="1200" dirty="0"/>
          </a:p>
        </p:txBody>
      </p:sp>
      <p:sp>
        <p:nvSpPr>
          <p:cNvPr id="22" name="Shape 16"/>
          <p:cNvSpPr/>
          <p:nvPr/>
        </p:nvSpPr>
        <p:spPr>
          <a:xfrm>
            <a:off x="621792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6473952" y="3410712"/>
            <a:ext cx="685800" cy="68580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6638544" y="3575304"/>
            <a:ext cx="356616" cy="356616"/>
          </a:xfrm>
          <a:prstGeom prst="rect">
            <a:avLst/>
          </a:prstGeom>
        </p:spPr>
      </p:pic>
      <p:sp>
        <p:nvSpPr>
          <p:cNvPr id="25" name="Text 18"/>
          <p:cNvSpPr/>
          <p:nvPr/>
        </p:nvSpPr>
        <p:spPr>
          <a:xfrm>
            <a:off x="736092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Alert on what matters</a:t>
            </a:r>
            <a:endParaRPr lang="en-US" sz="1450" dirty="0"/>
          </a:p>
        </p:txBody>
      </p:sp>
      <p:sp>
        <p:nvSpPr>
          <p:cNvPr id="26" name="Text 19"/>
          <p:cNvSpPr/>
          <p:nvPr/>
        </p:nvSpPr>
        <p:spPr>
          <a:xfrm>
            <a:off x="736092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Tune out noise; beat alert fatigue.</a:t>
            </a:r>
            <a:endParaRPr lang="en-US" sz="1200" dirty="0"/>
          </a:p>
        </p:txBody>
      </p:sp>
      <p:sp>
        <p:nvSpPr>
          <p:cNvPr id="27" name="Shape 20"/>
          <p:cNvSpPr/>
          <p:nvPr/>
        </p:nvSpPr>
        <p:spPr>
          <a:xfrm>
            <a:off x="64008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896112" y="4809744"/>
            <a:ext cx="685800" cy="685800"/>
          </a:xfrm>
          <a:prstGeom prst="ellipse">
            <a:avLst/>
          </a:prstGeom>
          <a:solidFill>
            <a:srgbClr val="F2931F"/>
          </a:solidFill>
          <a:ln/>
        </p:spPr>
      </p:sp>
      <p:pic>
        <p:nvPicPr>
          <p:cNvPr id="29" name="Image 4" descr="preencoded.png">    </p:cNvPr>
          <p:cNvPicPr>
            <a:picLocks noChangeAspect="1"/>
          </p:cNvPicPr>
          <p:nvPr/>
        </p:nvPicPr>
        <p:blipFill>
          <a:blip r:embed="rId5"/>
          <a:stretch>
            <a:fillRect/>
          </a:stretch>
        </p:blipFill>
        <p:spPr>
          <a:xfrm>
            <a:off x="1060704" y="4974336"/>
            <a:ext cx="356616" cy="356616"/>
          </a:xfrm>
          <a:prstGeom prst="rect">
            <a:avLst/>
          </a:prstGeom>
        </p:spPr>
      </p:pic>
      <p:sp>
        <p:nvSpPr>
          <p:cNvPr id="30" name="Text 22"/>
          <p:cNvSpPr/>
          <p:nvPr/>
        </p:nvSpPr>
        <p:spPr>
          <a:xfrm>
            <a:off x="178308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Automate response</a:t>
            </a:r>
            <a:endParaRPr lang="en-US" sz="1450" dirty="0"/>
          </a:p>
        </p:txBody>
      </p:sp>
      <p:sp>
        <p:nvSpPr>
          <p:cNvPr id="31" name="Text 23"/>
          <p:cNvSpPr/>
          <p:nvPr/>
        </p:nvSpPr>
        <p:spPr>
          <a:xfrm>
            <a:off x="178308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Shrink time from detection to mitigation.</a:t>
            </a:r>
            <a:endParaRPr lang="en-US" sz="1200" dirty="0"/>
          </a:p>
        </p:txBody>
      </p:sp>
      <p:sp>
        <p:nvSpPr>
          <p:cNvPr id="32" name="Shape 24"/>
          <p:cNvSpPr/>
          <p:nvPr/>
        </p:nvSpPr>
        <p:spPr>
          <a:xfrm>
            <a:off x="621792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33" name="Shape 25"/>
          <p:cNvSpPr/>
          <p:nvPr/>
        </p:nvSpPr>
        <p:spPr>
          <a:xfrm>
            <a:off x="6473952" y="4809744"/>
            <a:ext cx="685800" cy="685800"/>
          </a:xfrm>
          <a:prstGeom prst="ellipse">
            <a:avLst/>
          </a:prstGeom>
          <a:solidFill>
            <a:srgbClr val="293E7B"/>
          </a:solidFill>
          <a:ln/>
        </p:spPr>
      </p:sp>
      <p:pic>
        <p:nvPicPr>
          <p:cNvPr id="34" name="Image 5" descr="preencoded.png">    </p:cNvPr>
          <p:cNvPicPr>
            <a:picLocks noChangeAspect="1"/>
          </p:cNvPicPr>
          <p:nvPr/>
        </p:nvPicPr>
        <p:blipFill>
          <a:blip r:embed="rId6"/>
          <a:stretch>
            <a:fillRect/>
          </a:stretch>
        </p:blipFill>
        <p:spPr>
          <a:xfrm>
            <a:off x="6638544" y="4974336"/>
            <a:ext cx="356616" cy="356616"/>
          </a:xfrm>
          <a:prstGeom prst="rect">
            <a:avLst/>
          </a:prstGeom>
        </p:spPr>
      </p:pic>
      <p:sp>
        <p:nvSpPr>
          <p:cNvPr id="35" name="Text 26"/>
          <p:cNvSpPr/>
          <p:nvPr/>
        </p:nvSpPr>
        <p:spPr>
          <a:xfrm>
            <a:off x="736092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Rehearse incident response</a:t>
            </a:r>
            <a:endParaRPr lang="en-US" sz="1450" dirty="0"/>
          </a:p>
        </p:txBody>
      </p:sp>
      <p:sp>
        <p:nvSpPr>
          <p:cNvPr id="36" name="Text 27"/>
          <p:cNvSpPr/>
          <p:nvPr/>
        </p:nvSpPr>
        <p:spPr>
          <a:xfrm>
            <a:off x="736092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An untested plan fails under pressure.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APPLY IT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Mini case study — the 3 a.m. alert</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640080" y="1691640"/>
            <a:ext cx="10881360" cy="1600200"/>
          </a:xfrm>
          <a:prstGeom prst="roundRect">
            <a:avLst>
              <a:gd name="adj" fmla="val 5143"/>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11680"/>
            <a:ext cx="960120" cy="960120"/>
          </a:xfrm>
          <a:prstGeom prst="ellipse">
            <a:avLst/>
          </a:prstGeom>
          <a:solidFill>
            <a:srgbClr val="E8403A"/>
          </a:solidFill>
          <a:ln/>
        </p:spPr>
      </p:sp>
      <p:pic>
        <p:nvPicPr>
          <p:cNvPr id="9" name="Image 0" descr="preencoded.png">    </p:cNvPr>
          <p:cNvPicPr>
            <a:picLocks noChangeAspect="1"/>
          </p:cNvPicPr>
          <p:nvPr/>
        </p:nvPicPr>
        <p:blipFill>
          <a:blip r:embed="rId1"/>
          <a:stretch>
            <a:fillRect/>
          </a:stretch>
        </p:blipFill>
        <p:spPr>
          <a:xfrm>
            <a:off x="1190549" y="2242109"/>
            <a:ext cx="499262" cy="499262"/>
          </a:xfrm>
          <a:prstGeom prst="rect">
            <a:avLst/>
          </a:prstGeom>
        </p:spPr>
      </p:pic>
      <p:sp>
        <p:nvSpPr>
          <p:cNvPr id="10" name="Text 6"/>
          <p:cNvSpPr/>
          <p:nvPr/>
        </p:nvSpPr>
        <p:spPr>
          <a:xfrm>
            <a:off x="2194560" y="1874520"/>
            <a:ext cx="9052560"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3 a.m.: the SIEM correlates a login from an unfamiliar country → new access keys created → a large data export from a storage bucket. No single event was blocked — together they signal a compromise.</a:t>
            </a:r>
            <a:endParaRPr lang="en-US" sz="1500" dirty="0"/>
          </a:p>
        </p:txBody>
      </p:sp>
      <p:sp>
        <p:nvSpPr>
          <p:cNvPr id="11" name="Shape 7"/>
          <p:cNvSpPr/>
          <p:nvPr/>
        </p:nvSpPr>
        <p:spPr>
          <a:xfrm>
            <a:off x="640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2" name="Text 8"/>
          <p:cNvSpPr/>
          <p:nvPr/>
        </p:nvSpPr>
        <p:spPr>
          <a:xfrm>
            <a:off x="914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How was it detected?</a:t>
            </a:r>
            <a:endParaRPr lang="en-US" sz="1600" dirty="0"/>
          </a:p>
        </p:txBody>
      </p:sp>
      <p:sp>
        <p:nvSpPr>
          <p:cNvPr id="13" name="Text 9"/>
          <p:cNvSpPr/>
          <p:nvPr/>
        </p:nvSpPr>
        <p:spPr>
          <a:xfrm>
            <a:off x="914400" y="4206240"/>
            <a:ext cx="4800600" cy="1005840"/>
          </a:xfrm>
          <a:prstGeom prst="rect">
            <a:avLst/>
          </a:prstGeom>
          <a:noFill/>
          <a:ln/>
        </p:spPr>
        <p:txBody>
          <a:bodyPr wrap="square" lIns="0" tIns="0" rIns="0" bIns="0" rtlCol="0" anchor="t"/>
          <a:lstStyle/>
          <a:p>
            <a:pPr indent="0" marL="0">
              <a:buNone/>
            </a:pPr>
            <a:r>
              <a:rPr lang="en-US" sz="1350" dirty="0">
                <a:solidFill>
                  <a:srgbClr val="23283A"/>
                </a:solidFill>
                <a:latin typeface="Calibri" pitchFamily="34" charset="0"/>
                <a:ea typeface="Calibri" pitchFamily="34" charset="-122"/>
                <a:cs typeface="Calibri" pitchFamily="34" charset="-120"/>
              </a:rPr>
              <a:t>SIEM correlation across management-plane &amp; service logs — no single event fired.</a:t>
            </a:r>
            <a:endParaRPr lang="en-US" sz="1350" dirty="0"/>
          </a:p>
        </p:txBody>
      </p:sp>
      <p:sp>
        <p:nvSpPr>
          <p:cNvPr id="14" name="Shape 10"/>
          <p:cNvSpPr/>
          <p:nvPr/>
        </p:nvSpPr>
        <p:spPr>
          <a:xfrm>
            <a:off x="6355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5" name="Text 11"/>
          <p:cNvSpPr/>
          <p:nvPr/>
        </p:nvSpPr>
        <p:spPr>
          <a:xfrm>
            <a:off x="6629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Why trust the evidence?</a:t>
            </a:r>
            <a:endParaRPr lang="en-US" sz="1600" dirty="0"/>
          </a:p>
        </p:txBody>
      </p:sp>
      <p:sp>
        <p:nvSpPr>
          <p:cNvPr id="16" name="Text 12"/>
          <p:cNvSpPr/>
          <p:nvPr/>
        </p:nvSpPr>
        <p:spPr>
          <a:xfrm>
            <a:off x="6629400" y="4206240"/>
            <a:ext cx="4800600" cy="1005840"/>
          </a:xfrm>
          <a:prstGeom prst="rect">
            <a:avLst/>
          </a:prstGeom>
          <a:noFill/>
          <a:ln/>
        </p:spPr>
        <p:txBody>
          <a:bodyPr wrap="square" lIns="0" tIns="0" rIns="0" bIns="0" rtlCol="0" anchor="t"/>
          <a:lstStyle/>
          <a:p>
            <a:pPr indent="0" marL="0">
              <a:buNone/>
            </a:pPr>
            <a:r>
              <a:rPr lang="en-US" sz="1350" dirty="0">
                <a:solidFill>
                  <a:srgbClr val="23283A"/>
                </a:solidFill>
                <a:latin typeface="Calibri" pitchFamily="34" charset="0"/>
                <a:ea typeface="Calibri" pitchFamily="34" charset="-122"/>
                <a:cs typeface="Calibri" pitchFamily="34" charset="-120"/>
              </a:rPr>
              <a:t>Logs were immutable and in a separate audit environment the attacker couldn't reach.</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Key takeaways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640080" y="1600200"/>
            <a:ext cx="10881360" cy="822960"/>
          </a:xfrm>
          <a:prstGeom prst="roundRect">
            <a:avLst>
              <a:gd name="adj" fmla="val 10000"/>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746504"/>
            <a:ext cx="530352" cy="530352"/>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995964" y="1873788"/>
            <a:ext cx="275783" cy="275783"/>
          </a:xfrm>
          <a:prstGeom prst="rect">
            <a:avLst/>
          </a:prstGeom>
        </p:spPr>
      </p:pic>
      <p:sp>
        <p:nvSpPr>
          <p:cNvPr id="10" name="Text 6"/>
          <p:cNvSpPr/>
          <p:nvPr/>
        </p:nvSpPr>
        <p:spPr>
          <a:xfrm>
            <a:off x="1600200" y="1673352"/>
            <a:ext cx="9692640" cy="676656"/>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1   </a:t>
            </a:r>
            <a:pPr indent="0" marL="0">
              <a:buNone/>
            </a:pPr>
            <a:r>
              <a:rPr lang="en-US" sz="1350" dirty="0">
                <a:solidFill>
                  <a:srgbClr val="23283A"/>
                </a:solidFill>
                <a:latin typeface="Calibri" pitchFamily="34" charset="0"/>
                <a:ea typeface="Calibri" pitchFamily="34" charset="-122"/>
                <a:cs typeface="Calibri" pitchFamily="34" charset="-120"/>
              </a:rPr>
              <a:t>Cloud monitoring is harder — management plane, ephemerality, sprawl, shared responsibility. Design it.</a:t>
            </a:r>
            <a:endParaRPr lang="en-US" sz="1350" dirty="0"/>
          </a:p>
        </p:txBody>
      </p:sp>
      <p:sp>
        <p:nvSpPr>
          <p:cNvPr id="11" name="Shape 7"/>
          <p:cNvSpPr/>
          <p:nvPr/>
        </p:nvSpPr>
        <p:spPr>
          <a:xfrm>
            <a:off x="640080" y="2542032"/>
            <a:ext cx="10881360" cy="822960"/>
          </a:xfrm>
          <a:prstGeom prst="roundRect">
            <a:avLst>
              <a:gd name="adj" fmla="val 10000"/>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688336"/>
            <a:ext cx="530352" cy="530352"/>
          </a:xfrm>
          <a:prstGeom prst="ellipse">
            <a:avLst/>
          </a:prstGeom>
          <a:solidFill>
            <a:srgbClr val="293E7B"/>
          </a:solidFill>
          <a:ln/>
        </p:spPr>
      </p:sp>
      <p:pic>
        <p:nvPicPr>
          <p:cNvPr id="13" name="Image 1" descr="preencoded.png">    </p:cNvPr>
          <p:cNvPicPr>
            <a:picLocks noChangeAspect="1"/>
          </p:cNvPicPr>
          <p:nvPr/>
        </p:nvPicPr>
        <p:blipFill>
          <a:blip r:embed="rId2"/>
          <a:stretch>
            <a:fillRect/>
          </a:stretch>
        </p:blipFill>
        <p:spPr>
          <a:xfrm>
            <a:off x="995964" y="2815620"/>
            <a:ext cx="275783" cy="275783"/>
          </a:xfrm>
          <a:prstGeom prst="rect">
            <a:avLst/>
          </a:prstGeom>
        </p:spPr>
      </p:pic>
      <p:sp>
        <p:nvSpPr>
          <p:cNvPr id="14" name="Text 9"/>
          <p:cNvSpPr/>
          <p:nvPr/>
        </p:nvSpPr>
        <p:spPr>
          <a:xfrm>
            <a:off x="1600200" y="2615184"/>
            <a:ext cx="9692640" cy="676656"/>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2   </a:t>
            </a:r>
            <a:pPr indent="0" marL="0">
              <a:buNone/>
            </a:pPr>
            <a:r>
              <a:rPr lang="en-US" sz="1350" dirty="0">
                <a:solidFill>
                  <a:srgbClr val="23283A"/>
                </a:solidFill>
                <a:latin typeface="Calibri" pitchFamily="34" charset="0"/>
                <a:ea typeface="Calibri" pitchFamily="34" charset="-122"/>
                <a:cs typeface="Calibri" pitchFamily="34" charset="-120"/>
              </a:rPr>
              <a:t>Logs give depth, events give immediacy; telemetry spans management-plane, service &amp; resource layers.</a:t>
            </a:r>
            <a:endParaRPr lang="en-US" sz="1350" dirty="0"/>
          </a:p>
        </p:txBody>
      </p:sp>
      <p:sp>
        <p:nvSpPr>
          <p:cNvPr id="15" name="Shape 10"/>
          <p:cNvSpPr/>
          <p:nvPr/>
        </p:nvSpPr>
        <p:spPr>
          <a:xfrm>
            <a:off x="640080" y="3483864"/>
            <a:ext cx="10881360" cy="822960"/>
          </a:xfrm>
          <a:prstGeom prst="roundRect">
            <a:avLst>
              <a:gd name="adj" fmla="val 10000"/>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3630168"/>
            <a:ext cx="530352" cy="530352"/>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995964" y="3757452"/>
            <a:ext cx="275783" cy="275783"/>
          </a:xfrm>
          <a:prstGeom prst="rect">
            <a:avLst/>
          </a:prstGeom>
        </p:spPr>
      </p:pic>
      <p:sp>
        <p:nvSpPr>
          <p:cNvPr id="18" name="Text 12"/>
          <p:cNvSpPr/>
          <p:nvPr/>
        </p:nvSpPr>
        <p:spPr>
          <a:xfrm>
            <a:off x="1600200" y="3557016"/>
            <a:ext cx="9692640" cy="676656"/>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3   </a:t>
            </a:r>
            <a:pPr indent="0" marL="0">
              <a:buNone/>
            </a:pPr>
            <a:r>
              <a:rPr lang="en-US" sz="1350" dirty="0">
                <a:solidFill>
                  <a:srgbClr val="23283A"/>
                </a:solidFill>
                <a:latin typeface="Calibri" pitchFamily="34" charset="0"/>
                <a:ea typeface="Calibri" pitchFamily="34" charset="-122"/>
                <a:cs typeface="Calibri" pitchFamily="34" charset="-120"/>
              </a:rPr>
              <a:t>A cascading architecture feeding a SIEM turns scattered data into detected incidents via correlation.</a:t>
            </a:r>
            <a:endParaRPr lang="en-US" sz="1350" dirty="0"/>
          </a:p>
        </p:txBody>
      </p:sp>
      <p:sp>
        <p:nvSpPr>
          <p:cNvPr id="19" name="Shape 13"/>
          <p:cNvSpPr/>
          <p:nvPr/>
        </p:nvSpPr>
        <p:spPr>
          <a:xfrm>
            <a:off x="640080" y="4425696"/>
            <a:ext cx="10881360" cy="822960"/>
          </a:xfrm>
          <a:prstGeom prst="roundRect">
            <a:avLst>
              <a:gd name="adj" fmla="val 10000"/>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4572000"/>
            <a:ext cx="530352" cy="530352"/>
          </a:xfrm>
          <a:prstGeom prst="ellipse">
            <a:avLst/>
          </a:prstGeom>
          <a:solidFill>
            <a:srgbClr val="262F65"/>
          </a:solidFill>
          <a:ln/>
        </p:spPr>
      </p:sp>
      <p:pic>
        <p:nvPicPr>
          <p:cNvPr id="21" name="Image 3" descr="preencoded.png">    </p:cNvPr>
          <p:cNvPicPr>
            <a:picLocks noChangeAspect="1"/>
          </p:cNvPicPr>
          <p:nvPr/>
        </p:nvPicPr>
        <p:blipFill>
          <a:blip r:embed="rId4"/>
          <a:stretch>
            <a:fillRect/>
          </a:stretch>
        </p:blipFill>
        <p:spPr>
          <a:xfrm>
            <a:off x="995964" y="4699284"/>
            <a:ext cx="275783" cy="275783"/>
          </a:xfrm>
          <a:prstGeom prst="rect">
            <a:avLst/>
          </a:prstGeom>
        </p:spPr>
      </p:pic>
      <p:sp>
        <p:nvSpPr>
          <p:cNvPr id="22" name="Text 15"/>
          <p:cNvSpPr/>
          <p:nvPr/>
        </p:nvSpPr>
        <p:spPr>
          <a:xfrm>
            <a:off x="1600200" y="4498848"/>
            <a:ext cx="9692640" cy="676656"/>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4   </a:t>
            </a:r>
            <a:pPr indent="0" marL="0">
              <a:buNone/>
            </a:pPr>
            <a:r>
              <a:rPr lang="en-US" sz="1350" dirty="0">
                <a:solidFill>
                  <a:srgbClr val="23283A"/>
                </a:solidFill>
                <a:latin typeface="Calibri" pitchFamily="34" charset="0"/>
                <a:ea typeface="Calibri" pitchFamily="34" charset="-122"/>
                <a:cs typeface="Calibri" pitchFamily="34" charset="-120"/>
              </a:rPr>
              <a:t>Logs are only evidence if tamper-proof — immutable, append-only, hash-chained, access-separated.</a:t>
            </a:r>
            <a:endParaRPr lang="en-US" sz="1350" dirty="0"/>
          </a:p>
        </p:txBody>
      </p:sp>
      <p:sp>
        <p:nvSpPr>
          <p:cNvPr id="23" name="Shape 16"/>
          <p:cNvSpPr/>
          <p:nvPr/>
        </p:nvSpPr>
        <p:spPr>
          <a:xfrm>
            <a:off x="640080" y="5367528"/>
            <a:ext cx="10881360" cy="822960"/>
          </a:xfrm>
          <a:prstGeom prst="roundRect">
            <a:avLst>
              <a:gd name="adj" fmla="val 10000"/>
            </a:avLst>
          </a:prstGeom>
          <a:solidFill>
            <a:srgbClr val="F4F6FB"/>
          </a:solidFill>
          <a:ln/>
          <a:effectLst>
            <a:outerShdw sx="100000" sy="100000" kx="0" ky="0" algn="bl" rotWithShape="0" blurRad="88900" dist="38100" dir="5400000">
              <a:srgbClr val="8894AD">
                <a:alpha val="28000"/>
              </a:srgbClr>
            </a:outerShdw>
          </a:effectLst>
        </p:spPr>
      </p:sp>
      <p:sp>
        <p:nvSpPr>
          <p:cNvPr id="24" name="Shape 17"/>
          <p:cNvSpPr/>
          <p:nvPr/>
        </p:nvSpPr>
        <p:spPr>
          <a:xfrm>
            <a:off x="868680" y="5513832"/>
            <a:ext cx="530352" cy="530352"/>
          </a:xfrm>
          <a:prstGeom prst="ellipse">
            <a:avLst/>
          </a:prstGeom>
          <a:solidFill>
            <a:srgbClr val="E8403A"/>
          </a:solidFill>
          <a:ln/>
        </p:spPr>
      </p:sp>
      <p:pic>
        <p:nvPicPr>
          <p:cNvPr id="25" name="Image 4" descr="preencoded.png">    </p:cNvPr>
          <p:cNvPicPr>
            <a:picLocks noChangeAspect="1"/>
          </p:cNvPicPr>
          <p:nvPr/>
        </p:nvPicPr>
        <p:blipFill>
          <a:blip r:embed="rId5"/>
          <a:stretch>
            <a:fillRect/>
          </a:stretch>
        </p:blipFill>
        <p:spPr>
          <a:xfrm>
            <a:off x="995964" y="5641116"/>
            <a:ext cx="275783" cy="275783"/>
          </a:xfrm>
          <a:prstGeom prst="rect">
            <a:avLst/>
          </a:prstGeom>
        </p:spPr>
      </p:pic>
      <p:sp>
        <p:nvSpPr>
          <p:cNvPr id="26" name="Text 18"/>
          <p:cNvSpPr/>
          <p:nvPr/>
        </p:nvSpPr>
        <p:spPr>
          <a:xfrm>
            <a:off x="1600200" y="5440680"/>
            <a:ext cx="9692640" cy="676656"/>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5   </a:t>
            </a:r>
            <a:pPr indent="0" marL="0">
              <a:buNone/>
            </a:pPr>
            <a:r>
              <a:rPr lang="en-US" sz="1350" dirty="0">
                <a:solidFill>
                  <a:srgbClr val="23283A"/>
                </a:solidFill>
                <a:latin typeface="Calibri" pitchFamily="34" charset="0"/>
                <a:ea typeface="Calibri" pitchFamily="34" charset="-122"/>
                <a:cs typeface="Calibri" pitchFamily="34" charset="-120"/>
              </a:rPr>
              <a:t>Monitoring drives response: detect → contain → eradicate → recover → learn.</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9509760" y="4206240"/>
            <a:ext cx="4206240" cy="4206240"/>
          </a:xfrm>
          <a:prstGeom prst="ellipse">
            <a:avLst/>
          </a:prstGeom>
          <a:solidFill>
            <a:srgbClr val="293E7B">
              <a:alpha val="45000"/>
            </a:srgbClr>
          </a:solidFill>
          <a:ln/>
        </p:spPr>
      </p:sp>
      <p:sp>
        <p:nvSpPr>
          <p:cNvPr id="3" name="Shape 1"/>
          <p:cNvSpPr/>
          <p:nvPr/>
        </p:nvSpPr>
        <p:spPr>
          <a:xfrm>
            <a:off x="640080" y="1280160"/>
            <a:ext cx="1188720" cy="1188720"/>
          </a:xfrm>
          <a:prstGeom prst="ellipse">
            <a:avLst/>
          </a:prstGeom>
          <a:solidFill>
            <a:srgbClr val="FABA32"/>
          </a:solidFill>
          <a:ln/>
        </p:spPr>
      </p:sp>
      <p:pic>
        <p:nvPicPr>
          <p:cNvPr id="4" name="Image 0" descr="preencoded.png">    </p:cNvPr>
          <p:cNvPicPr>
            <a:picLocks noChangeAspect="1"/>
          </p:cNvPicPr>
          <p:nvPr/>
        </p:nvPicPr>
        <p:blipFill>
          <a:blip r:embed="rId1"/>
          <a:stretch>
            <a:fillRect/>
          </a:stretch>
        </p:blipFill>
        <p:spPr>
          <a:xfrm>
            <a:off x="925373" y="1565453"/>
            <a:ext cx="618134" cy="618134"/>
          </a:xfrm>
          <a:prstGeom prst="rect">
            <a:avLst/>
          </a:prstGeom>
        </p:spPr>
      </p:pic>
      <p:sp>
        <p:nvSpPr>
          <p:cNvPr id="5" name="Text 2"/>
          <p:cNvSpPr/>
          <p:nvPr/>
        </p:nvSpPr>
        <p:spPr>
          <a:xfrm>
            <a:off x="640080" y="265176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Discussion &amp; Q&amp;A</a:t>
            </a:r>
            <a:endParaRPr lang="en-US" sz="3600" dirty="0"/>
          </a:p>
        </p:txBody>
      </p:sp>
      <p:sp>
        <p:nvSpPr>
          <p:cNvPr id="6" name="Text 3"/>
          <p:cNvSpPr/>
          <p:nvPr/>
        </p:nvSpPr>
        <p:spPr>
          <a:xfrm>
            <a:off x="640080" y="3611880"/>
            <a:ext cx="9875520" cy="1463040"/>
          </a:xfrm>
          <a:prstGeom prst="rect">
            <a:avLst/>
          </a:prstGeom>
          <a:noFill/>
          <a:ln/>
        </p:spPr>
        <p:txBody>
          <a:bodyPr wrap="square" lIns="0" tIns="0" rIns="0" bIns="0" rtlCol="0" anchor="t"/>
          <a:lstStyle/>
          <a:p>
            <a:pPr marL="342900" indent="-342900">
              <a:lnSpc>
                <a:spcPct val="130000"/>
              </a:lnSpc>
              <a:buSzPct val="100000"/>
              <a:buChar char="•"/>
            </a:pPr>
            <a:r>
              <a:rPr lang="en-US" sz="1700" dirty="0">
                <a:solidFill>
                  <a:srgbClr val="B6E0F2"/>
                </a:solidFill>
                <a:latin typeface="Calibri" pitchFamily="34" charset="0"/>
                <a:ea typeface="Calibri" pitchFamily="34" charset="-122"/>
                <a:cs typeface="Calibri" pitchFamily="34" charset="-120"/>
              </a:rPr>
              <a:t>If a provider only retains logs for 30 days but your regulator requires one year, what do you do?</a:t>
            </a:r>
            <a:endParaRPr lang="en-US" sz="1700" dirty="0"/>
          </a:p>
          <a:p>
            <a:pPr indent="0" marL="0">
              <a:lnSpc>
                <a:spcPct val="130000"/>
              </a:lnSpc>
              <a:buNone/>
            </a:pPr>
            <a:r>
              <a:rPr lang="en-US" sz="1700" dirty="0">
                <a:solidFill>
                  <a:srgbClr val="B6E0F2"/>
                </a:solidFill>
                <a:latin typeface="Calibri" pitchFamily="34" charset="0"/>
                <a:ea typeface="Calibri" pitchFamily="34" charset="-122"/>
                <a:cs typeface="Calibri" pitchFamily="34" charset="-120"/>
              </a:rPr>
              <a:t>Where would you spend a limited budget first: better detection, or tamper-proof logging? Why?</a:t>
            </a:r>
            <a:endParaRPr lang="en-US" sz="1700" dirty="0"/>
          </a:p>
        </p:txBody>
      </p:sp>
      <p:sp>
        <p:nvSpPr>
          <p:cNvPr id="7" name="Text 4"/>
          <p:cNvSpPr/>
          <p:nvPr/>
        </p:nvSpPr>
        <p:spPr>
          <a:xfrm>
            <a:off x="640080" y="5760720"/>
            <a:ext cx="10607040" cy="457200"/>
          </a:xfrm>
          <a:prstGeom prst="rect">
            <a:avLst/>
          </a:prstGeom>
          <a:noFill/>
          <a:ln/>
        </p:spPr>
        <p:txBody>
          <a:bodyPr wrap="square" lIns="0" tIns="0" rIns="0" bIns="0" rtlCol="0" anchor="ctr"/>
          <a:lstStyle/>
          <a:p>
            <a:pPr indent="0" marL="0">
              <a:buNone/>
            </a:pPr>
            <a:r>
              <a:rPr lang="en-US" sz="1300" i="1" dirty="0">
                <a:solidFill>
                  <a:srgbClr val="FABA32"/>
                </a:solidFill>
                <a:latin typeface="Calibri" pitchFamily="34" charset="0"/>
                <a:ea typeface="Calibri" pitchFamily="34" charset="-122"/>
                <a:cs typeface="Calibri" pitchFamily="34" charset="-120"/>
              </a:rPr>
              <a:t>Next week — Lesson 7:  Introduction to Identity Management in Cloud Computing (SSO · federation · provisioning)</a:t>
            </a:r>
            <a:endParaRPr lang="en-US" sz="1300" dirty="0"/>
          </a:p>
        </p:txBody>
      </p:sp>
      <p:pic>
        <p:nvPicPr>
          <p:cNvPr id="8" name="Image 1" descr="/sessions/inspiring-busy-dijkstra/mnt/outputs/build/assets/logo_white_trim.png">    </p:cNvPr>
          <p:cNvPicPr>
            <a:picLocks noChangeAspect="1"/>
          </p:cNvPicPr>
          <p:nvPr/>
        </p:nvPicPr>
        <p:blipFill>
          <a:blip r:embed="rId2"/>
          <a:stretch>
            <a:fillRect/>
          </a:stretch>
        </p:blipFill>
        <p:spPr>
          <a:xfrm>
            <a:off x="10195560" y="502920"/>
            <a:ext cx="1417320" cy="643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 — Monitoring, Auditing and Management</dc:title>
  <dc:subject>PptxGenJS Presentation</dc:subject>
  <dc:creator>Prof. Dr. Shahrulniza Musa</dc:creator>
  <cp:lastModifiedBy>Prof. Dr. Shahrulniza Musa</cp:lastModifiedBy>
  <cp:revision>1</cp:revision>
  <dcterms:created xsi:type="dcterms:W3CDTF">2026-07-09T09:48:45Z</dcterms:created>
  <dcterms:modified xsi:type="dcterms:W3CDTF">2026-07-09T09:48:45Z</dcterms:modified>
</cp:coreProperties>
</file>